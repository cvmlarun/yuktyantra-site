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arunpatillabs.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arunpatillabs.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arunpatillabs.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arunpatillabs.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arunpatillabs.c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unpatillabs.com"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it_watermarked_img_2691116564557222877.jpg"/>
          <p:cNvPicPr>
            <a:picLocks noChangeAspect="1"/>
          </p:cNvPicPr>
          <p:nvPr/>
        </p:nvPicPr>
        <p:blipFill>
          <a:blip r:embed="rId2"/>
          <a:stretch>
            <a:fillRect/>
          </a:stretch>
        </p:blipFill>
        <p:spPr>
          <a:xfrm>
            <a:off x="6217920" y="0"/>
            <a:ext cx="5973775" cy="6858000"/>
          </a:xfrm>
          <a:prstGeom prst="rect">
            <a:avLst/>
          </a:prstGeom>
        </p:spPr>
      </p:pic>
      <p:sp>
        <p:nvSpPr>
          <p:cNvPr id="4" name="TextBox 3"/>
          <p:cNvSpPr txBox="1"/>
          <p:nvPr/>
        </p:nvSpPr>
        <p:spPr>
          <a:xfrm>
            <a:off x="731520" y="914400"/>
            <a:ext cx="5120640" cy="5029200"/>
          </a:xfrm>
          <a:prstGeom prst="rect">
            <a:avLst/>
          </a:prstGeom>
          <a:noFill/>
        </p:spPr>
        <p:txBody>
          <a:bodyPr wrap="square">
            <a:spAutoFit/>
          </a:bodyPr>
          <a:lstStyle/>
          <a:p>
            <a:pPr>
              <a:spcAft>
                <a:spcPts val="800"/>
              </a:spcAft>
            </a:pPr>
            <a:r>
              <a:rPr sz="1300" b="1">
                <a:solidFill>
                  <a:srgbClr val="C27E22"/>
                </a:solidFill>
                <a:latin typeface="Arial"/>
              </a:rPr>
              <a:t>STUDY / RESEARCH · ARUNPATIL LABS</a:t>
            </a:r>
          </a:p>
          <a:p>
            <a:pPr>
              <a:spcAft>
                <a:spcPts val="1200"/>
              </a:spcAft>
            </a:pPr>
            <a:r>
              <a:rPr sz="4000" b="1">
                <a:solidFill>
                  <a:srgbClr val="F4F7F4"/>
                </a:solidFill>
                <a:latin typeface="Georgia"/>
              </a:rPr>
              <a:t>From Vine to Raisin</a:t>
            </a:r>
          </a:p>
          <a:p>
            <a:pPr>
              <a:spcAft>
                <a:spcPts val="2000"/>
              </a:spcAft>
            </a:pPr>
            <a:r>
              <a:rPr sz="2000" b="1">
                <a:solidFill>
                  <a:srgbClr val="94D2BD"/>
                </a:solidFill>
                <a:latin typeface="Georgia"/>
              </a:rPr>
              <a:t>The Full Grape Growth Cycle &amp; Raisin Formation</a:t>
            </a:r>
          </a:p>
          <a:p>
            <a:pPr>
              <a:spcAft>
                <a:spcPts val="2400"/>
              </a:spcAft>
            </a:pPr>
            <a:r>
              <a:rPr sz="1400">
                <a:solidFill>
                  <a:srgbClr val="A8BAAA"/>
                </a:solidFill>
                <a:latin typeface="Arial"/>
              </a:rPr>
              <a:t>A comprehensive 173-day viticulture systems research record documenting pruning, bud-break, phenological stages, and precision shade-drying on a commercial overhead trellis vineyard at Basavana Bagevadi &amp; Sindagi Taluk, Vijayapura, Karnataka.</a:t>
            </a:r>
          </a:p>
          <a:p>
            <a:pPr>
              <a:spcAft>
                <a:spcPts val="600"/>
              </a:spcAft>
            </a:pPr>
            <a:r>
              <a:rPr b="1" sz="1300">
                <a:solidFill>
                  <a:srgbClr val="F4F7F4"/>
                </a:solidFill>
              </a:rPr>
              <a:t>Research Organization: </a:t>
            </a:r>
            <a:r>
              <a:rPr sz="1300">
                <a:solidFill>
                  <a:srgbClr val="A8BAAA"/>
                </a:solidFill>
              </a:rPr>
              <a:t>ArunPatil Labs (Applied AI &amp; Systems ML)</a:t>
            </a:r>
          </a:p>
          <a:p>
            <a:pPr>
              <a:spcAft>
                <a:spcPts val="600"/>
              </a:spcAft>
            </a:pPr>
            <a:r>
              <a:rPr b="1" sz="1300">
                <a:solidFill>
                  <a:srgbClr val="F4F7F4"/>
                </a:solidFill>
              </a:rPr>
              <a:t>Principal Investigator: </a:t>
            </a:r>
            <a:r>
              <a:rPr sz="1300">
                <a:solidFill>
                  <a:srgbClr val="A8BAAA"/>
                </a:solidFill>
              </a:rPr>
              <a:t>Arun Patil</a:t>
            </a:r>
          </a:p>
          <a:p>
            <a:r>
              <a:rPr b="1" sz="1300">
                <a:solidFill>
                  <a:srgbClr val="F4F7F4"/>
                </a:solidFill>
              </a:rPr>
              <a:t>Official Web Archive: </a:t>
            </a:r>
            <a:r>
              <a:rPr b="1" sz="1300">
                <a:solidFill>
                  <a:srgbClr val="93C5FD"/>
                </a:solidFill>
                <a:hlinkClick r:id="rId3"/>
              </a:rPr>
              <a:t>arunpatillabs.com</a:t>
            </a:r>
          </a:p>
        </p:txBody>
      </p:sp>
      <p:sp>
        <p:nvSpPr>
          <p:cNvPr id="5" name="TextBox 4"/>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A8BAAA"/>
                </a:solidFill>
                <a:latin typeface="Arial"/>
              </a:rPr>
              <a:t>Study / Research · ArunPatil Labs · Viticulture &amp; Precision Agro-Tech · </a:t>
            </a:r>
            <a:r>
              <a:rPr sz="1100" b="1">
                <a:solidFill>
                  <a:srgbClr val="93C5FD"/>
                </a:solidFill>
                <a:latin typeface="Arial"/>
                <a:hlinkClick r:id="rId3"/>
              </a:rPr>
              <a:t>arunpatillabs.com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it_watermarked_img_2691116564557222877.jpg"/>
          <p:cNvPicPr>
            <a:picLocks noChangeAspect="1"/>
          </p:cNvPicPr>
          <p:nvPr/>
        </p:nvPicPr>
        <p:blipFill>
          <a:blip r:embed="rId2"/>
          <a:stretch>
            <a:fillRect/>
          </a:stretch>
        </p:blipFill>
        <p:spPr>
          <a:xfrm>
            <a:off x="6217920" y="0"/>
            <a:ext cx="5973775" cy="6858000"/>
          </a:xfrm>
          <a:prstGeom prst="rect">
            <a:avLst/>
          </a:prstGeom>
        </p:spPr>
      </p:pic>
      <p:sp>
        <p:nvSpPr>
          <p:cNvPr id="4" name="TextBox 3"/>
          <p:cNvSpPr txBox="1"/>
          <p:nvPr/>
        </p:nvSpPr>
        <p:spPr>
          <a:xfrm>
            <a:off x="731520" y="1097280"/>
            <a:ext cx="5120640" cy="4572000"/>
          </a:xfrm>
          <a:prstGeom prst="rect">
            <a:avLst/>
          </a:prstGeom>
          <a:noFill/>
        </p:spPr>
        <p:txBody>
          <a:bodyPr wrap="square">
            <a:spAutoFit/>
          </a:bodyPr>
          <a:lstStyle/>
          <a:p>
            <a:pPr>
              <a:spcAft>
                <a:spcPts val="800"/>
              </a:spcAft>
            </a:pPr>
            <a:r>
              <a:rPr sz="1300" b="1">
                <a:solidFill>
                  <a:srgbClr val="C27E22"/>
                </a:solidFill>
              </a:rPr>
              <a:t>AGROTECH FIELD RECORD · 2025–26 SEASON</a:t>
            </a:r>
          </a:p>
          <a:p>
            <a:pPr>
              <a:spcAft>
                <a:spcPts val="1600"/>
              </a:spcAft>
            </a:pPr>
            <a:r>
              <a:rPr sz="4400" b="1">
                <a:solidFill>
                  <a:srgbClr val="F4F7F4"/>
                </a:solidFill>
                <a:latin typeface="Georgia"/>
              </a:rPr>
              <a:t>From Vine to
Raisin</a:t>
            </a:r>
          </a:p>
          <a:p>
            <a:pPr>
              <a:spcAft>
                <a:spcPts val="2800"/>
              </a:spcAft>
            </a:pPr>
            <a:r>
              <a:rPr sz="1600">
                <a:solidFill>
                  <a:srgbClr val="A8BAAA"/>
                </a:solidFill>
                <a:latin typeface="Arial"/>
              </a:rPr>
              <a:t>The full grape growth cycle and raisin formation, documented in our vineyard at Basavana Bagevadi, Vijayapura, Karnataka.</a:t>
            </a:r>
          </a:p>
          <a:p>
            <a:pPr>
              <a:spcAft>
                <a:spcPts val="600"/>
              </a:spcAft>
            </a:pPr>
            <a:r>
              <a:rPr sz="1500" b="1">
                <a:solidFill>
                  <a:srgbClr val="F4F7F4"/>
                </a:solidFill>
              </a:rPr>
              <a:t>October 2025 – April 2026</a:t>
            </a:r>
          </a:p>
          <a:p>
            <a:r>
              <a:rPr sz="1300" i="1">
                <a:solidFill>
                  <a:srgbClr val="A8BAAA"/>
                </a:solidFill>
              </a:rPr>
              <a:t>Built from 29 field photos, videos and CCTV clips</a:t>
            </a:r>
          </a:p>
        </p:txBody>
      </p:sp>
      <p:sp>
        <p:nvSpPr>
          <p:cNvPr id="5" name="TextBox 4"/>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A8BAAA"/>
                </a:solidFill>
                <a:latin typeface="Arial"/>
              </a:rPr>
              <a:t>From Vine to Raisin · Vijayapura vineyard, 2025–26 season · </a:t>
            </a:r>
            <a:r>
              <a:rPr sz="1100" b="1">
                <a:solidFill>
                  <a:srgbClr val="93C5FD"/>
                </a:solidFill>
                <a:latin typeface="Arial"/>
                <a:hlinkClick r:id="rId3"/>
              </a:rPr>
              <a:t>arunpatillabs.com</a:t>
            </a:r>
            <a:r>
              <a:rPr sz="1100">
                <a:solidFill>
                  <a:srgbClr val="A8BAAA"/>
                </a:solidFill>
                <a:latin typeface="Arial"/>
              </a:rPr>
              <a:t>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18241B"/>
                </a:solidFill>
                <a:latin typeface="Georgia"/>
              </a:rPr>
              <a:t>The season at a glance</a:t>
            </a:r>
          </a:p>
        </p:txBody>
      </p:sp>
      <p:sp>
        <p:nvSpPr>
          <p:cNvPr id="4" name="Rounded Rectangle 3"/>
          <p:cNvSpPr/>
          <p:nvPr/>
        </p:nvSpPr>
        <p:spPr>
          <a:xfrm>
            <a:off x="4389120" y="1645920"/>
            <a:ext cx="3200400" cy="1874519"/>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617720" y="1828800"/>
            <a:ext cx="2743200" cy="1508760"/>
          </a:xfrm>
          <a:prstGeom prst="rect">
            <a:avLst/>
          </a:prstGeom>
          <a:noFill/>
        </p:spPr>
        <p:txBody>
          <a:bodyPr wrap="square">
            <a:spAutoFit/>
          </a:bodyPr>
          <a:lstStyle/>
          <a:p>
            <a:r>
              <a:rPr sz="4000" b="1">
                <a:solidFill>
                  <a:srgbClr val="4E7A3A"/>
                </a:solidFill>
                <a:latin typeface="Georgia"/>
              </a:rPr>
              <a:t>147</a:t>
            </a:r>
          </a:p>
          <a:p>
            <a:r>
              <a:rPr sz="1300">
                <a:solidFill>
                  <a:srgbClr val="18241B"/>
                </a:solidFill>
              </a:rPr>
              <a:t>days from the post-pruning spray (18 Oct) to harvest (14 Mar)</a:t>
            </a:r>
          </a:p>
        </p:txBody>
      </p:sp>
      <p:sp>
        <p:nvSpPr>
          <p:cNvPr id="6" name="Rounded Rectangle 5"/>
          <p:cNvSpPr/>
          <p:nvPr/>
        </p:nvSpPr>
        <p:spPr>
          <a:xfrm>
            <a:off x="7863840" y="1645920"/>
            <a:ext cx="3200400" cy="1874519"/>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92440" y="1828800"/>
            <a:ext cx="2743200" cy="1508760"/>
          </a:xfrm>
          <a:prstGeom prst="rect">
            <a:avLst/>
          </a:prstGeom>
          <a:noFill/>
        </p:spPr>
        <p:txBody>
          <a:bodyPr wrap="square">
            <a:spAutoFit/>
          </a:bodyPr>
          <a:lstStyle/>
          <a:p>
            <a:r>
              <a:rPr sz="4000" b="1">
                <a:solidFill>
                  <a:srgbClr val="4E7A3A"/>
                </a:solidFill>
                <a:latin typeface="Georgia"/>
              </a:rPr>
              <a:t>27</a:t>
            </a:r>
          </a:p>
          <a:p>
            <a:r>
              <a:rPr sz="1300">
                <a:solidFill>
                  <a:srgbClr val="18241B"/>
                </a:solidFill>
              </a:rPr>
              <a:t>days from that spray to full flowering (14 Nov)</a:t>
            </a:r>
          </a:p>
        </p:txBody>
      </p:sp>
      <p:sp>
        <p:nvSpPr>
          <p:cNvPr id="8" name="Rounded Rectangle 7"/>
          <p:cNvSpPr/>
          <p:nvPr/>
        </p:nvSpPr>
        <p:spPr>
          <a:xfrm>
            <a:off x="4389120" y="3749039"/>
            <a:ext cx="3200400" cy="1874519"/>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3931920"/>
            <a:ext cx="2743200" cy="1508760"/>
          </a:xfrm>
          <a:prstGeom prst="rect">
            <a:avLst/>
          </a:prstGeom>
          <a:noFill/>
        </p:spPr>
        <p:txBody>
          <a:bodyPr wrap="square">
            <a:spAutoFit/>
          </a:bodyPr>
          <a:lstStyle/>
          <a:p>
            <a:r>
              <a:rPr sz="4000" b="1">
                <a:solidFill>
                  <a:srgbClr val="C27E22"/>
                </a:solidFill>
                <a:latin typeface="Georgia"/>
              </a:rPr>
              <a:t>~4 : 1</a:t>
            </a:r>
          </a:p>
          <a:p>
            <a:r>
              <a:rPr sz="1300">
                <a:solidFill>
                  <a:srgbClr val="18241B"/>
                </a:solidFill>
              </a:rPr>
              <a:t>kg of fresh grapes needed for 1 kg of raisins (typical)</a:t>
            </a:r>
          </a:p>
        </p:txBody>
      </p:sp>
      <p:sp>
        <p:nvSpPr>
          <p:cNvPr id="10" name="Rounded Rectangle 9"/>
          <p:cNvSpPr/>
          <p:nvPr/>
        </p:nvSpPr>
        <p:spPr>
          <a:xfrm>
            <a:off x="7863840" y="3749039"/>
            <a:ext cx="3200400" cy="1874519"/>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3931920"/>
            <a:ext cx="2743200" cy="1508760"/>
          </a:xfrm>
          <a:prstGeom prst="rect">
            <a:avLst/>
          </a:prstGeom>
          <a:noFill/>
        </p:spPr>
        <p:txBody>
          <a:bodyPr wrap="square">
            <a:spAutoFit/>
          </a:bodyPr>
          <a:lstStyle/>
          <a:p>
            <a:r>
              <a:rPr sz="4000" b="1">
                <a:solidFill>
                  <a:srgbClr val="4E7A3A"/>
                </a:solidFill>
                <a:latin typeface="Georgia"/>
              </a:rPr>
              <a:t>173</a:t>
            </a:r>
          </a:p>
          <a:p>
            <a:r>
              <a:rPr sz="1300">
                <a:solidFill>
                  <a:srgbClr val="18241B"/>
                </a:solidFill>
              </a:rPr>
              <a:t>days from the spray to finished golden raisins (9 Apr)</a:t>
            </a:r>
          </a:p>
        </p:txBody>
      </p:sp>
      <p:sp>
        <p:nvSpPr>
          <p:cNvPr id="12" name="Rounded Rectangle 11"/>
          <p:cNvSpPr/>
          <p:nvPr/>
        </p:nvSpPr>
        <p:spPr>
          <a:xfrm>
            <a:off x="731520" y="1645920"/>
            <a:ext cx="3383280" cy="3977639"/>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1828800"/>
            <a:ext cx="3017520" cy="3566160"/>
          </a:xfrm>
          <a:prstGeom prst="rect">
            <a:avLst/>
          </a:prstGeom>
          <a:noFill/>
        </p:spPr>
        <p:txBody>
          <a:bodyPr wrap="square">
            <a:spAutoFit/>
          </a:bodyPr>
          <a:lstStyle/>
          <a:p>
            <a:pPr>
              <a:spcAft>
                <a:spcPts val="600"/>
              </a:spcAft>
            </a:pPr>
            <a:r>
              <a:rPr sz="1600" b="1">
                <a:solidFill>
                  <a:srgbClr val="18241B"/>
                </a:solidFill>
              </a:rPr>
              <a:t>Tractor (Tarzan)</a:t>
            </a:r>
          </a:p>
          <a:p>
            <a:pPr>
              <a:spcAft>
                <a:spcPts val="1400"/>
              </a:spcAft>
            </a:pPr>
            <a:r>
              <a:rPr sz="1200">
                <a:solidFill>
                  <a:srgbClr val="566658"/>
                </a:solidFill>
              </a:rPr>
              <a:t>GPS Map telemetry logged: 1 Nov 2025
586208, Karnataka, India</a:t>
            </a:r>
          </a:p>
          <a:p>
            <a:pPr>
              <a:spcAft>
                <a:spcPts val="1000"/>
              </a:spcAft>
            </a:pPr>
            <a:r>
              <a:rPr b="1" sz="1300"/>
              <a:t>Location: </a:t>
            </a:r>
            <a:r>
              <a:rPr sz="1300">
                <a:solidFill>
                  <a:srgbClr val="566658"/>
                </a:solidFill>
              </a:rPr>
              <a:t>Basavana Bagevadi, Vijayapura district, Karnataka. India's premier raisin belt, offering a dry winter ideal for shade drying.</a:t>
            </a:r>
          </a:p>
          <a:p>
            <a:r>
              <a:rPr b="1" sz="1300"/>
              <a:t>Crop: </a:t>
            </a:r>
            <a:r>
              <a:rPr sz="1300">
                <a:solidFill>
                  <a:srgbClr val="566658"/>
                </a:solidFill>
              </a:rPr>
              <a:t>Green seedless table/raisin grapes on an overhead trellis with drip irrigation (Thompson Seedless clone).</a:t>
            </a:r>
          </a:p>
        </p:txBody>
      </p:sp>
      <p:sp>
        <p:nvSpPr>
          <p:cNvPr id="14" name="TextBox 13"/>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18241B"/>
                </a:solidFill>
                <a:latin typeface="Georgia"/>
              </a:rPr>
              <a:t>Nine stages, one season</a:t>
            </a:r>
          </a:p>
        </p:txBody>
      </p:sp>
      <p:sp>
        <p:nvSpPr>
          <p:cNvPr id="4" name="Rounded Rectangle 3"/>
          <p:cNvSpPr/>
          <p:nvPr/>
        </p:nvSpPr>
        <p:spPr>
          <a:xfrm>
            <a:off x="731520" y="1645920"/>
            <a:ext cx="1097280" cy="24688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1097280" cy="2286000"/>
          </a:xfrm>
          <a:prstGeom prst="rect">
            <a:avLst/>
          </a:prstGeom>
          <a:noFill/>
        </p:spPr>
        <p:txBody>
          <a:bodyPr wrap="square">
            <a:spAutoFit/>
          </a:bodyPr>
          <a:lstStyle/>
          <a:p>
            <a:pPr algn="ctr">
              <a:spcAft>
                <a:spcPts val="800"/>
              </a:spcAft>
            </a:pPr>
            <a:r>
              <a:rPr sz="1100" b="1">
                <a:solidFill>
                  <a:srgbClr val="4E7A3A"/>
                </a:solidFill>
              </a:rPr>
              <a:t>18 Oct</a:t>
            </a:r>
          </a:p>
          <a:p>
            <a:pPr algn="ctr">
              <a:spcAft>
                <a:spcPts val="1000"/>
              </a:spcAft>
            </a:pPr>
            <a:r>
              <a:rPr sz="2200" b="1">
                <a:solidFill>
                  <a:srgbClr val="18241B"/>
                </a:solidFill>
                <a:latin typeface="Georgia"/>
              </a:rPr>
              <a:t>1</a:t>
            </a:r>
          </a:p>
          <a:p>
            <a:pPr algn="ctr"/>
            <a:r>
              <a:rPr sz="1100">
                <a:solidFill>
                  <a:srgbClr val="566658"/>
                </a:solidFill>
              </a:rPr>
              <a:t>Fruit pruning &amp;
bud-break spray</a:t>
            </a:r>
          </a:p>
        </p:txBody>
      </p:sp>
      <p:sp>
        <p:nvSpPr>
          <p:cNvPr id="6" name="Rounded Rectangle 5"/>
          <p:cNvSpPr/>
          <p:nvPr/>
        </p:nvSpPr>
        <p:spPr>
          <a:xfrm>
            <a:off x="1920240" y="1645920"/>
            <a:ext cx="1097280" cy="24688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20240" y="1737360"/>
            <a:ext cx="1097280" cy="2286000"/>
          </a:xfrm>
          <a:prstGeom prst="rect">
            <a:avLst/>
          </a:prstGeom>
          <a:noFill/>
        </p:spPr>
        <p:txBody>
          <a:bodyPr wrap="square">
            <a:spAutoFit/>
          </a:bodyPr>
          <a:lstStyle/>
          <a:p>
            <a:pPr algn="ctr">
              <a:spcAft>
                <a:spcPts val="800"/>
              </a:spcAft>
            </a:pPr>
            <a:r>
              <a:rPr sz="1100" b="1">
                <a:solidFill>
                  <a:srgbClr val="4E7A3A"/>
                </a:solidFill>
              </a:rPr>
              <a:t>12 Nov</a:t>
            </a:r>
          </a:p>
          <a:p>
            <a:pPr algn="ctr">
              <a:spcAft>
                <a:spcPts val="1000"/>
              </a:spcAft>
            </a:pPr>
            <a:r>
              <a:rPr sz="2200" b="1">
                <a:solidFill>
                  <a:srgbClr val="18241B"/>
                </a:solidFill>
                <a:latin typeface="Georgia"/>
              </a:rPr>
              <a:t>2</a:t>
            </a:r>
          </a:p>
          <a:p>
            <a:pPr algn="ctr"/>
            <a:r>
              <a:rPr sz="1100">
                <a:solidFill>
                  <a:srgbClr val="566658"/>
                </a:solidFill>
              </a:rPr>
              <a:t>Bunch
emergence</a:t>
            </a:r>
          </a:p>
        </p:txBody>
      </p:sp>
      <p:sp>
        <p:nvSpPr>
          <p:cNvPr id="8" name="Rounded Rectangle 7"/>
          <p:cNvSpPr/>
          <p:nvPr/>
        </p:nvSpPr>
        <p:spPr>
          <a:xfrm>
            <a:off x="3108960" y="1645920"/>
            <a:ext cx="1097280" cy="24688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08960" y="1737360"/>
            <a:ext cx="1097280" cy="2286000"/>
          </a:xfrm>
          <a:prstGeom prst="rect">
            <a:avLst/>
          </a:prstGeom>
          <a:noFill/>
        </p:spPr>
        <p:txBody>
          <a:bodyPr wrap="square">
            <a:spAutoFit/>
          </a:bodyPr>
          <a:lstStyle/>
          <a:p>
            <a:pPr algn="ctr">
              <a:spcAft>
                <a:spcPts val="800"/>
              </a:spcAft>
            </a:pPr>
            <a:r>
              <a:rPr sz="1100" b="1">
                <a:solidFill>
                  <a:srgbClr val="4E7A3A"/>
                </a:solidFill>
              </a:rPr>
              <a:t>14 Nov</a:t>
            </a:r>
          </a:p>
          <a:p>
            <a:pPr algn="ctr">
              <a:spcAft>
                <a:spcPts val="1000"/>
              </a:spcAft>
            </a:pPr>
            <a:r>
              <a:rPr sz="2200" b="1">
                <a:solidFill>
                  <a:srgbClr val="18241B"/>
                </a:solidFill>
                <a:latin typeface="Georgia"/>
              </a:rPr>
              <a:t>3</a:t>
            </a:r>
          </a:p>
          <a:p>
            <a:pPr algn="ctr"/>
            <a:r>
              <a:rPr sz="1100">
                <a:solidFill>
                  <a:srgbClr val="566658"/>
                </a:solidFill>
              </a:rPr>
              <a:t>Flowering</a:t>
            </a:r>
          </a:p>
        </p:txBody>
      </p:sp>
      <p:sp>
        <p:nvSpPr>
          <p:cNvPr id="10" name="Rounded Rectangle 9"/>
          <p:cNvSpPr/>
          <p:nvPr/>
        </p:nvSpPr>
        <p:spPr>
          <a:xfrm>
            <a:off x="4297680" y="1645920"/>
            <a:ext cx="1097280" cy="24688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1737360"/>
            <a:ext cx="1097280" cy="2286000"/>
          </a:xfrm>
          <a:prstGeom prst="rect">
            <a:avLst/>
          </a:prstGeom>
          <a:noFill/>
        </p:spPr>
        <p:txBody>
          <a:bodyPr wrap="square">
            <a:spAutoFit/>
          </a:bodyPr>
          <a:lstStyle/>
          <a:p>
            <a:pPr algn="ctr">
              <a:spcAft>
                <a:spcPts val="800"/>
              </a:spcAft>
            </a:pPr>
            <a:r>
              <a:rPr sz="1100" b="1">
                <a:solidFill>
                  <a:srgbClr val="4E7A3A"/>
                </a:solidFill>
              </a:rPr>
              <a:t>15 Jan</a:t>
            </a:r>
          </a:p>
          <a:p>
            <a:pPr algn="ctr">
              <a:spcAft>
                <a:spcPts val="1000"/>
              </a:spcAft>
            </a:pPr>
            <a:r>
              <a:rPr sz="2200" b="1">
                <a:solidFill>
                  <a:srgbClr val="18241B"/>
                </a:solidFill>
                <a:latin typeface="Georgia"/>
              </a:rPr>
              <a:t>4</a:t>
            </a:r>
          </a:p>
          <a:p>
            <a:pPr algn="ctr"/>
            <a:r>
              <a:rPr sz="1100">
                <a:solidFill>
                  <a:srgbClr val="566658"/>
                </a:solidFill>
              </a:rPr>
              <a:t>Berry
development</a:t>
            </a:r>
          </a:p>
        </p:txBody>
      </p:sp>
      <p:sp>
        <p:nvSpPr>
          <p:cNvPr id="12" name="Rounded Rectangle 11"/>
          <p:cNvSpPr/>
          <p:nvPr/>
        </p:nvSpPr>
        <p:spPr>
          <a:xfrm>
            <a:off x="5486400" y="1645920"/>
            <a:ext cx="1097280" cy="24688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0" y="1737360"/>
            <a:ext cx="1097280" cy="2286000"/>
          </a:xfrm>
          <a:prstGeom prst="rect">
            <a:avLst/>
          </a:prstGeom>
          <a:noFill/>
        </p:spPr>
        <p:txBody>
          <a:bodyPr wrap="square">
            <a:spAutoFit/>
          </a:bodyPr>
          <a:lstStyle/>
          <a:p>
            <a:pPr algn="ctr">
              <a:spcAft>
                <a:spcPts val="800"/>
              </a:spcAft>
            </a:pPr>
            <a:r>
              <a:rPr sz="1100" b="1">
                <a:solidFill>
                  <a:srgbClr val="4E7A3A"/>
                </a:solidFill>
              </a:rPr>
              <a:t>14-15 Feb</a:t>
            </a:r>
          </a:p>
          <a:p>
            <a:pPr algn="ctr">
              <a:spcAft>
                <a:spcPts val="1000"/>
              </a:spcAft>
            </a:pPr>
            <a:r>
              <a:rPr sz="2200" b="1">
                <a:solidFill>
                  <a:srgbClr val="18241B"/>
                </a:solidFill>
                <a:latin typeface="Georgia"/>
              </a:rPr>
              <a:t>5</a:t>
            </a:r>
          </a:p>
          <a:p>
            <a:pPr algn="ctr"/>
            <a:r>
              <a:rPr sz="1100">
                <a:solidFill>
                  <a:srgbClr val="566658"/>
                </a:solidFill>
              </a:rPr>
              <a:t>Ripening</a:t>
            </a:r>
          </a:p>
        </p:txBody>
      </p:sp>
      <p:sp>
        <p:nvSpPr>
          <p:cNvPr id="14" name="Rounded Rectangle 13"/>
          <p:cNvSpPr/>
          <p:nvPr/>
        </p:nvSpPr>
        <p:spPr>
          <a:xfrm>
            <a:off x="6675120" y="1645920"/>
            <a:ext cx="1097280" cy="24688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1737360"/>
            <a:ext cx="1097280" cy="2286000"/>
          </a:xfrm>
          <a:prstGeom prst="rect">
            <a:avLst/>
          </a:prstGeom>
          <a:noFill/>
        </p:spPr>
        <p:txBody>
          <a:bodyPr wrap="square">
            <a:spAutoFit/>
          </a:bodyPr>
          <a:lstStyle/>
          <a:p>
            <a:pPr algn="ctr">
              <a:spcAft>
                <a:spcPts val="800"/>
              </a:spcAft>
            </a:pPr>
            <a:r>
              <a:rPr sz="1100" b="1">
                <a:solidFill>
                  <a:srgbClr val="C27E22"/>
                </a:solidFill>
              </a:rPr>
              <a:t>18 Feb</a:t>
            </a:r>
          </a:p>
          <a:p>
            <a:pPr algn="ctr">
              <a:spcAft>
                <a:spcPts val="1000"/>
              </a:spcAft>
            </a:pPr>
            <a:r>
              <a:rPr sz="2200" b="1">
                <a:solidFill>
                  <a:srgbClr val="18241B"/>
                </a:solidFill>
                <a:latin typeface="Georgia"/>
              </a:rPr>
              <a:t>6</a:t>
            </a:r>
          </a:p>
          <a:p>
            <a:pPr algn="ctr"/>
            <a:r>
              <a:rPr sz="1100">
                <a:solidFill>
                  <a:srgbClr val="566658"/>
                </a:solidFill>
              </a:rPr>
              <a:t>Drying shed
built</a:t>
            </a:r>
          </a:p>
        </p:txBody>
      </p:sp>
      <p:sp>
        <p:nvSpPr>
          <p:cNvPr id="16" name="Rounded Rectangle 15"/>
          <p:cNvSpPr/>
          <p:nvPr/>
        </p:nvSpPr>
        <p:spPr>
          <a:xfrm>
            <a:off x="7863840" y="1645920"/>
            <a:ext cx="1097280" cy="24688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1737360"/>
            <a:ext cx="1097280" cy="2286000"/>
          </a:xfrm>
          <a:prstGeom prst="rect">
            <a:avLst/>
          </a:prstGeom>
          <a:noFill/>
        </p:spPr>
        <p:txBody>
          <a:bodyPr wrap="square">
            <a:spAutoFit/>
          </a:bodyPr>
          <a:lstStyle/>
          <a:p>
            <a:pPr algn="ctr">
              <a:spcAft>
                <a:spcPts val="800"/>
              </a:spcAft>
            </a:pPr>
            <a:r>
              <a:rPr sz="1100" b="1">
                <a:solidFill>
                  <a:srgbClr val="C27E22"/>
                </a:solidFill>
              </a:rPr>
              <a:t>14 Mar</a:t>
            </a:r>
          </a:p>
          <a:p>
            <a:pPr algn="ctr">
              <a:spcAft>
                <a:spcPts val="1000"/>
              </a:spcAft>
            </a:pPr>
            <a:r>
              <a:rPr sz="2200" b="1">
                <a:solidFill>
                  <a:srgbClr val="18241B"/>
                </a:solidFill>
                <a:latin typeface="Georgia"/>
              </a:rPr>
              <a:t>7</a:t>
            </a:r>
          </a:p>
          <a:p>
            <a:pPr algn="ctr"/>
            <a:r>
              <a:rPr sz="1100">
                <a:solidFill>
                  <a:srgbClr val="566658"/>
                </a:solidFill>
              </a:rPr>
              <a:t>Harvest &amp;
pretreatment</a:t>
            </a:r>
          </a:p>
        </p:txBody>
      </p:sp>
      <p:sp>
        <p:nvSpPr>
          <p:cNvPr id="18" name="Rounded Rectangle 17"/>
          <p:cNvSpPr/>
          <p:nvPr/>
        </p:nvSpPr>
        <p:spPr>
          <a:xfrm>
            <a:off x="9052560" y="1645920"/>
            <a:ext cx="1097280" cy="24688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0" y="1737360"/>
            <a:ext cx="1097280" cy="2286000"/>
          </a:xfrm>
          <a:prstGeom prst="rect">
            <a:avLst/>
          </a:prstGeom>
          <a:noFill/>
        </p:spPr>
        <p:txBody>
          <a:bodyPr wrap="square">
            <a:spAutoFit/>
          </a:bodyPr>
          <a:lstStyle/>
          <a:p>
            <a:pPr algn="ctr">
              <a:spcAft>
                <a:spcPts val="800"/>
              </a:spcAft>
            </a:pPr>
            <a:r>
              <a:rPr sz="1100" b="1">
                <a:solidFill>
                  <a:srgbClr val="C27E22"/>
                </a:solidFill>
              </a:rPr>
              <a:t>Mar-Apr</a:t>
            </a:r>
          </a:p>
          <a:p>
            <a:pPr algn="ctr">
              <a:spcAft>
                <a:spcPts val="1000"/>
              </a:spcAft>
            </a:pPr>
            <a:r>
              <a:rPr sz="2200" b="1">
                <a:solidFill>
                  <a:srgbClr val="18241B"/>
                </a:solidFill>
                <a:latin typeface="Georgia"/>
              </a:rPr>
              <a:t>8</a:t>
            </a:r>
          </a:p>
          <a:p>
            <a:pPr algn="ctr"/>
            <a:r>
              <a:rPr sz="1100">
                <a:solidFill>
                  <a:srgbClr val="566658"/>
                </a:solidFill>
              </a:rPr>
              <a:t>Shade drying
on racks</a:t>
            </a:r>
          </a:p>
        </p:txBody>
      </p:sp>
      <p:sp>
        <p:nvSpPr>
          <p:cNvPr id="20" name="Rounded Rectangle 19"/>
          <p:cNvSpPr/>
          <p:nvPr/>
        </p:nvSpPr>
        <p:spPr>
          <a:xfrm>
            <a:off x="10241280" y="1645920"/>
            <a:ext cx="1097280" cy="24688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0" y="1737360"/>
            <a:ext cx="1097280" cy="2286000"/>
          </a:xfrm>
          <a:prstGeom prst="rect">
            <a:avLst/>
          </a:prstGeom>
          <a:noFill/>
        </p:spPr>
        <p:txBody>
          <a:bodyPr wrap="square">
            <a:spAutoFit/>
          </a:bodyPr>
          <a:lstStyle/>
          <a:p>
            <a:pPr algn="ctr">
              <a:spcAft>
                <a:spcPts val="800"/>
              </a:spcAft>
            </a:pPr>
            <a:r>
              <a:rPr sz="1100" b="1">
                <a:solidFill>
                  <a:srgbClr val="C27E22"/>
                </a:solidFill>
              </a:rPr>
              <a:t>9 Apr</a:t>
            </a:r>
          </a:p>
          <a:p>
            <a:pPr algn="ctr">
              <a:spcAft>
                <a:spcPts val="1000"/>
              </a:spcAft>
            </a:pPr>
            <a:r>
              <a:rPr sz="2200" b="1">
                <a:solidFill>
                  <a:srgbClr val="18241B"/>
                </a:solidFill>
                <a:latin typeface="Georgia"/>
              </a:rPr>
              <a:t>9</a:t>
            </a:r>
          </a:p>
          <a:p>
            <a:pPr algn="ctr"/>
            <a:r>
              <a:rPr sz="1100">
                <a:solidFill>
                  <a:srgbClr val="566658"/>
                </a:solidFill>
              </a:rPr>
              <a:t>Finished
raisins</a:t>
            </a:r>
          </a:p>
        </p:txBody>
      </p:sp>
      <p:sp>
        <p:nvSpPr>
          <p:cNvPr id="22" name="Rounded Rectangle 21"/>
          <p:cNvSpPr/>
          <p:nvPr/>
        </p:nvSpPr>
        <p:spPr>
          <a:xfrm>
            <a:off x="731520" y="4572000"/>
            <a:ext cx="5212080" cy="12801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709160"/>
            <a:ext cx="4846320" cy="1005840"/>
          </a:xfrm>
          <a:prstGeom prst="rect">
            <a:avLst/>
          </a:prstGeom>
          <a:noFill/>
        </p:spPr>
        <p:txBody>
          <a:bodyPr wrap="square">
            <a:spAutoFit/>
          </a:bodyPr>
          <a:lstStyle/>
          <a:p>
            <a:r>
              <a:rPr b="1" sz="1500">
                <a:solidFill>
                  <a:srgbClr val="4E7A3A"/>
                </a:solidFill>
              </a:rPr>
              <a:t>Growth cycle: </a:t>
            </a:r>
            <a:r>
              <a:rPr sz="1400">
                <a:solidFill>
                  <a:srgbClr val="18241B"/>
                </a:solidFill>
              </a:rPr>
              <a:t>About 4 months from fruit pruning to ripe bunches, all completed within one dry winter season.</a:t>
            </a:r>
          </a:p>
        </p:txBody>
      </p:sp>
      <p:sp>
        <p:nvSpPr>
          <p:cNvPr id="24" name="Rounded Rectangle 23"/>
          <p:cNvSpPr/>
          <p:nvPr/>
        </p:nvSpPr>
        <p:spPr>
          <a:xfrm>
            <a:off x="6217920" y="4572000"/>
            <a:ext cx="5212080" cy="12801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709160"/>
            <a:ext cx="4846320" cy="1005840"/>
          </a:xfrm>
          <a:prstGeom prst="rect">
            <a:avLst/>
          </a:prstGeom>
          <a:noFill/>
        </p:spPr>
        <p:txBody>
          <a:bodyPr wrap="square">
            <a:spAutoFit/>
          </a:bodyPr>
          <a:lstStyle/>
          <a:p>
            <a:r>
              <a:rPr b="1" sz="1500">
                <a:solidFill>
                  <a:srgbClr val="C27E22"/>
                </a:solidFill>
              </a:rPr>
              <a:t>Raisin formation: </a:t>
            </a:r>
            <a:r>
              <a:rPr sz="1400">
                <a:solidFill>
                  <a:srgbClr val="18241B"/>
                </a:solidFill>
              </a:rPr>
              <a:t>About 4 weeks from vine harvest to finished, sorted, and packed raisins in the shade shed.</a:t>
            </a:r>
          </a:p>
        </p:txBody>
      </p:sp>
      <p:sp>
        <p:nvSpPr>
          <p:cNvPr id="26" name="TextBox 25"/>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it_watermarked_img_2691116564557222877.jpg"/>
          <p:cNvPicPr>
            <a:picLocks noChangeAspect="1"/>
          </p:cNvPicPr>
          <p:nvPr/>
        </p:nvPicPr>
        <p:blipFill>
          <a:blip r:embed="rId2"/>
          <a:stretch>
            <a:fillRect/>
          </a:stretch>
        </p:blipFill>
        <p:spPr>
          <a:xfrm>
            <a:off x="6217920" y="0"/>
            <a:ext cx="5973775" cy="6858000"/>
          </a:xfrm>
          <a:prstGeom prst="rect">
            <a:avLst/>
          </a:prstGeom>
        </p:spPr>
      </p:pic>
      <p:sp>
        <p:nvSpPr>
          <p:cNvPr id="4" name="TextBox 3"/>
          <p:cNvSpPr txBox="1"/>
          <p:nvPr/>
        </p:nvSpPr>
        <p:spPr>
          <a:xfrm>
            <a:off x="731520" y="2011680"/>
            <a:ext cx="5120640" cy="3657600"/>
          </a:xfrm>
          <a:prstGeom prst="rect">
            <a:avLst/>
          </a:prstGeom>
          <a:noFill/>
        </p:spPr>
        <p:txBody>
          <a:bodyPr wrap="square">
            <a:spAutoFit/>
          </a:bodyPr>
          <a:lstStyle/>
          <a:p>
            <a:pPr>
              <a:spcAft>
                <a:spcPts val="1000"/>
              </a:spcAft>
            </a:pPr>
            <a:r>
              <a:rPr sz="1400" b="1">
                <a:solidFill>
                  <a:srgbClr val="C27E22"/>
                </a:solidFill>
              </a:rPr>
              <a:t>PART 1</a:t>
            </a:r>
          </a:p>
          <a:p>
            <a:pPr>
              <a:spcAft>
                <a:spcPts val="1600"/>
              </a:spcAft>
            </a:pPr>
            <a:r>
              <a:rPr sz="4000" b="1">
                <a:solidFill>
                  <a:srgbClr val="F4F7F4"/>
                </a:solidFill>
                <a:latin typeface="Georgia"/>
              </a:rPr>
              <a:t>The growth cycle</a:t>
            </a:r>
          </a:p>
          <a:p>
            <a:r>
              <a:rPr sz="1800">
                <a:solidFill>
                  <a:srgbClr val="A8BAAA"/>
                </a:solidFill>
              </a:rPr>
              <a:t>From a pruned, leafless vine to ripe, sugar-rich bunches in about 150 days.</a:t>
            </a:r>
          </a:p>
        </p:txBody>
      </p:sp>
      <p:sp>
        <p:nvSpPr>
          <p:cNvPr id="5" name="TextBox 4"/>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A8BAAA"/>
                </a:solidFill>
                <a:latin typeface="Arial"/>
              </a:rPr>
              <a:t>From Vine to Raisin · Vijayapura vineyard, 2025–26 season · </a:t>
            </a:r>
            <a:r>
              <a:rPr sz="1100" b="1">
                <a:solidFill>
                  <a:srgbClr val="93C5FD"/>
                </a:solidFill>
                <a:latin typeface="Arial"/>
                <a:hlinkClick r:id="rId3"/>
              </a:rPr>
              <a:t>arunpatillabs.com</a:t>
            </a:r>
            <a:r>
              <a:rPr sz="1100">
                <a:solidFill>
                  <a:srgbClr val="A8BAAA"/>
                </a:solidFill>
                <a:latin typeface="Arial"/>
              </a:rPr>
              <a:t>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18241B"/>
                </a:solidFill>
                <a:latin typeface="Georgia"/>
              </a:rPr>
              <a:t>A vineyard pruned twice a year</a:t>
            </a:r>
          </a:p>
        </p:txBody>
      </p:sp>
      <p:sp>
        <p:nvSpPr>
          <p:cNvPr id="4" name="Rounded Rectangle 3"/>
          <p:cNvSpPr/>
          <p:nvPr/>
        </p:nvSpPr>
        <p:spPr>
          <a:xfrm>
            <a:off x="731520" y="1645920"/>
            <a:ext cx="5120640" cy="4297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572000" cy="3749039"/>
          </a:xfrm>
          <a:prstGeom prst="rect">
            <a:avLst/>
          </a:prstGeom>
          <a:noFill/>
        </p:spPr>
        <p:txBody>
          <a:bodyPr wrap="square">
            <a:spAutoFit/>
          </a:bodyPr>
          <a:lstStyle/>
          <a:p>
            <a:pPr>
              <a:spcAft>
                <a:spcPts val="1200"/>
              </a:spcAft>
            </a:pPr>
            <a:r>
              <a:rPr sz="1800" b="1">
                <a:solidFill>
                  <a:srgbClr val="18241B"/>
                </a:solidFill>
              </a:rPr>
              <a:t>Overhead Trellis &amp; Canopy Management</a:t>
            </a:r>
          </a:p>
          <a:p>
            <a:pPr>
              <a:spcAft>
                <a:spcPts val="1200"/>
              </a:spcAft>
            </a:pPr>
            <a:r>
              <a:rPr sz="1400">
                <a:solidFill>
                  <a:srgbClr val="566658"/>
                </a:solidFill>
              </a:rPr>
              <a:t>• Rows with drip lines and green inter-row cover hold soil moisture in the semi-arid Deccan plateau.</a:t>
            </a:r>
          </a:p>
          <a:p>
            <a:pPr>
              <a:spcAft>
                <a:spcPts val="1200"/>
              </a:spcAft>
            </a:pPr>
            <a:r>
              <a:rPr sz="1400">
                <a:solidFill>
                  <a:srgbClr val="566658"/>
                </a:solidFill>
              </a:rPr>
              <a:t>• Vines are trained overhead (bower system) to maximize solar interception while shading ripening bunches below.</a:t>
            </a:r>
          </a:p>
          <a:p>
            <a:r>
              <a:rPr sz="1400">
                <a:solidFill>
                  <a:srgbClr val="566658"/>
                </a:solidFill>
              </a:rPr>
              <a:t>• Two distinct pruning passes govern the annual cycle: foundation vegetative growth and fruit bud activation.</a:t>
            </a:r>
          </a:p>
        </p:txBody>
      </p:sp>
      <p:sp>
        <p:nvSpPr>
          <p:cNvPr id="6" name="Rounded Rectangle 5"/>
          <p:cNvSpPr/>
          <p:nvPr/>
        </p:nvSpPr>
        <p:spPr>
          <a:xfrm>
            <a:off x="6217920" y="1645920"/>
            <a:ext cx="5212080" cy="2011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828800"/>
            <a:ext cx="4663440" cy="1645920"/>
          </a:xfrm>
          <a:prstGeom prst="rect">
            <a:avLst/>
          </a:prstGeom>
          <a:noFill/>
        </p:spPr>
        <p:txBody>
          <a:bodyPr wrap="square">
            <a:spAutoFit/>
          </a:bodyPr>
          <a:lstStyle/>
          <a:p>
            <a:pPr>
              <a:spcAft>
                <a:spcPts val="600"/>
              </a:spcAft>
            </a:pPr>
            <a:r>
              <a:rPr sz="1700" b="1">
                <a:solidFill>
                  <a:srgbClr val="4E7A3A"/>
                </a:solidFill>
              </a:rPr>
              <a:t>A   April: foundation pruning</a:t>
            </a:r>
          </a:p>
          <a:p>
            <a:r>
              <a:rPr sz="1350">
                <a:solidFill>
                  <a:srgbClr val="18241B"/>
                </a:solidFill>
              </a:rPr>
              <a:t>Canes are cut back hard after harvest. New vegetative canes grow vigorously through the summer monsoon to establish fruit buds for the coming season.</a:t>
            </a:r>
          </a:p>
        </p:txBody>
      </p:sp>
      <p:sp>
        <p:nvSpPr>
          <p:cNvPr id="8" name="Rounded Rectangle 7"/>
          <p:cNvSpPr/>
          <p:nvPr/>
        </p:nvSpPr>
        <p:spPr>
          <a:xfrm>
            <a:off x="6217920" y="3931920"/>
            <a:ext cx="5212080" cy="2011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4114800"/>
            <a:ext cx="4663440" cy="1645920"/>
          </a:xfrm>
          <a:prstGeom prst="rect">
            <a:avLst/>
          </a:prstGeom>
          <a:noFill/>
        </p:spPr>
        <p:txBody>
          <a:bodyPr wrap="square">
            <a:spAutoFit/>
          </a:bodyPr>
          <a:lstStyle/>
          <a:p>
            <a:pPr>
              <a:spcAft>
                <a:spcPts val="600"/>
              </a:spcAft>
            </a:pPr>
            <a:r>
              <a:rPr sz="1700" b="1">
                <a:solidFill>
                  <a:srgbClr val="C27E22"/>
                </a:solidFill>
              </a:rPr>
              <a:t>B   October: fruit pruning</a:t>
            </a:r>
          </a:p>
          <a:p>
            <a:r>
              <a:rPr sz="1350">
                <a:solidFill>
                  <a:srgbClr val="18241B"/>
                </a:solidFill>
              </a:rPr>
              <a:t>Mature canes are pruned back to fruitful node positions. This initiates the commercial fruiting cycle that culminates in the March harvest documented in this deck.</a:t>
            </a:r>
          </a:p>
        </p:txBody>
      </p:sp>
      <p:sp>
        <p:nvSpPr>
          <p:cNvPr id="10" name="TextBox 9"/>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pPr>
              <a:spcAft>
                <a:spcPts val="200"/>
              </a:spcAft>
            </a:pPr>
            <a:r>
              <a:rPr sz="1100" b="1">
                <a:solidFill>
                  <a:srgbClr val="4E7A3A"/>
                </a:solidFill>
                <a:latin typeface="Arial"/>
              </a:rPr>
              <a:t>STAGE 1 · 18 OCT 2025</a:t>
            </a:r>
          </a:p>
          <a:p>
            <a:r>
              <a:rPr sz="2800" b="1">
                <a:solidFill>
                  <a:srgbClr val="18241B"/>
                </a:solidFill>
                <a:latin typeface="Georgia"/>
              </a:rPr>
              <a:t>Fruit pruning and bud-break spray</a:t>
            </a:r>
          </a:p>
        </p:txBody>
      </p:sp>
      <p:sp>
        <p:nvSpPr>
          <p:cNvPr id="4" name="Rounded Rectangle 3"/>
          <p:cNvSpPr/>
          <p:nvPr/>
        </p:nvSpPr>
        <p:spPr>
          <a:xfrm>
            <a:off x="731520" y="1645920"/>
            <a:ext cx="5120640" cy="19202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74519"/>
            <a:ext cx="4572000" cy="1463040"/>
          </a:xfrm>
          <a:prstGeom prst="rect">
            <a:avLst/>
          </a:prstGeom>
          <a:noFill/>
        </p:spPr>
        <p:txBody>
          <a:bodyPr wrap="square">
            <a:spAutoFit/>
          </a:bodyPr>
          <a:lstStyle/>
          <a:p>
            <a:pPr>
              <a:spcAft>
                <a:spcPts val="600"/>
              </a:spcAft>
            </a:pPr>
            <a:r>
              <a:rPr sz="1700" b="1">
                <a:solidFill>
                  <a:srgbClr val="4E7A3A"/>
                </a:solidFill>
              </a:rPr>
              <a:t>• Bare canes</a:t>
            </a:r>
          </a:p>
          <a:p>
            <a:r>
              <a:rPr sz="1350">
                <a:solidFill>
                  <a:srgbClr val="18241B"/>
                </a:solidFill>
              </a:rPr>
              <a:t>The vine has no leaves. Each cane is precision-cut to the fruitful buds that will carry this season's bunches.</a:t>
            </a:r>
          </a:p>
        </p:txBody>
      </p:sp>
      <p:sp>
        <p:nvSpPr>
          <p:cNvPr id="6" name="Rounded Rectangle 5"/>
          <p:cNvSpPr/>
          <p:nvPr/>
        </p:nvSpPr>
        <p:spPr>
          <a:xfrm>
            <a:off x="6126480" y="1645920"/>
            <a:ext cx="5120640" cy="19202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74519"/>
            <a:ext cx="4572000" cy="1463040"/>
          </a:xfrm>
          <a:prstGeom prst="rect">
            <a:avLst/>
          </a:prstGeom>
          <a:noFill/>
        </p:spPr>
        <p:txBody>
          <a:bodyPr wrap="square">
            <a:spAutoFit/>
          </a:bodyPr>
          <a:lstStyle/>
          <a:p>
            <a:pPr>
              <a:spcAft>
                <a:spcPts val="600"/>
              </a:spcAft>
            </a:pPr>
            <a:r>
              <a:rPr sz="1700" b="1">
                <a:solidFill>
                  <a:srgbClr val="4E7A3A"/>
                </a:solidFill>
              </a:rPr>
              <a:t>• Bud-break spray</a:t>
            </a:r>
          </a:p>
          <a:p>
            <a:r>
              <a:rPr sz="1350">
                <a:solidFill>
                  <a:srgbClr val="18241B"/>
                </a:solidFill>
              </a:rPr>
              <a:t>A growth regulator (hydrogen cyanamide) is applied immediately so all dormant buds sprout simultaneously and evenly.</a:t>
            </a:r>
          </a:p>
        </p:txBody>
      </p:sp>
      <p:sp>
        <p:nvSpPr>
          <p:cNvPr id="8" name="Rounded Rectangle 7"/>
          <p:cNvSpPr/>
          <p:nvPr/>
        </p:nvSpPr>
        <p:spPr>
          <a:xfrm>
            <a:off x="731520" y="3749039"/>
            <a:ext cx="5120640" cy="19202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977639"/>
            <a:ext cx="4572000" cy="1463040"/>
          </a:xfrm>
          <a:prstGeom prst="rect">
            <a:avLst/>
          </a:prstGeom>
          <a:noFill/>
        </p:spPr>
        <p:txBody>
          <a:bodyPr wrap="square">
            <a:spAutoFit/>
          </a:bodyPr>
          <a:lstStyle/>
          <a:p>
            <a:pPr>
              <a:spcAft>
                <a:spcPts val="600"/>
              </a:spcAft>
            </a:pPr>
            <a:r>
              <a:rPr sz="1700" b="1">
                <a:solidFill>
                  <a:srgbClr val="4E7A3A"/>
                </a:solidFill>
              </a:rPr>
              <a:t>• Why it matters</a:t>
            </a:r>
          </a:p>
          <a:p>
            <a:r>
              <a:rPr sz="1350">
                <a:solidFill>
                  <a:srgbClr val="18241B"/>
                </a:solidFill>
              </a:rPr>
              <a:t>Even sprouting lines up subsequent flowering, berry sizing, and ripening so the entire block can be harvested together.</a:t>
            </a:r>
          </a:p>
        </p:txBody>
      </p:sp>
      <p:sp>
        <p:nvSpPr>
          <p:cNvPr id="10" name="Rounded Rectangle 9"/>
          <p:cNvSpPr/>
          <p:nvPr/>
        </p:nvSpPr>
        <p:spPr>
          <a:xfrm>
            <a:off x="6126480" y="3749039"/>
            <a:ext cx="5120640" cy="19202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3977639"/>
            <a:ext cx="4572000" cy="1463040"/>
          </a:xfrm>
          <a:prstGeom prst="rect">
            <a:avLst/>
          </a:prstGeom>
          <a:noFill/>
        </p:spPr>
        <p:txBody>
          <a:bodyPr wrap="square">
            <a:spAutoFit/>
          </a:bodyPr>
          <a:lstStyle/>
          <a:p>
            <a:pPr>
              <a:spcAft>
                <a:spcPts val="600"/>
              </a:spcAft>
            </a:pPr>
            <a:r>
              <a:rPr sz="1700" b="1">
                <a:solidFill>
                  <a:srgbClr val="4E7A3A"/>
                </a:solidFill>
              </a:rPr>
              <a:t>• Ground cover</a:t>
            </a:r>
          </a:p>
          <a:p>
            <a:r>
              <a:rPr sz="1350">
                <a:solidFill>
                  <a:srgbClr val="18241B"/>
                </a:solidFill>
              </a:rPr>
              <a:t>Green ground cover and weeds between rows help hold soil moisture and buffer against intense solar heating.</a:t>
            </a:r>
          </a:p>
        </p:txBody>
      </p:sp>
      <p:sp>
        <p:nvSpPr>
          <p:cNvPr id="12" name="TextBox 11"/>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pPr>
              <a:spcAft>
                <a:spcPts val="200"/>
              </a:spcAft>
            </a:pPr>
            <a:r>
              <a:rPr sz="1100" b="1">
                <a:solidFill>
                  <a:srgbClr val="4E7A3A"/>
                </a:solidFill>
                <a:latin typeface="Arial"/>
              </a:rPr>
              <a:t>FIELD RECORDING INSTRUMENTATION</a:t>
            </a:r>
          </a:p>
          <a:p>
            <a:r>
              <a:rPr sz="2800" b="1">
                <a:solidFill>
                  <a:srgbClr val="18241B"/>
                </a:solidFill>
                <a:latin typeface="Georgia"/>
              </a:rPr>
              <a:t>Tech on the farm</a:t>
            </a:r>
          </a:p>
        </p:txBody>
      </p:sp>
      <p:sp>
        <p:nvSpPr>
          <p:cNvPr id="4" name="Rounded Rectangle 3"/>
          <p:cNvSpPr/>
          <p:nvPr/>
        </p:nvSpPr>
        <p:spPr>
          <a:xfrm>
            <a:off x="731520" y="1645920"/>
            <a:ext cx="2560320" cy="4297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20240"/>
            <a:ext cx="2194560" cy="3749039"/>
          </a:xfrm>
          <a:prstGeom prst="rect">
            <a:avLst/>
          </a:prstGeom>
          <a:noFill/>
        </p:spPr>
        <p:txBody>
          <a:bodyPr wrap="square">
            <a:spAutoFit/>
          </a:bodyPr>
          <a:lstStyle/>
          <a:p>
            <a:pPr>
              <a:spcAft>
                <a:spcPts val="1000"/>
              </a:spcAft>
            </a:pPr>
            <a:r>
              <a:rPr sz="2000" b="1">
                <a:solidFill>
                  <a:srgbClr val="4E7A3A"/>
                </a:solidFill>
                <a:latin typeface="Georgia"/>
              </a:rPr>
              <a:t>01</a:t>
            </a:r>
          </a:p>
          <a:p>
            <a:pPr>
              <a:spcAft>
                <a:spcPts val="800"/>
              </a:spcAft>
            </a:pPr>
            <a:r>
              <a:rPr sz="1600" b="1">
                <a:solidFill>
                  <a:srgbClr val="18241B"/>
                </a:solidFill>
              </a:rPr>
              <a:t>Tractor GPS</a:t>
            </a:r>
          </a:p>
          <a:p>
            <a:r>
              <a:rPr sz="1300">
                <a:solidFill>
                  <a:srgbClr val="566658"/>
                </a:solidFill>
              </a:rPr>
              <a:t>Maps each pass and marks the farm block boundary across all 51 vineyard rows.</a:t>
            </a:r>
          </a:p>
        </p:txBody>
      </p:sp>
      <p:sp>
        <p:nvSpPr>
          <p:cNvPr id="6" name="Rounded Rectangle 5"/>
          <p:cNvSpPr/>
          <p:nvPr/>
        </p:nvSpPr>
        <p:spPr>
          <a:xfrm>
            <a:off x="3429000" y="1645920"/>
            <a:ext cx="2560320" cy="4297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920240"/>
            <a:ext cx="2194560" cy="3749039"/>
          </a:xfrm>
          <a:prstGeom prst="rect">
            <a:avLst/>
          </a:prstGeom>
          <a:noFill/>
        </p:spPr>
        <p:txBody>
          <a:bodyPr wrap="square">
            <a:spAutoFit/>
          </a:bodyPr>
          <a:lstStyle/>
          <a:p>
            <a:pPr>
              <a:spcAft>
                <a:spcPts val="1000"/>
              </a:spcAft>
            </a:pPr>
            <a:r>
              <a:rPr sz="2000" b="1">
                <a:solidFill>
                  <a:srgbClr val="4E7A3A"/>
                </a:solidFill>
                <a:latin typeface="Georgia"/>
              </a:rPr>
              <a:t>02</a:t>
            </a:r>
          </a:p>
          <a:p>
            <a:pPr>
              <a:spcAft>
                <a:spcPts val="800"/>
              </a:spcAft>
            </a:pPr>
            <a:r>
              <a:rPr sz="1600" b="1">
                <a:solidFill>
                  <a:srgbClr val="18241B"/>
                </a:solidFill>
              </a:rPr>
              <a:t>Tractor Camera</a:t>
            </a:r>
          </a:p>
          <a:p>
            <a:r>
              <a:rPr sz="1300">
                <a:solidFill>
                  <a:srgbClr val="566658"/>
                </a:solidFill>
              </a:rPr>
              <a:t>Mounted action camera records spray and tillage passes row by row to build baseline visual logs.</a:t>
            </a:r>
          </a:p>
        </p:txBody>
      </p:sp>
      <p:sp>
        <p:nvSpPr>
          <p:cNvPr id="8" name="Rounded Rectangle 7"/>
          <p:cNvSpPr/>
          <p:nvPr/>
        </p:nvSpPr>
        <p:spPr>
          <a:xfrm>
            <a:off x="6126480" y="1645920"/>
            <a:ext cx="2560320" cy="4297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920240"/>
            <a:ext cx="2194560" cy="3749039"/>
          </a:xfrm>
          <a:prstGeom prst="rect">
            <a:avLst/>
          </a:prstGeom>
          <a:noFill/>
        </p:spPr>
        <p:txBody>
          <a:bodyPr wrap="square">
            <a:spAutoFit/>
          </a:bodyPr>
          <a:lstStyle/>
          <a:p>
            <a:pPr>
              <a:spcAft>
                <a:spcPts val="1000"/>
              </a:spcAft>
            </a:pPr>
            <a:r>
              <a:rPr sz="2000" b="1">
                <a:solidFill>
                  <a:srgbClr val="4E7A3A"/>
                </a:solidFill>
                <a:latin typeface="Georgia"/>
              </a:rPr>
              <a:t>03</a:t>
            </a:r>
          </a:p>
          <a:p>
            <a:pPr>
              <a:spcAft>
                <a:spcPts val="800"/>
              </a:spcAft>
            </a:pPr>
            <a:r>
              <a:rPr sz="1600" b="1">
                <a:solidFill>
                  <a:srgbClr val="18241B"/>
                </a:solidFill>
              </a:rPr>
              <a:t>Fixed CCTV</a:t>
            </a:r>
          </a:p>
          <a:p>
            <a:r>
              <a:rPr sz="1300">
                <a:solidFill>
                  <a:srgbClr val="566658"/>
                </a:solidFill>
              </a:rPr>
              <a:t>Time-stamped cameras cover the vineyard rows and drying shed yard 24/7.</a:t>
            </a:r>
          </a:p>
        </p:txBody>
      </p:sp>
      <p:sp>
        <p:nvSpPr>
          <p:cNvPr id="10" name="Rounded Rectangle 9"/>
          <p:cNvSpPr/>
          <p:nvPr/>
        </p:nvSpPr>
        <p:spPr>
          <a:xfrm>
            <a:off x="8823960" y="1645920"/>
            <a:ext cx="2560320" cy="4297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06840" y="1920240"/>
            <a:ext cx="2194560" cy="3749039"/>
          </a:xfrm>
          <a:prstGeom prst="rect">
            <a:avLst/>
          </a:prstGeom>
          <a:noFill/>
        </p:spPr>
        <p:txBody>
          <a:bodyPr wrap="square">
            <a:spAutoFit/>
          </a:bodyPr>
          <a:lstStyle/>
          <a:p>
            <a:pPr>
              <a:spcAft>
                <a:spcPts val="1000"/>
              </a:spcAft>
            </a:pPr>
            <a:r>
              <a:rPr sz="2000" b="1">
                <a:solidFill>
                  <a:srgbClr val="4E7A3A"/>
                </a:solidFill>
                <a:latin typeface="Georgia"/>
              </a:rPr>
              <a:t>04</a:t>
            </a:r>
          </a:p>
          <a:p>
            <a:pPr>
              <a:spcAft>
                <a:spcPts val="800"/>
              </a:spcAft>
            </a:pPr>
            <a:r>
              <a:rPr sz="1600" b="1">
                <a:solidFill>
                  <a:srgbClr val="18241B"/>
                </a:solidFill>
              </a:rPr>
              <a:t>Dated Visual Log</a:t>
            </a:r>
          </a:p>
          <a:p>
            <a:r>
              <a:rPr sz="1300">
                <a:solidFill>
                  <a:srgbClr val="566658"/>
                </a:solidFill>
              </a:rPr>
              <a:t>Synchronized imagery, GPS coordinates, and CCTV feeds form the empirical ground-truth dataset for this study.</a:t>
            </a:r>
          </a:p>
        </p:txBody>
      </p:sp>
      <p:sp>
        <p:nvSpPr>
          <p:cNvPr id="12" name="TextBox 11"/>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pPr>
              <a:spcAft>
                <a:spcPts val="200"/>
              </a:spcAft>
            </a:pPr>
            <a:r>
              <a:rPr sz="1100" b="1">
                <a:solidFill>
                  <a:srgbClr val="4E7A3A"/>
                </a:solidFill>
                <a:latin typeface="Arial"/>
              </a:rPr>
              <a:t>STAGE 2 · 12 NOV 2025</a:t>
            </a:r>
          </a:p>
          <a:p>
            <a:r>
              <a:rPr sz="2800" b="1">
                <a:solidFill>
                  <a:srgbClr val="18241B"/>
                </a:solidFill>
                <a:latin typeface="Georgia"/>
              </a:rPr>
              <a:t>Bunch emergence</a:t>
            </a:r>
          </a:p>
        </p:txBody>
      </p:sp>
      <p:sp>
        <p:nvSpPr>
          <p:cNvPr id="4" name="Rounded Rectangle 3"/>
          <p:cNvSpPr/>
          <p:nvPr/>
        </p:nvSpPr>
        <p:spPr>
          <a:xfrm>
            <a:off x="731520" y="1645920"/>
            <a:ext cx="10728655" cy="12801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914400"/>
          </a:xfrm>
          <a:prstGeom prst="rect">
            <a:avLst/>
          </a:prstGeom>
          <a:noFill/>
        </p:spPr>
        <p:txBody>
          <a:bodyPr wrap="square">
            <a:spAutoFit/>
          </a:bodyPr>
          <a:lstStyle/>
          <a:p>
            <a:pPr>
              <a:spcAft>
                <a:spcPts val="400"/>
              </a:spcAft>
            </a:pPr>
            <a:r>
              <a:rPr sz="1600" b="1">
                <a:solidFill>
                  <a:srgbClr val="4E7A3A"/>
                </a:solidFill>
              </a:rPr>
              <a:t>• ~25 Days Post-Spray</a:t>
            </a:r>
          </a:p>
          <a:p>
            <a:r>
              <a:rPr sz="1350">
                <a:solidFill>
                  <a:srgbClr val="18241B"/>
                </a:solidFill>
              </a:rPr>
              <a:t>Each new cane shoot carries one or two compact flower clusters (inflorescences) with curling tendrils.</a:t>
            </a:r>
          </a:p>
        </p:txBody>
      </p:sp>
      <p:sp>
        <p:nvSpPr>
          <p:cNvPr id="6" name="Rounded Rectangle 5"/>
          <p:cNvSpPr/>
          <p:nvPr/>
        </p:nvSpPr>
        <p:spPr>
          <a:xfrm>
            <a:off x="731520" y="3108960"/>
            <a:ext cx="10728655" cy="12801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291840"/>
            <a:ext cx="10149840" cy="914400"/>
          </a:xfrm>
          <a:prstGeom prst="rect">
            <a:avLst/>
          </a:prstGeom>
          <a:noFill/>
        </p:spPr>
        <p:txBody>
          <a:bodyPr wrap="square">
            <a:spAutoFit/>
          </a:bodyPr>
          <a:lstStyle/>
          <a:p>
            <a:pPr>
              <a:spcAft>
                <a:spcPts val="400"/>
              </a:spcAft>
            </a:pPr>
            <a:r>
              <a:rPr sz="1600" b="1">
                <a:solidFill>
                  <a:srgbClr val="4E7A3A"/>
                </a:solidFill>
              </a:rPr>
              <a:t>• Hundreds of Flower Buds</a:t>
            </a:r>
          </a:p>
          <a:p>
            <a:r>
              <a:rPr sz="1350">
                <a:solidFill>
                  <a:srgbClr val="18241B"/>
                </a:solidFill>
              </a:rPr>
              <a:t>Each emerging cluster holds hundreds of closed flower buds, which will pollinate and develop into individual berries.</a:t>
            </a:r>
          </a:p>
        </p:txBody>
      </p:sp>
      <p:sp>
        <p:nvSpPr>
          <p:cNvPr id="8" name="Rounded Rectangle 7"/>
          <p:cNvSpPr/>
          <p:nvPr/>
        </p:nvSpPr>
        <p:spPr>
          <a:xfrm>
            <a:off x="731520" y="4572000"/>
            <a:ext cx="10728655" cy="12801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754880"/>
            <a:ext cx="10149840" cy="914400"/>
          </a:xfrm>
          <a:prstGeom prst="rect">
            <a:avLst/>
          </a:prstGeom>
          <a:noFill/>
        </p:spPr>
        <p:txBody>
          <a:bodyPr wrap="square">
            <a:spAutoFit/>
          </a:bodyPr>
          <a:lstStyle/>
          <a:p>
            <a:pPr>
              <a:spcAft>
                <a:spcPts val="400"/>
              </a:spcAft>
            </a:pPr>
            <a:r>
              <a:rPr sz="1600" b="1">
                <a:solidFill>
                  <a:srgbClr val="4E7A3A"/>
                </a:solidFill>
              </a:rPr>
              <a:t>• Canopy Thinning Work</a:t>
            </a:r>
          </a:p>
          <a:p>
            <a:r>
              <a:rPr sz="1350">
                <a:solidFill>
                  <a:srgbClr val="18241B"/>
                </a:solidFill>
              </a:rPr>
              <a:t>Extra vegetative shoots are manually thinned so sunlight and air circulation reach the developing clusters.</a:t>
            </a:r>
          </a:p>
        </p:txBody>
      </p:sp>
      <p:sp>
        <p:nvSpPr>
          <p:cNvPr id="10" name="TextBox 9"/>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pPr>
              <a:spcAft>
                <a:spcPts val="200"/>
              </a:spcAft>
            </a:pPr>
            <a:r>
              <a:rPr sz="1100" b="1">
                <a:solidFill>
                  <a:srgbClr val="4E7A3A"/>
                </a:solidFill>
                <a:latin typeface="Arial"/>
              </a:rPr>
              <a:t>STAGE 3 · 14 NOV 2025</a:t>
            </a:r>
          </a:p>
          <a:p>
            <a:r>
              <a:rPr sz="2800" b="1">
                <a:solidFill>
                  <a:srgbClr val="18241B"/>
                </a:solidFill>
                <a:latin typeface="Georgia"/>
              </a:rPr>
              <a:t>Flowering and berry set</a:t>
            </a:r>
          </a:p>
        </p:txBody>
      </p:sp>
      <p:sp>
        <p:nvSpPr>
          <p:cNvPr id="4" name="Rounded Rectangle 3"/>
          <p:cNvSpPr/>
          <p:nvPr/>
        </p:nvSpPr>
        <p:spPr>
          <a:xfrm>
            <a:off x="731520" y="1645920"/>
            <a:ext cx="10728655" cy="12801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914400"/>
          </a:xfrm>
          <a:prstGeom prst="rect">
            <a:avLst/>
          </a:prstGeom>
          <a:noFill/>
        </p:spPr>
        <p:txBody>
          <a:bodyPr wrap="square">
            <a:spAutoFit/>
          </a:bodyPr>
          <a:lstStyle/>
          <a:p>
            <a:pPr>
              <a:spcAft>
                <a:spcPts val="400"/>
              </a:spcAft>
            </a:pPr>
            <a:r>
              <a:rPr sz="1600" b="1">
                <a:solidFill>
                  <a:srgbClr val="4E7A3A"/>
                </a:solidFill>
              </a:rPr>
              <a:t>• Full Bloom (~27 Days)</a:t>
            </a:r>
          </a:p>
          <a:p>
            <a:r>
              <a:rPr sz="1350">
                <a:solidFill>
                  <a:srgbClr val="18241B"/>
                </a:solidFill>
              </a:rPr>
              <a:t>Flower caps (calyptras) fall off and pollen is shed, approximately 27 days after the bud-break spray.</a:t>
            </a:r>
          </a:p>
        </p:txBody>
      </p:sp>
      <p:sp>
        <p:nvSpPr>
          <p:cNvPr id="6" name="Rounded Rectangle 5"/>
          <p:cNvSpPr/>
          <p:nvPr/>
        </p:nvSpPr>
        <p:spPr>
          <a:xfrm>
            <a:off x="731520" y="3108960"/>
            <a:ext cx="10728655" cy="12801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291840"/>
            <a:ext cx="10149840" cy="914400"/>
          </a:xfrm>
          <a:prstGeom prst="rect">
            <a:avLst/>
          </a:prstGeom>
          <a:noFill/>
        </p:spPr>
        <p:txBody>
          <a:bodyPr wrap="square">
            <a:spAutoFit/>
          </a:bodyPr>
          <a:lstStyle/>
          <a:p>
            <a:pPr>
              <a:spcAft>
                <a:spcPts val="400"/>
              </a:spcAft>
            </a:pPr>
            <a:r>
              <a:rPr sz="1600" b="1">
                <a:solidFill>
                  <a:srgbClr val="4E7A3A"/>
                </a:solidFill>
              </a:rPr>
              <a:t>• Berry Set</a:t>
            </a:r>
          </a:p>
          <a:p>
            <a:r>
              <a:rPr sz="1350">
                <a:solidFill>
                  <a:srgbClr val="18241B"/>
                </a:solidFill>
              </a:rPr>
              <a:t>Fertilised flowers swell into tiny green berries (2–3 mm), establishing the cluster's potential crop load.</a:t>
            </a:r>
          </a:p>
        </p:txBody>
      </p:sp>
      <p:sp>
        <p:nvSpPr>
          <p:cNvPr id="8" name="Rounded Rectangle 7"/>
          <p:cNvSpPr/>
          <p:nvPr/>
        </p:nvSpPr>
        <p:spPr>
          <a:xfrm>
            <a:off x="731520" y="4572000"/>
            <a:ext cx="10728655" cy="12801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754880"/>
            <a:ext cx="10149840" cy="914400"/>
          </a:xfrm>
          <a:prstGeom prst="rect">
            <a:avLst/>
          </a:prstGeom>
          <a:noFill/>
        </p:spPr>
        <p:txBody>
          <a:bodyPr wrap="square">
            <a:spAutoFit/>
          </a:bodyPr>
          <a:lstStyle/>
          <a:p>
            <a:pPr>
              <a:spcAft>
                <a:spcPts val="400"/>
              </a:spcAft>
            </a:pPr>
            <a:r>
              <a:rPr sz="1600" b="1">
                <a:solidFill>
                  <a:srgbClr val="4E7A3A"/>
                </a:solidFill>
              </a:rPr>
              <a:t>• Bunch Shaping &amp; GA3</a:t>
            </a:r>
          </a:p>
          <a:p>
            <a:r>
              <a:rPr sz="1350">
                <a:solidFill>
                  <a:srgbClr val="18241B"/>
                </a:solidFill>
              </a:rPr>
              <a:t>Growers apply gibberellic acid (GA3) to elongate the cluster rachis and thin berries, ensuring loose bunches that dry evenly.</a:t>
            </a:r>
          </a:p>
        </p:txBody>
      </p:sp>
      <p:sp>
        <p:nvSpPr>
          <p:cNvPr id="10" name="TextBox 9"/>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pPr>
              <a:spcAft>
                <a:spcPts val="200"/>
              </a:spcAft>
            </a:pPr>
            <a:r>
              <a:rPr sz="1100" b="1">
                <a:solidFill>
                  <a:srgbClr val="4E7A3A"/>
                </a:solidFill>
                <a:latin typeface="Arial"/>
              </a:rPr>
              <a:t>STAGE 4 · 15 JAN 2026</a:t>
            </a:r>
          </a:p>
          <a:p>
            <a:r>
              <a:rPr sz="2800" b="1">
                <a:solidFill>
                  <a:srgbClr val="18241B"/>
                </a:solidFill>
                <a:latin typeface="Georgia"/>
              </a:rPr>
              <a:t>Berry development</a:t>
            </a:r>
          </a:p>
        </p:txBody>
      </p:sp>
      <p:sp>
        <p:nvSpPr>
          <p:cNvPr id="4" name="Rounded Rectangle 3"/>
          <p:cNvSpPr/>
          <p:nvPr/>
        </p:nvSpPr>
        <p:spPr>
          <a:xfrm>
            <a:off x="731520" y="1645920"/>
            <a:ext cx="10728655" cy="12801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914400"/>
          </a:xfrm>
          <a:prstGeom prst="rect">
            <a:avLst/>
          </a:prstGeom>
          <a:noFill/>
        </p:spPr>
        <p:txBody>
          <a:bodyPr wrap="square">
            <a:spAutoFit/>
          </a:bodyPr>
          <a:lstStyle/>
          <a:p>
            <a:pPr>
              <a:spcAft>
                <a:spcPts val="400"/>
              </a:spcAft>
            </a:pPr>
            <a:r>
              <a:rPr sz="1600" b="1">
                <a:solidFill>
                  <a:srgbClr val="4E7A3A"/>
                </a:solidFill>
              </a:rPr>
              <a:t>• Rapid Cell Division &amp; Water Fill</a:t>
            </a:r>
          </a:p>
          <a:p>
            <a:r>
              <a:rPr sz="1350">
                <a:solidFill>
                  <a:srgbClr val="18241B"/>
                </a:solidFill>
              </a:rPr>
              <a:t>Berries swell rapidly—first by cell division, then by cells expanding and filling with water and tartaric acid.</a:t>
            </a:r>
          </a:p>
        </p:txBody>
      </p:sp>
      <p:sp>
        <p:nvSpPr>
          <p:cNvPr id="6" name="Rounded Rectangle 5"/>
          <p:cNvSpPr/>
          <p:nvPr/>
        </p:nvSpPr>
        <p:spPr>
          <a:xfrm>
            <a:off x="731520" y="3108960"/>
            <a:ext cx="10728655" cy="12801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291840"/>
            <a:ext cx="10149840" cy="914400"/>
          </a:xfrm>
          <a:prstGeom prst="rect">
            <a:avLst/>
          </a:prstGeom>
          <a:noFill/>
        </p:spPr>
        <p:txBody>
          <a:bodyPr wrap="square">
            <a:spAutoFit/>
          </a:bodyPr>
          <a:lstStyle/>
          <a:p>
            <a:pPr>
              <a:spcAft>
                <a:spcPts val="400"/>
              </a:spcAft>
            </a:pPr>
            <a:r>
              <a:rPr sz="1600" b="1">
                <a:solidFill>
                  <a:srgbClr val="4E7A3A"/>
                </a:solidFill>
              </a:rPr>
              <a:t>• Green &amp; Firm Physiology</a:t>
            </a:r>
          </a:p>
          <a:p>
            <a:r>
              <a:rPr sz="1350">
                <a:solidFill>
                  <a:srgbClr val="18241B"/>
                </a:solidFill>
              </a:rPr>
              <a:t>Berries remain deep green, firm, and acidic with minimal soluble sugars during this vegetative sizing window.</a:t>
            </a:r>
          </a:p>
        </p:txBody>
      </p:sp>
      <p:sp>
        <p:nvSpPr>
          <p:cNvPr id="8" name="Rounded Rectangle 7"/>
          <p:cNvSpPr/>
          <p:nvPr/>
        </p:nvSpPr>
        <p:spPr>
          <a:xfrm>
            <a:off x="731520" y="4572000"/>
            <a:ext cx="10728655" cy="12801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754880"/>
            <a:ext cx="10149840" cy="914400"/>
          </a:xfrm>
          <a:prstGeom prst="rect">
            <a:avLst/>
          </a:prstGeom>
          <a:noFill/>
        </p:spPr>
        <p:txBody>
          <a:bodyPr wrap="square">
            <a:spAutoFit/>
          </a:bodyPr>
          <a:lstStyle/>
          <a:p>
            <a:pPr>
              <a:spcAft>
                <a:spcPts val="400"/>
              </a:spcAft>
            </a:pPr>
            <a:r>
              <a:rPr sz="1600" b="1">
                <a:solidFill>
                  <a:srgbClr val="4E7A3A"/>
                </a:solidFill>
              </a:rPr>
              <a:t>• Canopy Shade Protection</a:t>
            </a:r>
          </a:p>
          <a:p>
            <a:r>
              <a:rPr sz="1350">
                <a:solidFill>
                  <a:srgbClr val="18241B"/>
                </a:solidFill>
              </a:rPr>
              <a:t>Bunches hang under the overhead leaf canopy, preventing direct solar sunburn while drip lines maintain soil tension.</a:t>
            </a:r>
          </a:p>
        </p:txBody>
      </p:sp>
      <p:sp>
        <p:nvSpPr>
          <p:cNvPr id="10" name="TextBox 9"/>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pPr>
              <a:spcAft>
                <a:spcPts val="200"/>
              </a:spcAft>
            </a:pPr>
            <a:r>
              <a:rPr sz="1100" b="1">
                <a:solidFill>
                  <a:srgbClr val="4E7A3A"/>
                </a:solidFill>
                <a:latin typeface="Arial"/>
              </a:rPr>
              <a:t>STAGE 5 · 14–15 FEB 2026</a:t>
            </a:r>
          </a:p>
          <a:p>
            <a:r>
              <a:rPr sz="2800" b="1">
                <a:solidFill>
                  <a:srgbClr val="18241B"/>
                </a:solidFill>
                <a:latin typeface="Georgia"/>
              </a:rPr>
              <a:t>Ripening: sugar builds, acid falls</a:t>
            </a:r>
          </a:p>
        </p:txBody>
      </p:sp>
      <p:sp>
        <p:nvSpPr>
          <p:cNvPr id="4" name="Rounded Rectangle 3"/>
          <p:cNvSpPr/>
          <p:nvPr/>
        </p:nvSpPr>
        <p:spPr>
          <a:xfrm>
            <a:off x="731520" y="1645920"/>
            <a:ext cx="10728655" cy="12801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914400"/>
          </a:xfrm>
          <a:prstGeom prst="rect">
            <a:avLst/>
          </a:prstGeom>
          <a:noFill/>
        </p:spPr>
        <p:txBody>
          <a:bodyPr wrap="square">
            <a:spAutoFit/>
          </a:bodyPr>
          <a:lstStyle/>
          <a:p>
            <a:pPr>
              <a:spcAft>
                <a:spcPts val="400"/>
              </a:spcAft>
            </a:pPr>
            <a:r>
              <a:rPr sz="1600" b="1">
                <a:solidFill>
                  <a:srgbClr val="4E7A3A"/>
                </a:solidFill>
              </a:rPr>
              <a:t>• Veraison (Translucence)</a:t>
            </a:r>
          </a:p>
          <a:p>
            <a:r>
              <a:rPr sz="1350">
                <a:solidFill>
                  <a:srgbClr val="18241B"/>
                </a:solidFill>
              </a:rPr>
              <a:t>Berries soften and turn from opaque deep green to a translucent golden yellow-green.</a:t>
            </a:r>
          </a:p>
        </p:txBody>
      </p:sp>
      <p:sp>
        <p:nvSpPr>
          <p:cNvPr id="6" name="Rounded Rectangle 5"/>
          <p:cNvSpPr/>
          <p:nvPr/>
        </p:nvSpPr>
        <p:spPr>
          <a:xfrm>
            <a:off x="731520" y="3108960"/>
            <a:ext cx="10728655" cy="12801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291840"/>
            <a:ext cx="10149840" cy="914400"/>
          </a:xfrm>
          <a:prstGeom prst="rect">
            <a:avLst/>
          </a:prstGeom>
          <a:noFill/>
        </p:spPr>
        <p:txBody>
          <a:bodyPr wrap="square">
            <a:spAutoFit/>
          </a:bodyPr>
          <a:lstStyle/>
          <a:p>
            <a:pPr>
              <a:spcAft>
                <a:spcPts val="400"/>
              </a:spcAft>
            </a:pPr>
            <a:r>
              <a:rPr sz="1600" b="1">
                <a:solidFill>
                  <a:srgbClr val="4E7A3A"/>
                </a:solidFill>
              </a:rPr>
              <a:t>• Biochemical Transition</a:t>
            </a:r>
          </a:p>
          <a:p>
            <a:r>
              <a:rPr sz="1350">
                <a:solidFill>
                  <a:srgbClr val="18241B"/>
                </a:solidFill>
              </a:rPr>
              <a:t>Soluble sugars accumulate rapidly while titratable acids drop precipitously.</a:t>
            </a:r>
          </a:p>
        </p:txBody>
      </p:sp>
      <p:sp>
        <p:nvSpPr>
          <p:cNvPr id="8" name="Rounded Rectangle 7"/>
          <p:cNvSpPr/>
          <p:nvPr/>
        </p:nvSpPr>
        <p:spPr>
          <a:xfrm>
            <a:off x="731520" y="4572000"/>
            <a:ext cx="10728655" cy="12801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754880"/>
            <a:ext cx="10149840" cy="914400"/>
          </a:xfrm>
          <a:prstGeom prst="rect">
            <a:avLst/>
          </a:prstGeom>
          <a:noFill/>
        </p:spPr>
        <p:txBody>
          <a:bodyPr wrap="square">
            <a:spAutoFit/>
          </a:bodyPr>
          <a:lstStyle/>
          <a:p>
            <a:pPr>
              <a:spcAft>
                <a:spcPts val="400"/>
              </a:spcAft>
            </a:pPr>
            <a:r>
              <a:rPr sz="1600" b="1">
                <a:solidFill>
                  <a:srgbClr val="4E7A3A"/>
                </a:solidFill>
              </a:rPr>
              <a:t>• Harvest Trigger (°Brix)</a:t>
            </a:r>
          </a:p>
          <a:p>
            <a:r>
              <a:rPr sz="1350">
                <a:solidFill>
                  <a:srgbClr val="18241B"/>
                </a:solidFill>
              </a:rPr>
              <a:t>Harvest timing is governed strictly by sugar concentration, tracked via refractometer (°Brix) toward the 22–24° target.</a:t>
            </a:r>
          </a:p>
        </p:txBody>
      </p:sp>
      <p:sp>
        <p:nvSpPr>
          <p:cNvPr id="10" name="TextBox 9"/>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it_watermarked_img_16905524997510634392.jpg"/>
          <p:cNvPicPr>
            <a:picLocks noChangeAspect="1"/>
          </p:cNvPicPr>
          <p:nvPr/>
        </p:nvPicPr>
        <p:blipFill>
          <a:blip r:embed="rId2"/>
          <a:stretch>
            <a:fillRect/>
          </a:stretch>
        </p:blipFill>
        <p:spPr>
          <a:xfrm>
            <a:off x="6217920" y="0"/>
            <a:ext cx="5973775" cy="6858000"/>
          </a:xfrm>
          <a:prstGeom prst="rect">
            <a:avLst/>
          </a:prstGeom>
        </p:spPr>
      </p:pic>
      <p:sp>
        <p:nvSpPr>
          <p:cNvPr id="4" name="TextBox 3"/>
          <p:cNvSpPr txBox="1"/>
          <p:nvPr/>
        </p:nvSpPr>
        <p:spPr>
          <a:xfrm>
            <a:off x="731520" y="2011680"/>
            <a:ext cx="5120640" cy="3657600"/>
          </a:xfrm>
          <a:prstGeom prst="rect">
            <a:avLst/>
          </a:prstGeom>
          <a:noFill/>
        </p:spPr>
        <p:txBody>
          <a:bodyPr wrap="square">
            <a:spAutoFit/>
          </a:bodyPr>
          <a:lstStyle/>
          <a:p>
            <a:pPr>
              <a:spcAft>
                <a:spcPts val="1000"/>
              </a:spcAft>
            </a:pPr>
            <a:r>
              <a:rPr sz="1400" b="1">
                <a:solidFill>
                  <a:srgbClr val="C27E22"/>
                </a:solidFill>
              </a:rPr>
              <a:t>PART 2</a:t>
            </a:r>
          </a:p>
          <a:p>
            <a:pPr>
              <a:spcAft>
                <a:spcPts val="1600"/>
              </a:spcAft>
            </a:pPr>
            <a:r>
              <a:rPr sz="4000" b="1">
                <a:solidFill>
                  <a:srgbClr val="F4F7F4"/>
                </a:solidFill>
                <a:latin typeface="Georgia"/>
              </a:rPr>
              <a:t>Raisin formation</a:t>
            </a:r>
          </a:p>
          <a:p>
            <a:r>
              <a:rPr sz="1800">
                <a:solidFill>
                  <a:srgbClr val="A8BAAA"/>
                </a:solidFill>
              </a:rPr>
              <a:t>From ripe grapes to golden raisins in about four weeks, by pretreatment and shade drying.</a:t>
            </a:r>
          </a:p>
        </p:txBody>
      </p:sp>
      <p:sp>
        <p:nvSpPr>
          <p:cNvPr id="5" name="TextBox 4"/>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A8BAAA"/>
                </a:solidFill>
                <a:latin typeface="Arial"/>
              </a:rPr>
              <a:t>From Vine to Raisin · Vijayapura vineyard, 2025–26 season · </a:t>
            </a:r>
            <a:r>
              <a:rPr sz="1100" b="1">
                <a:solidFill>
                  <a:srgbClr val="93C5FD"/>
                </a:solidFill>
                <a:latin typeface="Arial"/>
                <a:hlinkClick r:id="rId3"/>
              </a:rPr>
              <a:t>arunpatillabs.com</a:t>
            </a:r>
            <a:r>
              <a:rPr sz="1100">
                <a:solidFill>
                  <a:srgbClr val="A8BAAA"/>
                </a:solidFill>
                <a:latin typeface="Arial"/>
              </a:rPr>
              <a:t>   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pPr>
              <a:spcAft>
                <a:spcPts val="200"/>
              </a:spcAft>
            </a:pPr>
            <a:r>
              <a:rPr sz="1100" b="1">
                <a:solidFill>
                  <a:srgbClr val="4E7A3A"/>
                </a:solidFill>
                <a:latin typeface="Arial"/>
              </a:rPr>
              <a:t>STAGE 6 · 18 FEB 2026</a:t>
            </a:r>
          </a:p>
          <a:p>
            <a:r>
              <a:rPr sz="2800" b="1">
                <a:solidFill>
                  <a:srgbClr val="18241B"/>
                </a:solidFill>
                <a:latin typeface="Georgia"/>
              </a:rPr>
              <a:t>Building the drying shed</a:t>
            </a:r>
          </a:p>
        </p:txBody>
      </p:sp>
      <p:sp>
        <p:nvSpPr>
          <p:cNvPr id="4" name="Rounded Rectangle 3"/>
          <p:cNvSpPr/>
          <p:nvPr/>
        </p:nvSpPr>
        <p:spPr>
          <a:xfrm>
            <a:off x="731520" y="1554480"/>
            <a:ext cx="10728655" cy="804672"/>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64207"/>
            <a:ext cx="10332720" cy="594360"/>
          </a:xfrm>
          <a:prstGeom prst="rect">
            <a:avLst/>
          </a:prstGeom>
          <a:noFill/>
        </p:spPr>
        <p:txBody>
          <a:bodyPr wrap="square">
            <a:spAutoFit/>
          </a:bodyPr>
          <a:lstStyle/>
          <a:p>
            <a:r>
              <a:rPr sz="1400" b="1">
                <a:solidFill>
                  <a:srgbClr val="4E7A3A"/>
                </a:solidFill>
              </a:rPr>
              <a:t>• Steel Frame Construction: </a:t>
            </a:r>
            <a:r>
              <a:rPr sz="1300">
                <a:solidFill>
                  <a:srgbClr val="18241B"/>
                </a:solidFill>
              </a:rPr>
              <a:t>Built directly adjacent to the vineyard, engineered to support multiple tiers of high-tension wire-mesh racks.</a:t>
            </a:r>
          </a:p>
        </p:txBody>
      </p:sp>
      <p:sp>
        <p:nvSpPr>
          <p:cNvPr id="6" name="Rounded Rectangle 5"/>
          <p:cNvSpPr/>
          <p:nvPr/>
        </p:nvSpPr>
        <p:spPr>
          <a:xfrm>
            <a:off x="731520" y="2468880"/>
            <a:ext cx="10728655" cy="804672"/>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78608"/>
            <a:ext cx="10332720" cy="594360"/>
          </a:xfrm>
          <a:prstGeom prst="rect">
            <a:avLst/>
          </a:prstGeom>
          <a:noFill/>
        </p:spPr>
        <p:txBody>
          <a:bodyPr wrap="square">
            <a:spAutoFit/>
          </a:bodyPr>
          <a:lstStyle/>
          <a:p>
            <a:r>
              <a:rPr sz="1400" b="1">
                <a:solidFill>
                  <a:srgbClr val="4E7A3A"/>
                </a:solidFill>
              </a:rPr>
              <a:t>• Green Shade-Netting: </a:t>
            </a:r>
            <a:r>
              <a:rPr sz="1300">
                <a:solidFill>
                  <a:srgbClr val="18241B"/>
                </a:solidFill>
              </a:rPr>
              <a:t>Shade-net walls and roof block direct UV radiation while permitting free air circulation.</a:t>
            </a:r>
          </a:p>
        </p:txBody>
      </p:sp>
      <p:sp>
        <p:nvSpPr>
          <p:cNvPr id="8" name="Rounded Rectangle 7"/>
          <p:cNvSpPr/>
          <p:nvPr/>
        </p:nvSpPr>
        <p:spPr>
          <a:xfrm>
            <a:off x="731520" y="3383280"/>
            <a:ext cx="10728655" cy="804672"/>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93008"/>
            <a:ext cx="10332720" cy="594360"/>
          </a:xfrm>
          <a:prstGeom prst="rect">
            <a:avLst/>
          </a:prstGeom>
          <a:noFill/>
        </p:spPr>
        <p:txBody>
          <a:bodyPr wrap="square">
            <a:spAutoFit/>
          </a:bodyPr>
          <a:lstStyle/>
          <a:p>
            <a:r>
              <a:rPr sz="1400" b="1">
                <a:solidFill>
                  <a:srgbClr val="4E7A3A"/>
                </a:solidFill>
              </a:rPr>
              <a:t>• Why Shade Drying?: </a:t>
            </a:r>
            <a:r>
              <a:rPr sz="1300">
                <a:solidFill>
                  <a:srgbClr val="18241B"/>
                </a:solidFill>
              </a:rPr>
              <a:t>Direct sunlight browns grapes into dark raisins. Shade drying preserves the lucrative golden-green hue that fetches top market prices.</a:t>
            </a:r>
          </a:p>
        </p:txBody>
      </p:sp>
      <p:sp>
        <p:nvSpPr>
          <p:cNvPr id="10" name="Rounded Rectangle 9"/>
          <p:cNvSpPr/>
          <p:nvPr/>
        </p:nvSpPr>
        <p:spPr>
          <a:xfrm>
            <a:off x="731520" y="4297680"/>
            <a:ext cx="10728655" cy="804672"/>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407408"/>
            <a:ext cx="10332720" cy="594360"/>
          </a:xfrm>
          <a:prstGeom prst="rect">
            <a:avLst/>
          </a:prstGeom>
          <a:noFill/>
        </p:spPr>
        <p:txBody>
          <a:bodyPr wrap="square">
            <a:spAutoFit/>
          </a:bodyPr>
          <a:lstStyle/>
          <a:p>
            <a:r>
              <a:rPr sz="1400" b="1">
                <a:solidFill>
                  <a:srgbClr val="4E7A3A"/>
                </a:solidFill>
              </a:rPr>
              <a:t>• Airflow Dynamics: </a:t>
            </a:r>
            <a:r>
              <a:rPr sz="1300">
                <a:solidFill>
                  <a:srgbClr val="18241B"/>
                </a:solidFill>
              </a:rPr>
              <a:t>Continuous air movement through permeable net walls carries away the 70–80% moisture that berries release.</a:t>
            </a:r>
          </a:p>
        </p:txBody>
      </p:sp>
      <p:sp>
        <p:nvSpPr>
          <p:cNvPr id="12" name="Rounded Rectangle 11"/>
          <p:cNvSpPr/>
          <p:nvPr/>
        </p:nvSpPr>
        <p:spPr>
          <a:xfrm>
            <a:off x="731520" y="5212080"/>
            <a:ext cx="10728655" cy="804672"/>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321808"/>
            <a:ext cx="10332720" cy="594360"/>
          </a:xfrm>
          <a:prstGeom prst="rect">
            <a:avLst/>
          </a:prstGeom>
          <a:noFill/>
        </p:spPr>
        <p:txBody>
          <a:bodyPr wrap="square">
            <a:spAutoFit/>
          </a:bodyPr>
          <a:lstStyle/>
          <a:p>
            <a:r>
              <a:rPr sz="1400" b="1">
                <a:solidFill>
                  <a:srgbClr val="4E7A3A"/>
                </a:solidFill>
              </a:rPr>
              <a:t>• Construction Timing: </a:t>
            </a:r>
            <a:r>
              <a:rPr sz="1300">
                <a:solidFill>
                  <a:srgbClr val="18241B"/>
                </a:solidFill>
              </a:rPr>
              <a:t>Erected ~4 weeks prior to harvest so the facility is cured and ready when grapes reach optimal Brix.</a:t>
            </a:r>
          </a:p>
        </p:txBody>
      </p:sp>
      <p:sp>
        <p:nvSpPr>
          <p:cNvPr id="14" name="TextBox 13"/>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pPr>
              <a:spcAft>
                <a:spcPts val="200"/>
              </a:spcAft>
            </a:pPr>
            <a:r>
              <a:rPr sz="1100" b="1">
                <a:solidFill>
                  <a:srgbClr val="4E7A3A"/>
                </a:solidFill>
                <a:latin typeface="Arial"/>
              </a:rPr>
              <a:t>STAGE 7 · 14 MAR 2026</a:t>
            </a:r>
          </a:p>
          <a:p>
            <a:r>
              <a:rPr sz="2800" b="1">
                <a:solidFill>
                  <a:srgbClr val="18241B"/>
                </a:solidFill>
                <a:latin typeface="Georgia"/>
              </a:rPr>
              <a:t>Harvest and pretreatment</a:t>
            </a:r>
          </a:p>
        </p:txBody>
      </p:sp>
      <p:sp>
        <p:nvSpPr>
          <p:cNvPr id="4" name="Rounded Rectangle 3"/>
          <p:cNvSpPr/>
          <p:nvPr/>
        </p:nvSpPr>
        <p:spPr>
          <a:xfrm>
            <a:off x="731520" y="1645920"/>
            <a:ext cx="3474720" cy="4297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20240"/>
            <a:ext cx="3017520" cy="3749039"/>
          </a:xfrm>
          <a:prstGeom prst="rect">
            <a:avLst/>
          </a:prstGeom>
          <a:noFill/>
        </p:spPr>
        <p:txBody>
          <a:bodyPr wrap="square">
            <a:spAutoFit/>
          </a:bodyPr>
          <a:lstStyle/>
          <a:p>
            <a:pPr>
              <a:spcAft>
                <a:spcPts val="1200"/>
              </a:spcAft>
            </a:pPr>
            <a:r>
              <a:rPr sz="1400" b="1">
                <a:solidFill>
                  <a:srgbClr val="C27E22"/>
                </a:solidFill>
              </a:rPr>
              <a:t>STEP 01</a:t>
            </a:r>
          </a:p>
          <a:p>
            <a:pPr>
              <a:spcAft>
                <a:spcPts val="800"/>
              </a:spcAft>
            </a:pPr>
            <a:r>
              <a:rPr sz="1800" b="1">
                <a:solidFill>
                  <a:srgbClr val="18241B"/>
                </a:solidFill>
              </a:rPr>
              <a:t>Harvested at Full Sugar</a:t>
            </a:r>
          </a:p>
          <a:p>
            <a:r>
              <a:rPr sz="1350">
                <a:solidFill>
                  <a:srgbClr val="566658"/>
                </a:solidFill>
              </a:rPr>
              <a:t>Picked carefully by hand directly into plastic crates once Brix readings confirm target sweetness.</a:t>
            </a:r>
          </a:p>
        </p:txBody>
      </p:sp>
      <p:sp>
        <p:nvSpPr>
          <p:cNvPr id="6" name="Rounded Rectangle 5"/>
          <p:cNvSpPr/>
          <p:nvPr/>
        </p:nvSpPr>
        <p:spPr>
          <a:xfrm>
            <a:off x="4343400" y="1645920"/>
            <a:ext cx="3474720" cy="4297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920240"/>
            <a:ext cx="3017520" cy="3749039"/>
          </a:xfrm>
          <a:prstGeom prst="rect">
            <a:avLst/>
          </a:prstGeom>
          <a:noFill/>
        </p:spPr>
        <p:txBody>
          <a:bodyPr wrap="square">
            <a:spAutoFit/>
          </a:bodyPr>
          <a:lstStyle/>
          <a:p>
            <a:pPr>
              <a:spcAft>
                <a:spcPts val="1200"/>
              </a:spcAft>
            </a:pPr>
            <a:r>
              <a:rPr sz="1400" b="1">
                <a:solidFill>
                  <a:srgbClr val="C27E22"/>
                </a:solidFill>
              </a:rPr>
              <a:t>STEP 02</a:t>
            </a:r>
          </a:p>
          <a:p>
            <a:pPr>
              <a:spcAft>
                <a:spcPts val="800"/>
              </a:spcAft>
            </a:pPr>
            <a:r>
              <a:rPr sz="1800" b="1">
                <a:solidFill>
                  <a:srgbClr val="18241B"/>
                </a:solidFill>
              </a:rPr>
              <a:t>Chemical Emulsion Dip</a:t>
            </a:r>
          </a:p>
          <a:p>
            <a:r>
              <a:rPr sz="1350">
                <a:solidFill>
                  <a:srgbClr val="566658"/>
                </a:solidFill>
              </a:rPr>
              <a:t>Bunches are dipped in a potassium carbonate (K2CO3) and ethyl oleate emulsion (dipping oil).</a:t>
            </a:r>
          </a:p>
        </p:txBody>
      </p:sp>
      <p:sp>
        <p:nvSpPr>
          <p:cNvPr id="8" name="Rounded Rectangle 7"/>
          <p:cNvSpPr/>
          <p:nvPr/>
        </p:nvSpPr>
        <p:spPr>
          <a:xfrm>
            <a:off x="7955280" y="1645920"/>
            <a:ext cx="3474720" cy="4297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83880" y="1920240"/>
            <a:ext cx="3017520" cy="3749039"/>
          </a:xfrm>
          <a:prstGeom prst="rect">
            <a:avLst/>
          </a:prstGeom>
          <a:noFill/>
        </p:spPr>
        <p:txBody>
          <a:bodyPr wrap="square">
            <a:spAutoFit/>
          </a:bodyPr>
          <a:lstStyle/>
          <a:p>
            <a:pPr>
              <a:spcAft>
                <a:spcPts val="1200"/>
              </a:spcAft>
            </a:pPr>
            <a:r>
              <a:rPr sz="1400" b="1">
                <a:solidFill>
                  <a:srgbClr val="C27E22"/>
                </a:solidFill>
              </a:rPr>
              <a:t>STEP 03</a:t>
            </a:r>
          </a:p>
          <a:p>
            <a:pPr>
              <a:spcAft>
                <a:spcPts val="800"/>
              </a:spcAft>
            </a:pPr>
            <a:r>
              <a:rPr sz="1800" b="1">
                <a:solidFill>
                  <a:srgbClr val="18241B"/>
                </a:solidFill>
              </a:rPr>
              <a:t>Skin Wax Degradation</a:t>
            </a:r>
          </a:p>
          <a:p>
            <a:r>
              <a:rPr sz="1350">
                <a:solidFill>
                  <a:srgbClr val="566658"/>
                </a:solidFill>
              </a:rPr>
              <a:t>The alkaline dipping oil dissolves the natural hydrophobic waxy cuticular bloom, allowing internal moisture to escape 2–3× faster.</a:t>
            </a:r>
          </a:p>
        </p:txBody>
      </p:sp>
      <p:sp>
        <p:nvSpPr>
          <p:cNvPr id="10" name="TextBox 9"/>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pPr>
              <a:spcAft>
                <a:spcPts val="200"/>
              </a:spcAft>
            </a:pPr>
            <a:r>
              <a:rPr sz="1100" b="1">
                <a:solidFill>
                  <a:srgbClr val="4E7A3A"/>
                </a:solidFill>
                <a:latin typeface="Arial"/>
              </a:rPr>
              <a:t>STAGE 7 · 14 MAR 2026</a:t>
            </a:r>
          </a:p>
          <a:p>
            <a:r>
              <a:rPr sz="2800" b="1">
                <a:solidFill>
                  <a:srgbClr val="18241B"/>
                </a:solidFill>
                <a:latin typeface="Georgia"/>
              </a:rPr>
              <a:t>Checking sugar before drying</a:t>
            </a:r>
          </a:p>
        </p:txBody>
      </p:sp>
      <p:sp>
        <p:nvSpPr>
          <p:cNvPr id="4" name="Rounded Rectangle 3"/>
          <p:cNvSpPr/>
          <p:nvPr/>
        </p:nvSpPr>
        <p:spPr>
          <a:xfrm>
            <a:off x="731520" y="1645920"/>
            <a:ext cx="5120640" cy="4297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286000"/>
            <a:ext cx="4572000" cy="3200400"/>
          </a:xfrm>
          <a:prstGeom prst="rect">
            <a:avLst/>
          </a:prstGeom>
          <a:noFill/>
        </p:spPr>
        <p:txBody>
          <a:bodyPr wrap="square">
            <a:spAutoFit/>
          </a:bodyPr>
          <a:lstStyle/>
          <a:p>
            <a:pPr>
              <a:spcAft>
                <a:spcPts val="800"/>
              </a:spcAft>
            </a:pPr>
            <a:r>
              <a:rPr sz="5400" b="1">
                <a:solidFill>
                  <a:srgbClr val="C27E22"/>
                </a:solidFill>
                <a:latin typeface="Georgia"/>
              </a:rPr>
              <a:t>22–24 °Brix</a:t>
            </a:r>
          </a:p>
          <a:p>
            <a:r>
              <a:rPr sz="1600">
                <a:solidFill>
                  <a:srgbClr val="18241B"/>
                </a:solidFill>
              </a:rPr>
              <a:t>Typical target sugar level for premium golden raisin grapes at harvest.</a:t>
            </a:r>
          </a:p>
        </p:txBody>
      </p:sp>
      <p:sp>
        <p:nvSpPr>
          <p:cNvPr id="6" name="Rounded Rectangle 5"/>
          <p:cNvSpPr/>
          <p:nvPr/>
        </p:nvSpPr>
        <p:spPr>
          <a:xfrm>
            <a:off x="6217920" y="1645920"/>
            <a:ext cx="5212080" cy="4297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011680"/>
            <a:ext cx="4663440" cy="3657600"/>
          </a:xfrm>
          <a:prstGeom prst="rect">
            <a:avLst/>
          </a:prstGeom>
          <a:noFill/>
        </p:spPr>
        <p:txBody>
          <a:bodyPr wrap="square">
            <a:spAutoFit/>
          </a:bodyPr>
          <a:lstStyle/>
          <a:p>
            <a:pPr>
              <a:spcAft>
                <a:spcPts val="1600"/>
              </a:spcAft>
            </a:pPr>
            <a:r>
              <a:rPr sz="2000" b="1">
                <a:solidFill>
                  <a:srgbClr val="18241B"/>
                </a:solidFill>
              </a:rPr>
              <a:t>Refractometer Measurement Protocol</a:t>
            </a:r>
          </a:p>
          <a:p>
            <a:pPr>
              <a:spcAft>
                <a:spcPts val="1400"/>
              </a:spcAft>
            </a:pPr>
            <a:r>
              <a:rPr b="1" sz="1400"/>
              <a:t>• Optical Hand Refractometer: </a:t>
            </a:r>
            <a:r>
              <a:rPr sz="1400">
                <a:solidFill>
                  <a:srgbClr val="566658"/>
                </a:solidFill>
              </a:rPr>
              <a:t>A single drop of extracted grape juice placed on the prism refracts light to instantly display soluble sugar percentage.</a:t>
            </a:r>
          </a:p>
          <a:p>
            <a:r>
              <a:rPr b="1" sz="1400"/>
              <a:t>• Economic Recovery Multiplier: </a:t>
            </a:r>
            <a:r>
              <a:rPr sz="1400">
                <a:solidFill>
                  <a:srgbClr val="566658"/>
                </a:solidFill>
              </a:rPr>
              <a:t>Every additional degree of Brix substantially increases final dried raisin weight, improving the fresh-to-dried recovery ratio closer to ~4:1.</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pPr>
              <a:spcAft>
                <a:spcPts val="200"/>
              </a:spcAft>
            </a:pPr>
            <a:r>
              <a:rPr sz="1100" b="1">
                <a:solidFill>
                  <a:srgbClr val="4E7A3A"/>
                </a:solidFill>
                <a:latin typeface="Arial"/>
              </a:rPr>
              <a:t>STAGE 8 · MAR–APR 2026</a:t>
            </a:r>
          </a:p>
          <a:p>
            <a:r>
              <a:rPr sz="2800" b="1">
                <a:solidFill>
                  <a:srgbClr val="18241B"/>
                </a:solidFill>
                <a:latin typeface="Georgia"/>
              </a:rPr>
              <a:t>Shade drying on racks</a:t>
            </a:r>
          </a:p>
        </p:txBody>
      </p:sp>
      <p:sp>
        <p:nvSpPr>
          <p:cNvPr id="4" name="Rounded Rectangle 3"/>
          <p:cNvSpPr/>
          <p:nvPr/>
        </p:nvSpPr>
        <p:spPr>
          <a:xfrm>
            <a:off x="731520" y="1645920"/>
            <a:ext cx="5120640" cy="2011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572000" cy="1645920"/>
          </a:xfrm>
          <a:prstGeom prst="rect">
            <a:avLst/>
          </a:prstGeom>
          <a:noFill/>
        </p:spPr>
        <p:txBody>
          <a:bodyPr wrap="square">
            <a:spAutoFit/>
          </a:bodyPr>
          <a:lstStyle/>
          <a:p>
            <a:r>
              <a:rPr sz="4400" b="1">
                <a:solidFill>
                  <a:srgbClr val="C27E22"/>
                </a:solidFill>
                <a:latin typeface="Georgia"/>
              </a:rPr>
              <a:t>12–15</a:t>
            </a:r>
          </a:p>
          <a:p>
            <a:r>
              <a:rPr sz="1500">
                <a:solidFill>
                  <a:srgbClr val="18241B"/>
                </a:solidFill>
              </a:rPr>
              <a:t>days in the shade drying shed (typical duration)</a:t>
            </a:r>
          </a:p>
        </p:txBody>
      </p:sp>
      <p:sp>
        <p:nvSpPr>
          <p:cNvPr id="6" name="Rounded Rectangle 5"/>
          <p:cNvSpPr/>
          <p:nvPr/>
        </p:nvSpPr>
        <p:spPr>
          <a:xfrm>
            <a:off x="731520" y="3931920"/>
            <a:ext cx="5120640" cy="2011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4114800"/>
            <a:ext cx="4572000" cy="1645920"/>
          </a:xfrm>
          <a:prstGeom prst="rect">
            <a:avLst/>
          </a:prstGeom>
          <a:noFill/>
        </p:spPr>
        <p:txBody>
          <a:bodyPr wrap="square">
            <a:spAutoFit/>
          </a:bodyPr>
          <a:lstStyle/>
          <a:p>
            <a:r>
              <a:rPr sz="4400" b="1">
                <a:solidFill>
                  <a:srgbClr val="4E7A3A"/>
                </a:solidFill>
                <a:latin typeface="Georgia"/>
              </a:rPr>
              <a:t>~15%</a:t>
            </a:r>
          </a:p>
          <a:p>
            <a:r>
              <a:rPr sz="1500">
                <a:solidFill>
                  <a:srgbClr val="18241B"/>
                </a:solidFill>
              </a:rPr>
              <a:t>final dried raisin moisture, down from ~80% in fresh grapes</a:t>
            </a:r>
          </a:p>
        </p:txBody>
      </p:sp>
      <p:sp>
        <p:nvSpPr>
          <p:cNvPr id="8" name="Rounded Rectangle 7"/>
          <p:cNvSpPr/>
          <p:nvPr/>
        </p:nvSpPr>
        <p:spPr>
          <a:xfrm>
            <a:off x="6217920" y="1645920"/>
            <a:ext cx="5212080" cy="4297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011680"/>
            <a:ext cx="4663440" cy="3657600"/>
          </a:xfrm>
          <a:prstGeom prst="rect">
            <a:avLst/>
          </a:prstGeom>
          <a:noFill/>
        </p:spPr>
        <p:txBody>
          <a:bodyPr wrap="square">
            <a:spAutoFit/>
          </a:bodyPr>
          <a:lstStyle/>
          <a:p>
            <a:pPr>
              <a:spcAft>
                <a:spcPts val="1600"/>
              </a:spcAft>
            </a:pPr>
            <a:r>
              <a:rPr sz="2000" b="1">
                <a:solidFill>
                  <a:srgbClr val="18241B"/>
                </a:solidFill>
              </a:rPr>
              <a:t>Drying Rack Management</a:t>
            </a:r>
          </a:p>
          <a:p>
            <a:pPr>
              <a:spcAft>
                <a:spcPts val="1400"/>
              </a:spcAft>
            </a:pPr>
            <a:r>
              <a:rPr b="1" sz="1400"/>
              <a:t>• Thin Layer Loading: </a:t>
            </a:r>
            <a:r>
              <a:rPr sz="1400">
                <a:solidFill>
                  <a:srgbClr val="566658"/>
                </a:solidFill>
              </a:rPr>
              <a:t>Bunches are spread thinly across wire-mesh tiers so air circulates over every individual berry.</a:t>
            </a:r>
          </a:p>
          <a:p>
            <a:pPr>
              <a:spcAft>
                <a:spcPts val="1400"/>
              </a:spcAft>
            </a:pPr>
            <a:r>
              <a:rPr b="1" sz="1400"/>
              <a:t>• Manual Loosening: </a:t>
            </a:r>
            <a:r>
              <a:rPr sz="1400">
                <a:solidFill>
                  <a:srgbClr val="566658"/>
                </a:solidFill>
              </a:rPr>
              <a:t>Workers gently turn and loosen drying bunches periodically to prevent clumped moisture pockets.</a:t>
            </a:r>
          </a:p>
          <a:p>
            <a:r>
              <a:rPr b="1" sz="1400"/>
              <a:t>• Microclimate Monitoring: </a:t>
            </a:r>
            <a:r>
              <a:rPr sz="1400">
                <a:solidFill>
                  <a:srgbClr val="566658"/>
                </a:solidFill>
              </a:rPr>
              <a:t>Shed temperature and relative humidity determine drying rate and prevent mold formation during humid spells.</a:t>
            </a:r>
          </a:p>
        </p:txBody>
      </p:sp>
      <p:sp>
        <p:nvSpPr>
          <p:cNvPr id="10" name="TextBox 9"/>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18241B"/>
                </a:solidFill>
                <a:latin typeface="Georgia"/>
              </a:rPr>
              <a:t>How a grape becomes a raisin</a:t>
            </a:r>
          </a:p>
        </p:txBody>
      </p:sp>
      <p:sp>
        <p:nvSpPr>
          <p:cNvPr id="4" name="Rounded Rectangle 3"/>
          <p:cNvSpPr/>
          <p:nvPr/>
        </p:nvSpPr>
        <p:spPr>
          <a:xfrm>
            <a:off x="731520" y="1645920"/>
            <a:ext cx="2560320" cy="4297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20240"/>
            <a:ext cx="2194560" cy="3749039"/>
          </a:xfrm>
          <a:prstGeom prst="rect">
            <a:avLst/>
          </a:prstGeom>
          <a:noFill/>
        </p:spPr>
        <p:txBody>
          <a:bodyPr wrap="square">
            <a:spAutoFit/>
          </a:bodyPr>
          <a:lstStyle/>
          <a:p>
            <a:pPr>
              <a:spcAft>
                <a:spcPts val="1000"/>
              </a:spcAft>
            </a:pPr>
            <a:r>
              <a:rPr sz="1400" b="1">
                <a:solidFill>
                  <a:srgbClr val="C27E22"/>
                </a:solidFill>
              </a:rPr>
              <a:t>STEP 1</a:t>
            </a:r>
          </a:p>
          <a:p>
            <a:pPr>
              <a:spcAft>
                <a:spcPts val="800"/>
              </a:spcAft>
            </a:pPr>
            <a:r>
              <a:rPr sz="1800" b="1">
                <a:solidFill>
                  <a:srgbClr val="18241B"/>
                </a:solidFill>
              </a:rPr>
              <a:t>Skin opened</a:t>
            </a:r>
          </a:p>
          <a:p>
            <a:r>
              <a:rPr sz="1300">
                <a:solidFill>
                  <a:srgbClr val="566658"/>
                </a:solidFill>
              </a:rPr>
              <a:t>Dipping oil dissolves the hydrophobic waxy bloom, creating microscopic moisture evacuation pathways.</a:t>
            </a:r>
          </a:p>
        </p:txBody>
      </p:sp>
      <p:sp>
        <p:nvSpPr>
          <p:cNvPr id="6" name="Rounded Rectangle 5"/>
          <p:cNvSpPr/>
          <p:nvPr/>
        </p:nvSpPr>
        <p:spPr>
          <a:xfrm>
            <a:off x="3429000" y="1645920"/>
            <a:ext cx="2560320" cy="4297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920240"/>
            <a:ext cx="2194560" cy="3749039"/>
          </a:xfrm>
          <a:prstGeom prst="rect">
            <a:avLst/>
          </a:prstGeom>
          <a:noFill/>
        </p:spPr>
        <p:txBody>
          <a:bodyPr wrap="square">
            <a:spAutoFit/>
          </a:bodyPr>
          <a:lstStyle/>
          <a:p>
            <a:pPr>
              <a:spcAft>
                <a:spcPts val="1000"/>
              </a:spcAft>
            </a:pPr>
            <a:r>
              <a:rPr sz="1400" b="1">
                <a:solidFill>
                  <a:srgbClr val="C27E22"/>
                </a:solidFill>
              </a:rPr>
              <a:t>STEP 2</a:t>
            </a:r>
          </a:p>
          <a:p>
            <a:pPr>
              <a:spcAft>
                <a:spcPts val="800"/>
              </a:spcAft>
            </a:pPr>
            <a:r>
              <a:rPr sz="1800" b="1">
                <a:solidFill>
                  <a:srgbClr val="18241B"/>
                </a:solidFill>
              </a:rPr>
              <a:t>Water leaves</a:t>
            </a:r>
          </a:p>
          <a:p>
            <a:r>
              <a:rPr sz="1300">
                <a:solidFill>
                  <a:srgbClr val="566658"/>
                </a:solidFill>
              </a:rPr>
              <a:t>Warm, dry circulating shade air draws water vapor out. Berries shrink and develop characteristic wrinkles.</a:t>
            </a:r>
          </a:p>
        </p:txBody>
      </p:sp>
      <p:sp>
        <p:nvSpPr>
          <p:cNvPr id="8" name="Rounded Rectangle 7"/>
          <p:cNvSpPr/>
          <p:nvPr/>
        </p:nvSpPr>
        <p:spPr>
          <a:xfrm>
            <a:off x="6126480" y="1645920"/>
            <a:ext cx="2560320" cy="4297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920240"/>
            <a:ext cx="2194560" cy="3749039"/>
          </a:xfrm>
          <a:prstGeom prst="rect">
            <a:avLst/>
          </a:prstGeom>
          <a:noFill/>
        </p:spPr>
        <p:txBody>
          <a:bodyPr wrap="square">
            <a:spAutoFit/>
          </a:bodyPr>
          <a:lstStyle/>
          <a:p>
            <a:pPr>
              <a:spcAft>
                <a:spcPts val="1000"/>
              </a:spcAft>
            </a:pPr>
            <a:r>
              <a:rPr sz="1400" b="1">
                <a:solidFill>
                  <a:srgbClr val="C27E22"/>
                </a:solidFill>
              </a:rPr>
              <a:t>STEP 3</a:t>
            </a:r>
          </a:p>
          <a:p>
            <a:pPr>
              <a:spcAft>
                <a:spcPts val="800"/>
              </a:spcAft>
            </a:pPr>
            <a:r>
              <a:rPr sz="1800" b="1">
                <a:solidFill>
                  <a:srgbClr val="18241B"/>
                </a:solidFill>
              </a:rPr>
              <a:t>Sugar concentrates</a:t>
            </a:r>
          </a:p>
          <a:p>
            <a:r>
              <a:rPr sz="1300">
                <a:solidFill>
                  <a:srgbClr val="566658"/>
                </a:solidFill>
              </a:rPr>
              <a:t>Sugars remain trapped inside while water evaporates, concentrating to ~70% total sugar by dry weight.</a:t>
            </a:r>
          </a:p>
        </p:txBody>
      </p:sp>
      <p:sp>
        <p:nvSpPr>
          <p:cNvPr id="10" name="Rounded Rectangle 9"/>
          <p:cNvSpPr/>
          <p:nvPr/>
        </p:nvSpPr>
        <p:spPr>
          <a:xfrm>
            <a:off x="8823960" y="1645920"/>
            <a:ext cx="2560320" cy="4297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06840" y="1920240"/>
            <a:ext cx="2194560" cy="3749039"/>
          </a:xfrm>
          <a:prstGeom prst="rect">
            <a:avLst/>
          </a:prstGeom>
          <a:noFill/>
        </p:spPr>
        <p:txBody>
          <a:bodyPr wrap="square">
            <a:spAutoFit/>
          </a:bodyPr>
          <a:lstStyle/>
          <a:p>
            <a:pPr>
              <a:spcAft>
                <a:spcPts val="1000"/>
              </a:spcAft>
            </a:pPr>
            <a:r>
              <a:rPr sz="1400" b="1">
                <a:solidFill>
                  <a:srgbClr val="C27E22"/>
                </a:solidFill>
              </a:rPr>
              <a:t>STEP 4</a:t>
            </a:r>
          </a:p>
          <a:p>
            <a:pPr>
              <a:spcAft>
                <a:spcPts val="800"/>
              </a:spcAft>
            </a:pPr>
            <a:r>
              <a:rPr sz="1800" b="1">
                <a:solidFill>
                  <a:srgbClr val="18241B"/>
                </a:solidFill>
              </a:rPr>
              <a:t>Colour preserved</a:t>
            </a:r>
          </a:p>
          <a:p>
            <a:r>
              <a:rPr sz="1300">
                <a:solidFill>
                  <a:srgbClr val="566658"/>
                </a:solidFill>
              </a:rPr>
              <a:t>Shade canopy and alkaline dipping chemistry limit enzymatic browning, securing prized golden-green colour.</a:t>
            </a:r>
          </a:p>
        </p:txBody>
      </p:sp>
      <p:sp>
        <p:nvSpPr>
          <p:cNvPr id="12" name="TextBox 11"/>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pPr>
              <a:spcAft>
                <a:spcPts val="200"/>
              </a:spcAft>
            </a:pPr>
            <a:r>
              <a:rPr sz="1100" b="1">
                <a:solidFill>
                  <a:srgbClr val="4E7A3A"/>
                </a:solidFill>
                <a:latin typeface="Arial"/>
              </a:rPr>
              <a:t>STAGE 9 · 9 APR 2026</a:t>
            </a:r>
          </a:p>
          <a:p>
            <a:r>
              <a:rPr sz="2800" b="1">
                <a:solidFill>
                  <a:srgbClr val="18241B"/>
                </a:solidFill>
                <a:latin typeface="Georgia"/>
              </a:rPr>
              <a:t>The finished product</a:t>
            </a:r>
          </a:p>
        </p:txBody>
      </p:sp>
      <p:sp>
        <p:nvSpPr>
          <p:cNvPr id="4" name="Rounded Rectangle 3"/>
          <p:cNvSpPr/>
          <p:nvPr/>
        </p:nvSpPr>
        <p:spPr>
          <a:xfrm>
            <a:off x="731520" y="1645920"/>
            <a:ext cx="10728655" cy="12801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914400"/>
          </a:xfrm>
          <a:prstGeom prst="rect">
            <a:avLst/>
          </a:prstGeom>
          <a:noFill/>
        </p:spPr>
        <p:txBody>
          <a:bodyPr wrap="square">
            <a:spAutoFit/>
          </a:bodyPr>
          <a:lstStyle/>
          <a:p>
            <a:pPr>
              <a:spcAft>
                <a:spcPts val="400"/>
              </a:spcAft>
            </a:pPr>
            <a:r>
              <a:rPr sz="1700" b="1">
                <a:solidFill>
                  <a:srgbClr val="C27E22"/>
                </a:solidFill>
              </a:rPr>
              <a:t>1. Remove Stems</a:t>
            </a:r>
          </a:p>
          <a:p>
            <a:r>
              <a:rPr sz="1350">
                <a:solidFill>
                  <a:srgbClr val="18241B"/>
                </a:solidFill>
              </a:rPr>
              <a:t>Dried bunches are mechanically rubbed or shaken over coarse mesh to cleanly detach individual berries from stalks.</a:t>
            </a:r>
          </a:p>
        </p:txBody>
      </p:sp>
      <p:sp>
        <p:nvSpPr>
          <p:cNvPr id="6" name="Rounded Rectangle 5"/>
          <p:cNvSpPr/>
          <p:nvPr/>
        </p:nvSpPr>
        <p:spPr>
          <a:xfrm>
            <a:off x="731520" y="3108960"/>
            <a:ext cx="10728655" cy="12801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291840"/>
            <a:ext cx="10149840" cy="914400"/>
          </a:xfrm>
          <a:prstGeom prst="rect">
            <a:avLst/>
          </a:prstGeom>
          <a:noFill/>
        </p:spPr>
        <p:txBody>
          <a:bodyPr wrap="square">
            <a:spAutoFit/>
          </a:bodyPr>
          <a:lstStyle/>
          <a:p>
            <a:pPr>
              <a:spcAft>
                <a:spcPts val="400"/>
              </a:spcAft>
            </a:pPr>
            <a:r>
              <a:rPr sz="1700" b="1">
                <a:solidFill>
                  <a:srgbClr val="C27E22"/>
                </a:solidFill>
              </a:rPr>
              <a:t>2. Clean &amp; Grade</a:t>
            </a:r>
          </a:p>
          <a:p>
            <a:r>
              <a:rPr sz="1350">
                <a:solidFill>
                  <a:srgbClr val="18241B"/>
                </a:solidFill>
              </a:rPr>
              <a:t>Berries pass through pneumatic separators to remove dust, broken skin, and dark or undersized fruit.</a:t>
            </a:r>
          </a:p>
        </p:txBody>
      </p:sp>
      <p:sp>
        <p:nvSpPr>
          <p:cNvPr id="8" name="Rounded Rectangle 7"/>
          <p:cNvSpPr/>
          <p:nvPr/>
        </p:nvSpPr>
        <p:spPr>
          <a:xfrm>
            <a:off x="731520" y="4572000"/>
            <a:ext cx="10728655" cy="12801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754880"/>
            <a:ext cx="10149840" cy="914400"/>
          </a:xfrm>
          <a:prstGeom prst="rect">
            <a:avLst/>
          </a:prstGeom>
          <a:noFill/>
        </p:spPr>
        <p:txBody>
          <a:bodyPr wrap="square">
            <a:spAutoFit/>
          </a:bodyPr>
          <a:lstStyle/>
          <a:p>
            <a:pPr>
              <a:spcAft>
                <a:spcPts val="400"/>
              </a:spcAft>
            </a:pPr>
            <a:r>
              <a:rPr sz="1700" b="1">
                <a:solidFill>
                  <a:srgbClr val="C27E22"/>
                </a:solidFill>
              </a:rPr>
              <a:t>3. Pack &amp; Cold Store</a:t>
            </a:r>
          </a:p>
          <a:p>
            <a:r>
              <a:rPr sz="1350">
                <a:solidFill>
                  <a:srgbClr val="18241B"/>
                </a:solidFill>
              </a:rPr>
              <a:t>Sorted golden raisins are sealed into airtight cartons and moved into cold storage to preserve colour until market dispatch.</a:t>
            </a:r>
          </a:p>
        </p:txBody>
      </p:sp>
      <p:sp>
        <p:nvSpPr>
          <p:cNvPr id="10" name="TextBox 9"/>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18241B"/>
                </a:solidFill>
                <a:latin typeface="Georgia"/>
              </a:rPr>
              <a:t>Closing the loop: back to the soil</a:t>
            </a:r>
          </a:p>
        </p:txBody>
      </p:sp>
      <p:sp>
        <p:nvSpPr>
          <p:cNvPr id="4" name="Rounded Rectangle 3"/>
          <p:cNvSpPr/>
          <p:nvPr/>
        </p:nvSpPr>
        <p:spPr>
          <a:xfrm>
            <a:off x="731520" y="1645920"/>
            <a:ext cx="5120640" cy="19202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74519"/>
            <a:ext cx="4572000" cy="1463040"/>
          </a:xfrm>
          <a:prstGeom prst="rect">
            <a:avLst/>
          </a:prstGeom>
          <a:noFill/>
        </p:spPr>
        <p:txBody>
          <a:bodyPr wrap="square">
            <a:spAutoFit/>
          </a:bodyPr>
          <a:lstStyle/>
          <a:p>
            <a:pPr>
              <a:spcAft>
                <a:spcPts val="600"/>
              </a:spcAft>
            </a:pPr>
            <a:r>
              <a:rPr sz="1700" b="1">
                <a:solidFill>
                  <a:srgbClr val="4E7A3A"/>
                </a:solidFill>
              </a:rPr>
              <a:t>• Organic Matter Return</a:t>
            </a:r>
          </a:p>
          <a:p>
            <a:r>
              <a:rPr sz="1350">
                <a:solidFill>
                  <a:srgbClr val="18241B"/>
                </a:solidFill>
              </a:rPr>
              <a:t>Post-harvest vineyard biomass, prunings, and composted manure are returned to the soil to rebuild organic carbon.</a:t>
            </a:r>
          </a:p>
        </p:txBody>
      </p:sp>
      <p:sp>
        <p:nvSpPr>
          <p:cNvPr id="6" name="Rounded Rectangle 5"/>
          <p:cNvSpPr/>
          <p:nvPr/>
        </p:nvSpPr>
        <p:spPr>
          <a:xfrm>
            <a:off x="6126480" y="1645920"/>
            <a:ext cx="5120640" cy="19202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74519"/>
            <a:ext cx="4572000" cy="1463040"/>
          </a:xfrm>
          <a:prstGeom prst="rect">
            <a:avLst/>
          </a:prstGeom>
          <a:noFill/>
        </p:spPr>
        <p:txBody>
          <a:bodyPr wrap="square">
            <a:spAutoFit/>
          </a:bodyPr>
          <a:lstStyle/>
          <a:p>
            <a:pPr>
              <a:spcAft>
                <a:spcPts val="600"/>
              </a:spcAft>
            </a:pPr>
            <a:r>
              <a:rPr sz="1700" b="1">
                <a:solidFill>
                  <a:srgbClr val="4E7A3A"/>
                </a:solidFill>
              </a:rPr>
              <a:t>• April Foundation Pruning</a:t>
            </a:r>
          </a:p>
          <a:p>
            <a:r>
              <a:rPr sz="1350">
                <a:solidFill>
                  <a:srgbClr val="18241B"/>
                </a:solidFill>
              </a:rPr>
              <a:t>A hard cut-back of canes in April restarts the annual cycle, growing vigorous fruiting canes for next season.</a:t>
            </a:r>
          </a:p>
        </p:txBody>
      </p:sp>
      <p:sp>
        <p:nvSpPr>
          <p:cNvPr id="8" name="Rounded Rectangle 7"/>
          <p:cNvSpPr/>
          <p:nvPr/>
        </p:nvSpPr>
        <p:spPr>
          <a:xfrm>
            <a:off x="731520" y="3749039"/>
            <a:ext cx="5120640" cy="19202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977639"/>
            <a:ext cx="4572000" cy="1463040"/>
          </a:xfrm>
          <a:prstGeom prst="rect">
            <a:avLst/>
          </a:prstGeom>
          <a:noFill/>
        </p:spPr>
        <p:txBody>
          <a:bodyPr wrap="square">
            <a:spAutoFit/>
          </a:bodyPr>
          <a:lstStyle/>
          <a:p>
            <a:pPr>
              <a:spcAft>
                <a:spcPts val="600"/>
              </a:spcAft>
            </a:pPr>
            <a:r>
              <a:rPr sz="1700" b="1">
                <a:solidFill>
                  <a:srgbClr val="4E7A3A"/>
                </a:solidFill>
              </a:rPr>
              <a:t>• Permanent Infrastructure</a:t>
            </a:r>
          </a:p>
          <a:p>
            <a:r>
              <a:rPr sz="1350">
                <a:solidFill>
                  <a:srgbClr val="18241B"/>
                </a:solidFill>
              </a:rPr>
              <a:t>The multi-tier shade shed remains preserved on site, ready for immediate deployment next harvest.</a:t>
            </a:r>
          </a:p>
        </p:txBody>
      </p:sp>
      <p:sp>
        <p:nvSpPr>
          <p:cNvPr id="10" name="Rounded Rectangle 9"/>
          <p:cNvSpPr/>
          <p:nvPr/>
        </p:nvSpPr>
        <p:spPr>
          <a:xfrm>
            <a:off x="6126480" y="3749039"/>
            <a:ext cx="5120640" cy="19202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3977639"/>
            <a:ext cx="4572000" cy="1463040"/>
          </a:xfrm>
          <a:prstGeom prst="rect">
            <a:avLst/>
          </a:prstGeom>
          <a:noFill/>
        </p:spPr>
        <p:txBody>
          <a:bodyPr wrap="square">
            <a:spAutoFit/>
          </a:bodyPr>
          <a:lstStyle/>
          <a:p>
            <a:pPr>
              <a:spcAft>
                <a:spcPts val="600"/>
              </a:spcAft>
            </a:pPr>
            <a:r>
              <a:rPr sz="1700" b="1">
                <a:solidFill>
                  <a:srgbClr val="4E7A3A"/>
                </a:solidFill>
              </a:rPr>
              <a:t>• Sensorized Next Season</a:t>
            </a:r>
          </a:p>
          <a:p>
            <a:r>
              <a:rPr sz="1350">
                <a:solidFill>
                  <a:srgbClr val="18241B"/>
                </a:solidFill>
              </a:rPr>
              <a:t>Planned deployment of camera carts, GPS tracking, and IoT sensors to link per-block soil treatment with final raisin recovery.</a:t>
            </a:r>
          </a:p>
        </p:txBody>
      </p:sp>
      <p:sp>
        <p:nvSpPr>
          <p:cNvPr id="12" name="TextBox 11"/>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F4F7F4"/>
                </a:solidFill>
                <a:latin typeface="Georgia"/>
              </a:rPr>
              <a:t>Season takeaways</a:t>
            </a:r>
          </a:p>
        </p:txBody>
      </p:sp>
      <p:sp>
        <p:nvSpPr>
          <p:cNvPr id="4" name="Rounded Rectangle 3"/>
          <p:cNvSpPr/>
          <p:nvPr/>
        </p:nvSpPr>
        <p:spPr>
          <a:xfrm>
            <a:off x="731520" y="1645920"/>
            <a:ext cx="5120640" cy="1920240"/>
          </a:xfrm>
          <a:prstGeom prst="roundRect">
            <a:avLst>
              <a:gd name="adj" fmla="val 4000"/>
            </a:avLst>
          </a:prstGeom>
          <a:solidFill>
            <a:srgbClr val="243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74519"/>
            <a:ext cx="4572000" cy="1463040"/>
          </a:xfrm>
          <a:prstGeom prst="rect">
            <a:avLst/>
          </a:prstGeom>
          <a:noFill/>
        </p:spPr>
        <p:txBody>
          <a:bodyPr wrap="square">
            <a:spAutoFit/>
          </a:bodyPr>
          <a:lstStyle/>
          <a:p>
            <a:pPr>
              <a:spcAft>
                <a:spcPts val="600"/>
              </a:spcAft>
            </a:pPr>
            <a:r>
              <a:rPr sz="1800" b="1">
                <a:solidFill>
                  <a:srgbClr val="C27E22"/>
                </a:solidFill>
              </a:rPr>
              <a:t>1.  ~150 Days</a:t>
            </a:r>
          </a:p>
          <a:p>
            <a:r>
              <a:rPr sz="1400">
                <a:solidFill>
                  <a:srgbClr val="F4F7F4"/>
                </a:solidFill>
              </a:rPr>
              <a:t>From October fruit pruning to a March harvest, with flowering starting ~4 weeks after pruning.</a:t>
            </a:r>
          </a:p>
        </p:txBody>
      </p:sp>
      <p:sp>
        <p:nvSpPr>
          <p:cNvPr id="6" name="Rounded Rectangle 5"/>
          <p:cNvSpPr/>
          <p:nvPr/>
        </p:nvSpPr>
        <p:spPr>
          <a:xfrm>
            <a:off x="6126480" y="1645920"/>
            <a:ext cx="5120640" cy="1920240"/>
          </a:xfrm>
          <a:prstGeom prst="roundRect">
            <a:avLst>
              <a:gd name="adj" fmla="val 4000"/>
            </a:avLst>
          </a:prstGeom>
          <a:solidFill>
            <a:srgbClr val="243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74519"/>
            <a:ext cx="4572000" cy="1463040"/>
          </a:xfrm>
          <a:prstGeom prst="rect">
            <a:avLst/>
          </a:prstGeom>
          <a:noFill/>
        </p:spPr>
        <p:txBody>
          <a:bodyPr wrap="square">
            <a:spAutoFit/>
          </a:bodyPr>
          <a:lstStyle/>
          <a:p>
            <a:pPr>
              <a:spcAft>
                <a:spcPts val="600"/>
              </a:spcAft>
            </a:pPr>
            <a:r>
              <a:rPr sz="1800" b="1">
                <a:solidFill>
                  <a:srgbClr val="C27E22"/>
                </a:solidFill>
              </a:rPr>
              <a:t>2.  Even Start, Even Finish</a:t>
            </a:r>
          </a:p>
          <a:p>
            <a:r>
              <a:rPr sz="1400">
                <a:solidFill>
                  <a:srgbClr val="F4F7F4"/>
                </a:solidFill>
              </a:rPr>
              <a:t>A bud-break spray right after pruning lines up sprouting, bloom, and ripening across the entire block.</a:t>
            </a:r>
          </a:p>
        </p:txBody>
      </p:sp>
      <p:sp>
        <p:nvSpPr>
          <p:cNvPr id="8" name="Rounded Rectangle 7"/>
          <p:cNvSpPr/>
          <p:nvPr/>
        </p:nvSpPr>
        <p:spPr>
          <a:xfrm>
            <a:off x="731520" y="3749039"/>
            <a:ext cx="5120640" cy="1920240"/>
          </a:xfrm>
          <a:prstGeom prst="roundRect">
            <a:avLst>
              <a:gd name="adj" fmla="val 4000"/>
            </a:avLst>
          </a:prstGeom>
          <a:solidFill>
            <a:srgbClr val="243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977639"/>
            <a:ext cx="4572000" cy="1463040"/>
          </a:xfrm>
          <a:prstGeom prst="rect">
            <a:avLst/>
          </a:prstGeom>
          <a:noFill/>
        </p:spPr>
        <p:txBody>
          <a:bodyPr wrap="square">
            <a:spAutoFit/>
          </a:bodyPr>
          <a:lstStyle/>
          <a:p>
            <a:pPr>
              <a:spcAft>
                <a:spcPts val="600"/>
              </a:spcAft>
            </a:pPr>
            <a:r>
              <a:rPr sz="1800" b="1">
                <a:solidFill>
                  <a:srgbClr val="C27E22"/>
                </a:solidFill>
              </a:rPr>
              <a:t>3.  Sugar Decides Harvest</a:t>
            </a:r>
          </a:p>
          <a:p>
            <a:r>
              <a:rPr sz="1400">
                <a:solidFill>
                  <a:srgbClr val="F4F7F4"/>
                </a:solidFill>
              </a:rPr>
              <a:t>Pick strictly at full °Brix; higher initial sugar yields heavier, sweeter raisins and superior dried weight.</a:t>
            </a:r>
          </a:p>
        </p:txBody>
      </p:sp>
      <p:sp>
        <p:nvSpPr>
          <p:cNvPr id="10" name="Rounded Rectangle 9"/>
          <p:cNvSpPr/>
          <p:nvPr/>
        </p:nvSpPr>
        <p:spPr>
          <a:xfrm>
            <a:off x="6126480" y="3749039"/>
            <a:ext cx="5120640" cy="1920240"/>
          </a:xfrm>
          <a:prstGeom prst="roundRect">
            <a:avLst>
              <a:gd name="adj" fmla="val 4000"/>
            </a:avLst>
          </a:prstGeom>
          <a:solidFill>
            <a:srgbClr val="243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3977639"/>
            <a:ext cx="4572000" cy="1463040"/>
          </a:xfrm>
          <a:prstGeom prst="rect">
            <a:avLst/>
          </a:prstGeom>
          <a:noFill/>
        </p:spPr>
        <p:txBody>
          <a:bodyPr wrap="square">
            <a:spAutoFit/>
          </a:bodyPr>
          <a:lstStyle/>
          <a:p>
            <a:pPr>
              <a:spcAft>
                <a:spcPts val="600"/>
              </a:spcAft>
            </a:pPr>
            <a:r>
              <a:rPr sz="1800" b="1">
                <a:solidFill>
                  <a:srgbClr val="C27E22"/>
                </a:solidFill>
              </a:rPr>
              <a:t>4.  Shade + Dip = Golden</a:t>
            </a:r>
          </a:p>
          <a:p>
            <a:r>
              <a:rPr sz="1400">
                <a:solidFill>
                  <a:srgbClr val="F4F7F4"/>
                </a:solidFill>
              </a:rPr>
              <a:t>Alkaline pretreatment and shade-net drying turn fresh grapes into premium golden raisins in ~2 weeks.</a:t>
            </a:r>
          </a:p>
        </p:txBody>
      </p:sp>
      <p:sp>
        <p:nvSpPr>
          <p:cNvPr id="12" name="TextBox 11"/>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A8BAAA"/>
                </a:solidFill>
                <a:latin typeface="Arial"/>
              </a:rPr>
              <a:t>From Vine to Raisin · Vijayapura vineyard, 2025–26 season · </a:t>
            </a:r>
            <a:r>
              <a:rPr sz="1100" b="1">
                <a:solidFill>
                  <a:srgbClr val="93C5FD"/>
                </a:solidFill>
                <a:latin typeface="Arial"/>
                <a:hlinkClick r:id="rId2"/>
              </a:rPr>
              <a:t>arunpatillabs.com</a:t>
            </a:r>
            <a:r>
              <a:rPr sz="1100">
                <a:solidFill>
                  <a:srgbClr val="A8BAAA"/>
                </a:solidFill>
                <a:latin typeface="Arial"/>
              </a:rPr>
              <a:t>   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it_watermarked_img_7619949761973518289.jpg"/>
          <p:cNvPicPr>
            <a:picLocks noChangeAspect="1"/>
          </p:cNvPicPr>
          <p:nvPr/>
        </p:nvPicPr>
        <p:blipFill>
          <a:blip r:embed="rId2"/>
          <a:stretch>
            <a:fillRect/>
          </a:stretch>
        </p:blipFill>
        <p:spPr>
          <a:xfrm>
            <a:off x="6217920" y="0"/>
            <a:ext cx="5973775" cy="6858000"/>
          </a:xfrm>
          <a:prstGeom prst="rect">
            <a:avLst/>
          </a:prstGeom>
        </p:spPr>
      </p:pic>
      <p:sp>
        <p:nvSpPr>
          <p:cNvPr id="4" name="TextBox 3"/>
          <p:cNvSpPr txBox="1"/>
          <p:nvPr/>
        </p:nvSpPr>
        <p:spPr>
          <a:xfrm>
            <a:off x="731520" y="2011680"/>
            <a:ext cx="5120640" cy="3657600"/>
          </a:xfrm>
          <a:prstGeom prst="rect">
            <a:avLst/>
          </a:prstGeom>
          <a:noFill/>
        </p:spPr>
        <p:txBody>
          <a:bodyPr wrap="square">
            <a:spAutoFit/>
          </a:bodyPr>
          <a:lstStyle/>
          <a:p>
            <a:pPr>
              <a:spcAft>
                <a:spcPts val="1000"/>
              </a:spcAft>
            </a:pPr>
            <a:r>
              <a:rPr sz="1400" b="1">
                <a:solidFill>
                  <a:srgbClr val="C27E22"/>
                </a:solidFill>
              </a:rPr>
              <a:t>PART 3</a:t>
            </a:r>
          </a:p>
          <a:p>
            <a:pPr>
              <a:spcAft>
                <a:spcPts val="1600"/>
              </a:spcAft>
            </a:pPr>
            <a:r>
              <a:rPr sz="4000" b="1">
                <a:solidFill>
                  <a:srgbClr val="F4F7F4"/>
                </a:solidFill>
                <a:latin typeface="Georgia"/>
              </a:rPr>
              <a:t>What tech can do</a:t>
            </a:r>
          </a:p>
          <a:p>
            <a:r>
              <a:rPr sz="1800">
                <a:solidFill>
                  <a:srgbClr val="A8BAAA"/>
                </a:solidFill>
              </a:rPr>
              <a:t>Options for our 4.5-acre Thompson Seedless farm on a ₹3 lakh budget. Everything here is an option; nothing is decided yet.</a:t>
            </a:r>
          </a:p>
        </p:txBody>
      </p:sp>
      <p:sp>
        <p:nvSpPr>
          <p:cNvPr id="5" name="TextBox 4"/>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A8BAAA"/>
                </a:solidFill>
                <a:latin typeface="Arial"/>
              </a:rPr>
              <a:t>From Vine to Raisin · Vijayapura vineyard, 2025–26 season · </a:t>
            </a:r>
            <a:r>
              <a:rPr sz="1100" b="1">
                <a:solidFill>
                  <a:srgbClr val="93C5FD"/>
                </a:solidFill>
                <a:latin typeface="Arial"/>
                <a:hlinkClick r:id="rId3"/>
              </a:rPr>
              <a:t>arunpatillabs.com</a:t>
            </a:r>
            <a:r>
              <a:rPr sz="1100">
                <a:solidFill>
                  <a:srgbClr val="A8BAAA"/>
                </a:solidFill>
                <a:latin typeface="Arial"/>
              </a:rPr>
              <a:t>   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18241B"/>
                </a:solidFill>
                <a:latin typeface="Georgia"/>
              </a:rPr>
              <a:t>Our farm and goals</a:t>
            </a:r>
          </a:p>
        </p:txBody>
      </p:sp>
      <p:sp>
        <p:nvSpPr>
          <p:cNvPr id="4" name="Rounded Rectangle 3"/>
          <p:cNvSpPr/>
          <p:nvPr/>
        </p:nvSpPr>
        <p:spPr>
          <a:xfrm>
            <a:off x="731520" y="1645920"/>
            <a:ext cx="2560320" cy="14630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37360"/>
            <a:ext cx="2286000" cy="1280160"/>
          </a:xfrm>
          <a:prstGeom prst="rect">
            <a:avLst/>
          </a:prstGeom>
          <a:noFill/>
        </p:spPr>
        <p:txBody>
          <a:bodyPr wrap="square">
            <a:spAutoFit/>
          </a:bodyPr>
          <a:lstStyle/>
          <a:p>
            <a:r>
              <a:rPr sz="3000" b="1">
                <a:solidFill>
                  <a:srgbClr val="4E7A3A"/>
                </a:solidFill>
                <a:latin typeface="Georgia"/>
              </a:rPr>
              <a:t>4.5</a:t>
            </a:r>
          </a:p>
          <a:p>
            <a:r>
              <a:rPr sz="1200">
                <a:solidFill>
                  <a:srgbClr val="566658"/>
                </a:solidFill>
              </a:rPr>
              <a:t>acres, Thompson Seedless</a:t>
            </a:r>
          </a:p>
        </p:txBody>
      </p:sp>
      <p:sp>
        <p:nvSpPr>
          <p:cNvPr id="6" name="Rounded Rectangle 5"/>
          <p:cNvSpPr/>
          <p:nvPr/>
        </p:nvSpPr>
        <p:spPr>
          <a:xfrm>
            <a:off x="3429000" y="1645920"/>
            <a:ext cx="2560320" cy="14630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737360"/>
            <a:ext cx="2286000" cy="1280160"/>
          </a:xfrm>
          <a:prstGeom prst="rect">
            <a:avLst/>
          </a:prstGeom>
          <a:noFill/>
        </p:spPr>
        <p:txBody>
          <a:bodyPr wrap="square">
            <a:spAutoFit/>
          </a:bodyPr>
          <a:lstStyle/>
          <a:p>
            <a:r>
              <a:rPr sz="3000" b="1">
                <a:solidFill>
                  <a:srgbClr val="4E7A3A"/>
                </a:solidFill>
                <a:latin typeface="Georgia"/>
              </a:rPr>
              <a:t>4,100</a:t>
            </a:r>
          </a:p>
          <a:p>
            <a:r>
              <a:rPr sz="1200">
                <a:solidFill>
                  <a:srgbClr val="566658"/>
                </a:solidFill>
              </a:rPr>
              <a:t>vines (≈4.4 m² each)</a:t>
            </a:r>
          </a:p>
        </p:txBody>
      </p:sp>
      <p:sp>
        <p:nvSpPr>
          <p:cNvPr id="8" name="Rounded Rectangle 7"/>
          <p:cNvSpPr/>
          <p:nvPr/>
        </p:nvSpPr>
        <p:spPr>
          <a:xfrm>
            <a:off x="6126480" y="1645920"/>
            <a:ext cx="2560320" cy="14630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737360"/>
            <a:ext cx="2286000" cy="1280160"/>
          </a:xfrm>
          <a:prstGeom prst="rect">
            <a:avLst/>
          </a:prstGeom>
          <a:noFill/>
        </p:spPr>
        <p:txBody>
          <a:bodyPr wrap="square">
            <a:spAutoFit/>
          </a:bodyPr>
          <a:lstStyle/>
          <a:p>
            <a:r>
              <a:rPr sz="3000" b="1">
                <a:solidFill>
                  <a:srgbClr val="4E7A3A"/>
                </a:solidFill>
                <a:latin typeface="Georgia"/>
              </a:rPr>
              <a:t>51</a:t>
            </a:r>
          </a:p>
          <a:p>
            <a:r>
              <a:rPr sz="1200">
                <a:solidFill>
                  <a:srgbClr val="566658"/>
                </a:solidFill>
              </a:rPr>
              <a:t>rows, ~80 vines &amp; ~120m</a:t>
            </a:r>
          </a:p>
        </p:txBody>
      </p:sp>
      <p:sp>
        <p:nvSpPr>
          <p:cNvPr id="10" name="Rounded Rectangle 9"/>
          <p:cNvSpPr/>
          <p:nvPr/>
        </p:nvSpPr>
        <p:spPr>
          <a:xfrm>
            <a:off x="8823960" y="1645920"/>
            <a:ext cx="2560320" cy="14630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737360"/>
            <a:ext cx="2286000" cy="1280160"/>
          </a:xfrm>
          <a:prstGeom prst="rect">
            <a:avLst/>
          </a:prstGeom>
          <a:noFill/>
        </p:spPr>
        <p:txBody>
          <a:bodyPr wrap="square">
            <a:spAutoFit/>
          </a:bodyPr>
          <a:lstStyle/>
          <a:p>
            <a:r>
              <a:rPr sz="3000" b="1">
                <a:solidFill>
                  <a:srgbClr val="4E7A3A"/>
                </a:solidFill>
                <a:latin typeface="Georgia"/>
              </a:rPr>
              <a:t>~6 km</a:t>
            </a:r>
          </a:p>
          <a:p>
            <a:r>
              <a:rPr sz="1200">
                <a:solidFill>
                  <a:srgbClr val="566658"/>
                </a:solidFill>
              </a:rPr>
              <a:t>per full camera pass (~1.5h)</a:t>
            </a:r>
          </a:p>
        </p:txBody>
      </p:sp>
      <p:sp>
        <p:nvSpPr>
          <p:cNvPr id="12" name="Rounded Rectangle 11"/>
          <p:cNvSpPr/>
          <p:nvPr/>
        </p:nvSpPr>
        <p:spPr>
          <a:xfrm>
            <a:off x="731520" y="3291840"/>
            <a:ext cx="5212080" cy="274320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429000"/>
            <a:ext cx="4846320" cy="2468880"/>
          </a:xfrm>
          <a:prstGeom prst="rect">
            <a:avLst/>
          </a:prstGeom>
          <a:noFill/>
        </p:spPr>
        <p:txBody>
          <a:bodyPr wrap="square">
            <a:spAutoFit/>
          </a:bodyPr>
          <a:lstStyle/>
          <a:p>
            <a:pPr>
              <a:spcAft>
                <a:spcPts val="800"/>
              </a:spcAft>
            </a:pPr>
            <a:r>
              <a:rPr sz="1700" b="1">
                <a:solidFill>
                  <a:srgbClr val="18241B"/>
                </a:solidFill>
              </a:rPr>
              <a:t>Already In Place</a:t>
            </a:r>
          </a:p>
          <a:p>
            <a:r>
              <a:rPr sz="1300">
                <a:solidFill>
                  <a:srgbClr val="566658"/>
                </a:solidFill>
              </a:rPr>
              <a:t>• Fyllo agricultural microclimate field station</a:t>
            </a:r>
          </a:p>
          <a:p>
            <a:r>
              <a:rPr sz="1300">
                <a:solidFill>
                  <a:srgbClr val="566658"/>
                </a:solidFill>
              </a:rPr>
              <a:t>• Kubota B2741S orchard tractor</a:t>
            </a:r>
          </a:p>
          <a:p>
            <a:r>
              <a:rPr sz="1300">
                <a:solidFill>
                  <a:srgbClr val="566658"/>
                </a:solidFill>
              </a:rPr>
              <a:t>• Tractor GPS speed and pass logging</a:t>
            </a:r>
          </a:p>
          <a:p>
            <a:r>
              <a:rPr sz="1300">
                <a:solidFill>
                  <a:srgbClr val="566658"/>
                </a:solidFill>
              </a:rPr>
              <a:t>• 4G outdoor CCTV perimeter cameras</a:t>
            </a:r>
          </a:p>
          <a:p>
            <a:r>
              <a:rPr sz="1300">
                <a:solidFill>
                  <a:srgbClr val="566658"/>
                </a:solidFill>
              </a:rPr>
              <a:t>• Mounted Action Camera</a:t>
            </a:r>
          </a:p>
          <a:p>
            <a:r>
              <a:rPr sz="1300">
                <a:solidFill>
                  <a:srgbClr val="566658"/>
                </a:solidFill>
              </a:rPr>
              <a:t>• Wi-Fi at drying shed (4G SIM backhaul)</a:t>
            </a:r>
          </a:p>
        </p:txBody>
      </p:sp>
      <p:sp>
        <p:nvSpPr>
          <p:cNvPr id="14" name="Rounded Rectangle 13"/>
          <p:cNvSpPr/>
          <p:nvPr/>
        </p:nvSpPr>
        <p:spPr>
          <a:xfrm>
            <a:off x="6217920" y="3291840"/>
            <a:ext cx="5212080" cy="274320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429000"/>
            <a:ext cx="4846320" cy="2468880"/>
          </a:xfrm>
          <a:prstGeom prst="rect">
            <a:avLst/>
          </a:prstGeom>
          <a:noFill/>
        </p:spPr>
        <p:txBody>
          <a:bodyPr wrap="square">
            <a:spAutoFit/>
          </a:bodyPr>
          <a:lstStyle/>
          <a:p>
            <a:pPr>
              <a:spcAft>
                <a:spcPts val="800"/>
              </a:spcAft>
            </a:pPr>
            <a:r>
              <a:rPr sz="1700" b="1">
                <a:solidFill>
                  <a:srgbClr val="18241B"/>
                </a:solidFill>
              </a:rPr>
              <a:t>Strategic Priorities</a:t>
            </a:r>
          </a:p>
          <a:p>
            <a:r>
              <a:rPr b="1" sz="1300">
                <a:solidFill>
                  <a:srgbClr val="4E7A3A"/>
                </a:solidFill>
              </a:rPr>
              <a:t>P1. Grape Yield: </a:t>
            </a:r>
            <a:r>
              <a:rPr sz="1250">
                <a:solidFill>
                  <a:srgbClr val="566658"/>
                </a:solidFill>
              </a:rPr>
              <a:t>Bunch count per vine, berry sizing curves, row yield maps</a:t>
            </a:r>
          </a:p>
          <a:p>
            <a:r>
              <a:rPr b="1" sz="1300">
                <a:solidFill>
                  <a:srgbClr val="4E7A3A"/>
                </a:solidFill>
              </a:rPr>
              <a:t>P2. Raisin Quality: </a:t>
            </a:r>
            <a:r>
              <a:rPr sz="1250">
                <a:solidFill>
                  <a:srgbClr val="566658"/>
                </a:solidFill>
              </a:rPr>
              <a:t>Brix at harvest, drying shed temperature/humidity, recovery</a:t>
            </a:r>
          </a:p>
          <a:p>
            <a:r>
              <a:rPr b="1" sz="1300">
                <a:solidFill>
                  <a:srgbClr val="4E7A3A"/>
                </a:solidFill>
              </a:rPr>
              <a:t>P3. Protect Crop: </a:t>
            </a:r>
            <a:r>
              <a:rPr sz="1250">
                <a:solidFill>
                  <a:srgbClr val="566658"/>
                </a:solidFill>
              </a:rPr>
              <a:t>Early mildew alerts via Fyllo, yard theft alerts via CCTV</a:t>
            </a:r>
          </a:p>
          <a:p>
            <a:r>
              <a:rPr b="1" sz="1300">
                <a:solidFill>
                  <a:srgbClr val="4E7A3A"/>
                </a:solidFill>
              </a:rPr>
              <a:t>P4. Optimize Inputs: </a:t>
            </a:r>
            <a:r>
              <a:rPr sz="1250">
                <a:solidFill>
                  <a:srgbClr val="566658"/>
                </a:solidFill>
              </a:rPr>
              <a:t>Variable-rate GA3, fertiliser, and water guided by row data</a:t>
            </a:r>
          </a:p>
        </p:txBody>
      </p:sp>
      <p:sp>
        <p:nvSpPr>
          <p:cNvPr id="16" name="TextBox 15"/>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18241B"/>
                </a:solidFill>
                <a:latin typeface="Georgia"/>
              </a:rPr>
              <a:t>Ideas we reviewed: reality check</a:t>
            </a:r>
          </a:p>
        </p:txBody>
      </p:sp>
      <p:graphicFrame>
        <p:nvGraphicFramePr>
          <p:cNvPr id="4" name="Table 3"/>
          <p:cNvGraphicFramePr>
            <a:graphicFrameLocks noGrp="1"/>
          </p:cNvGraphicFramePr>
          <p:nvPr/>
        </p:nvGraphicFramePr>
        <p:xfrm>
          <a:off x="731520" y="1645920"/>
          <a:ext cx="10728655" cy="4389120"/>
        </p:xfrm>
        <a:graphic>
          <a:graphicData uri="http://schemas.openxmlformats.org/drawingml/2006/table">
            <a:tbl>
              <a:tblPr firstRow="1" bandRow="1">
                <a:tableStyleId>{5C22544A-7EE6-4342-B048-85BDC9FD1C3A}</a:tableStyleId>
              </a:tblPr>
              <a:tblGrid>
                <a:gridCol w="3291840"/>
                <a:gridCol w="5120640"/>
                <a:gridCol w="2316175"/>
              </a:tblGrid>
              <a:tr h="627017">
                <a:tc>
                  <a:txBody>
                    <a:bodyPr/>
                    <a:lstStyle/>
                    <a:p>
                      <a:pPr algn="l"/>
                      <a:r>
                        <a:rPr b="1" sz="1300">
                          <a:solidFill>
                            <a:srgbClr val="18241B"/>
                          </a:solidFill>
                        </a:rPr>
                        <a:t>Idea</a:t>
                      </a:r>
                    </a:p>
                  </a:txBody>
                  <a:tcPr>
                    <a:solidFill>
                      <a:srgbClr val="F0EDE4"/>
                    </a:solidFill>
                  </a:tcPr>
                </a:tc>
                <a:tc>
                  <a:txBody>
                    <a:bodyPr/>
                    <a:lstStyle/>
                    <a:p>
                      <a:pPr algn="l"/>
                      <a:r>
                        <a:rPr b="1" sz="1300">
                          <a:solidFill>
                            <a:srgbClr val="18241B"/>
                          </a:solidFill>
                        </a:rPr>
                        <a:t>What the evidence says</a:t>
                      </a:r>
                    </a:p>
                  </a:txBody>
                  <a:tcPr>
                    <a:solidFill>
                      <a:srgbClr val="F0EDE4"/>
                    </a:solidFill>
                  </a:tcPr>
                </a:tc>
                <a:tc>
                  <a:txBody>
                    <a:bodyPr/>
                    <a:lstStyle/>
                    <a:p>
                      <a:pPr algn="l"/>
                      <a:r>
                        <a:rPr b="1" sz="1300">
                          <a:solidFill>
                            <a:srgbClr val="18241B"/>
                          </a:solidFill>
                        </a:rPr>
                        <a:t>Verdict</a:t>
                      </a:r>
                    </a:p>
                  </a:txBody>
                  <a:tcPr>
                    <a:solidFill>
                      <a:srgbClr val="F0EDE4"/>
                    </a:solidFill>
                  </a:tcPr>
                </a:tc>
              </a:tr>
              <a:tr h="627017">
                <a:tc>
                  <a:txBody>
                    <a:bodyPr/>
                    <a:lstStyle/>
                    <a:p>
                      <a:r>
                        <a:rPr b="1" sz="1250">
                          <a:solidFill>
                            <a:srgbClr val="18241B"/>
                          </a:solidFill>
                        </a:rPr>
                        <a:t>Fixed cameras: theft</a:t>
                      </a:r>
                    </a:p>
                  </a:txBody>
                  <a:tcPr/>
                </a:tc>
                <a:tc>
                  <a:txBody>
                    <a:bodyPr/>
                    <a:lstStyle/>
                    <a:p>
                      <a:r>
                        <a:rPr sz="1200">
                          <a:solidFill>
                            <a:srgbClr val="566658"/>
                          </a:solidFill>
                        </a:rPr>
                        <a:t>Person detection on CCTV is mature, reliable and cheap.</a:t>
                      </a:r>
                    </a:p>
                  </a:txBody>
                  <a:tcPr/>
                </a:tc>
                <a:tc>
                  <a:txBody>
                    <a:bodyPr/>
                    <a:lstStyle/>
                    <a:p>
                      <a:pPr algn="l"/>
                      <a:r>
                        <a:rPr b="1" sz="1200">
                          <a:solidFill>
                            <a:srgbClr val="4E7A3A"/>
                          </a:solidFill>
                        </a:rPr>
                        <a:t>Do now</a:t>
                      </a:r>
                    </a:p>
                  </a:txBody>
                  <a:tcPr/>
                </a:tc>
              </a:tr>
              <a:tr h="627017">
                <a:tc>
                  <a:txBody>
                    <a:bodyPr/>
                    <a:lstStyle/>
                    <a:p>
                      <a:r>
                        <a:rPr b="1" sz="1250">
                          <a:solidFill>
                            <a:srgbClr val="18241B"/>
                          </a:solidFill>
                        </a:rPr>
                        <a:t>Labour headcount</a:t>
                      </a:r>
                    </a:p>
                  </a:txBody>
                  <a:tcPr/>
                </a:tc>
                <a:tc>
                  <a:txBody>
                    <a:bodyPr/>
                    <a:lstStyle/>
                    <a:p>
                      <a:r>
                        <a:rPr sz="1200">
                          <a:solidFill>
                            <a:srgbClr val="566658"/>
                          </a:solidFill>
                        </a:rPr>
                        <a:t>Easy at the gate; simple disclosure to workers required (DPDP Act).</a:t>
                      </a:r>
                    </a:p>
                  </a:txBody>
                  <a:tcPr/>
                </a:tc>
                <a:tc>
                  <a:txBody>
                    <a:bodyPr/>
                    <a:lstStyle/>
                    <a:p>
                      <a:pPr algn="l"/>
                      <a:r>
                        <a:rPr b="1" sz="1200">
                          <a:solidFill>
                            <a:srgbClr val="4E7A3A"/>
                          </a:solidFill>
                        </a:rPr>
                        <a:t>Do now</a:t>
                      </a:r>
                    </a:p>
                  </a:txBody>
                  <a:tcPr/>
                </a:tc>
              </a:tr>
              <a:tr h="627017">
                <a:tc>
                  <a:txBody>
                    <a:bodyPr/>
                    <a:lstStyle/>
                    <a:p>
                      <a:r>
                        <a:rPr b="1" sz="1250">
                          <a:solidFill>
                            <a:srgbClr val="18241B"/>
                          </a:solidFill>
                        </a:rPr>
                        <a:t>Labour heat map</a:t>
                      </a:r>
                    </a:p>
                  </a:txBody>
                  <a:tcPr/>
                </a:tc>
                <a:tc>
                  <a:txBody>
                    <a:bodyPr/>
                    <a:lstStyle/>
                    <a:p>
                      <a:r>
                        <a:rPr sz="1200">
                          <a:solidFill>
                            <a:srgbClr val="566658"/>
                          </a:solidFill>
                        </a:rPr>
                        <a:t>Needs worker tracking via active GPS tags or dense high-angle cameras.</a:t>
                      </a:r>
                    </a:p>
                  </a:txBody>
                  <a:tcPr/>
                </a:tc>
                <a:tc>
                  <a:txBody>
                    <a:bodyPr/>
                    <a:lstStyle/>
                    <a:p>
                      <a:pPr algn="l"/>
                      <a:r>
                        <a:rPr b="1" sz="1200">
                          <a:solidFill>
                            <a:srgbClr val="566658"/>
                          </a:solidFill>
                        </a:rPr>
                        <a:t>Hold</a:t>
                      </a:r>
                    </a:p>
                  </a:txBody>
                  <a:tcPr/>
                </a:tc>
              </a:tr>
              <a:tr h="627017">
                <a:tc>
                  <a:txBody>
                    <a:bodyPr/>
                    <a:lstStyle/>
                    <a:p>
                      <a:r>
                        <a:rPr b="1" sz="1250">
                          <a:solidFill>
                            <a:srgbClr val="18241B"/>
                          </a:solidFill>
                        </a:rPr>
                        <a:t>Per-plant yield (camera + GPS)</a:t>
                      </a:r>
                    </a:p>
                  </a:txBody>
                  <a:tcPr/>
                </a:tc>
                <a:tc>
                  <a:txBody>
                    <a:bodyPr/>
                    <a:lstStyle/>
                    <a:p>
                      <a:r>
                        <a:rPr sz="1200">
                          <a:solidFill>
                            <a:srgbClr val="566658"/>
                          </a:solidFill>
                        </a:rPr>
                        <a:t>Bunch detection ~13% error per vine; R² ~0.81 on bunch counts.</a:t>
                      </a:r>
                    </a:p>
                  </a:txBody>
                  <a:tcPr/>
                </a:tc>
                <a:tc>
                  <a:txBody>
                    <a:bodyPr/>
                    <a:lstStyle/>
                    <a:p>
                      <a:pPr algn="l"/>
                      <a:r>
                        <a:rPr b="1" sz="1200">
                          <a:solidFill>
                            <a:srgbClr val="4E7A3A"/>
                          </a:solidFill>
                        </a:rPr>
                        <a:t>Best first project</a:t>
                      </a:r>
                    </a:p>
                  </a:txBody>
                  <a:tcPr/>
                </a:tc>
              </a:tr>
              <a:tr h="627017">
                <a:tc>
                  <a:txBody>
                    <a:bodyPr/>
                    <a:lstStyle/>
                    <a:p>
                      <a:r>
                        <a:rPr b="1" sz="1250">
                          <a:solidFill>
                            <a:srgbClr val="18241B"/>
                          </a:solidFill>
                        </a:rPr>
                        <a:t>Sugar per bunch (hyperspectral)</a:t>
                      </a:r>
                    </a:p>
                  </a:txBody>
                  <a:tcPr/>
                </a:tc>
                <a:tc>
                  <a:txBody>
                    <a:bodyPr/>
                    <a:lstStyle/>
                    <a:p>
                      <a:r>
                        <a:rPr sz="1200">
                          <a:solidFill>
                            <a:srgbClr val="566658"/>
                          </a:solidFill>
                        </a:rPr>
                        <a:t>Living Optics R² 0.71, ±1.24 °Brix in lab; La Rioja R² 0.92 at single site.</a:t>
                      </a:r>
                    </a:p>
                  </a:txBody>
                  <a:tcPr/>
                </a:tc>
                <a:tc>
                  <a:txBody>
                    <a:bodyPr/>
                    <a:lstStyle/>
                    <a:p>
                      <a:pPr algn="l"/>
                      <a:r>
                        <a:rPr b="1" sz="1200">
                          <a:solidFill>
                            <a:srgbClr val="C27E22"/>
                          </a:solidFill>
                        </a:rPr>
                        <a:t>Research-grade</a:t>
                      </a:r>
                    </a:p>
                  </a:txBody>
                  <a:tcPr/>
                </a:tc>
              </a:tr>
              <a:tr h="627018">
                <a:tc>
                  <a:txBody>
                    <a:bodyPr/>
                    <a:lstStyle/>
                    <a:p>
                      <a:r>
                        <a:rPr b="1" sz="1250">
                          <a:solidFill>
                            <a:srgbClr val="18241B"/>
                          </a:solidFill>
                        </a:rPr>
                        <a:t>Robot cart scanning every grape</a:t>
                      </a:r>
                    </a:p>
                  </a:txBody>
                  <a:tcPr/>
                </a:tc>
                <a:tc>
                  <a:txBody>
                    <a:bodyPr/>
                    <a:lstStyle/>
                    <a:p>
                      <a:r>
                        <a:rPr sz="1200">
                          <a:solidFill>
                            <a:srgbClr val="566658"/>
                          </a:solidFill>
                        </a:rPr>
                        <a:t>YouTube Short labelled 'AI'; research prototypes exist, none to buy.</a:t>
                      </a:r>
                    </a:p>
                  </a:txBody>
                  <a:tcPr/>
                </a:tc>
                <a:tc>
                  <a:txBody>
                    <a:bodyPr/>
                    <a:lstStyle/>
                    <a:p>
                      <a:pPr algn="l"/>
                      <a:r>
                        <a:rPr b="1" sz="1200">
                          <a:solidFill>
                            <a:srgbClr val="9E2A2B"/>
                          </a:solidFill>
                        </a:rPr>
                        <a:t>Inspiration only</a:t>
                      </a:r>
                    </a:p>
                  </a:txBody>
                  <a:tcPr/>
                </a:tc>
              </a:tr>
            </a:tbl>
          </a:graphicData>
        </a:graphic>
      </p:graphicFrame>
      <p:sp>
        <p:nvSpPr>
          <p:cNvPr id="5" name="TextBox 4"/>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18241B"/>
                </a:solidFill>
                <a:latin typeface="Georgia"/>
              </a:rPr>
              <a:t>Where tech fits in the season</a:t>
            </a:r>
          </a:p>
        </p:txBody>
      </p:sp>
      <p:graphicFrame>
        <p:nvGraphicFramePr>
          <p:cNvPr id="4" name="Table 3"/>
          <p:cNvGraphicFramePr>
            <a:graphicFrameLocks noGrp="1"/>
          </p:cNvGraphicFramePr>
          <p:nvPr/>
        </p:nvGraphicFramePr>
        <p:xfrm>
          <a:off x="731520" y="1645920"/>
          <a:ext cx="10728655" cy="4389120"/>
        </p:xfrm>
        <a:graphic>
          <a:graphicData uri="http://schemas.openxmlformats.org/drawingml/2006/table">
            <a:tbl>
              <a:tblPr firstRow="1" bandRow="1">
                <a:tableStyleId>{5C22544A-7EE6-4342-B048-85BDC9FD1C3A}</a:tableStyleId>
              </a:tblPr>
              <a:tblGrid>
                <a:gridCol w="2011680"/>
                <a:gridCol w="2194560"/>
                <a:gridCol w="2011680"/>
                <a:gridCol w="2377440"/>
                <a:gridCol w="2133295"/>
              </a:tblGrid>
              <a:tr h="487680">
                <a:tc>
                  <a:txBody>
                    <a:bodyPr/>
                    <a:lstStyle/>
                    <a:p>
                      <a:r>
                        <a:rPr b="1" sz="1200">
                          <a:solidFill>
                            <a:srgbClr val="18241B"/>
                          </a:solidFill>
                        </a:rPr>
                        <a:t>Stage</a:t>
                      </a:r>
                    </a:p>
                  </a:txBody>
                  <a:tcPr>
                    <a:solidFill>
                      <a:srgbClr val="F0EDE4"/>
                    </a:solidFill>
                  </a:tcPr>
                </a:tc>
                <a:tc>
                  <a:txBody>
                    <a:bodyPr/>
                    <a:lstStyle/>
                    <a:p>
                      <a:r>
                        <a:rPr b="1" sz="1200">
                          <a:solidFill>
                            <a:srgbClr val="18241B"/>
                          </a:solidFill>
                        </a:rPr>
                        <a:t>Decision</a:t>
                      </a:r>
                    </a:p>
                  </a:txBody>
                  <a:tcPr>
                    <a:solidFill>
                      <a:srgbClr val="F0EDE4"/>
                    </a:solidFill>
                  </a:tcPr>
                </a:tc>
                <a:tc>
                  <a:txBody>
                    <a:bodyPr/>
                    <a:lstStyle/>
                    <a:p>
                      <a:r>
                        <a:rPr b="1" sz="1200">
                          <a:solidFill>
                            <a:srgbClr val="18241B"/>
                          </a:solidFill>
                        </a:rPr>
                        <a:t>Measure</a:t>
                      </a:r>
                    </a:p>
                  </a:txBody>
                  <a:tcPr>
                    <a:solidFill>
                      <a:srgbClr val="F0EDE4"/>
                    </a:solidFill>
                  </a:tcPr>
                </a:tc>
                <a:tc>
                  <a:txBody>
                    <a:bodyPr/>
                    <a:lstStyle/>
                    <a:p>
                      <a:r>
                        <a:rPr b="1" sz="1200">
                          <a:solidFill>
                            <a:srgbClr val="18241B"/>
                          </a:solidFill>
                        </a:rPr>
                        <a:t>Low-cost option</a:t>
                      </a:r>
                    </a:p>
                  </a:txBody>
                  <a:tcPr>
                    <a:solidFill>
                      <a:srgbClr val="F0EDE4"/>
                    </a:solidFill>
                  </a:tcPr>
                </a:tc>
                <a:tc>
                  <a:txBody>
                    <a:bodyPr/>
                    <a:lstStyle/>
                    <a:p>
                      <a:r>
                        <a:rPr b="1" sz="1200">
                          <a:solidFill>
                            <a:srgbClr val="18241B"/>
                          </a:solidFill>
                        </a:rPr>
                        <a:t>Upgrade</a:t>
                      </a:r>
                    </a:p>
                  </a:txBody>
                  <a:tcPr>
                    <a:solidFill>
                      <a:srgbClr val="F0EDE4"/>
                    </a:solidFill>
                  </a:tcPr>
                </a:tc>
              </a:tr>
              <a:tr h="487680">
                <a:tc>
                  <a:txBody>
                    <a:bodyPr/>
                    <a:lstStyle/>
                    <a:p>
                      <a:r>
                        <a:rPr sz="1100" b="1">
                          <a:solidFill>
                            <a:srgbClr val="18241B"/>
                          </a:solidFill>
                        </a:rPr>
                        <a:t>Pruning (Oct)</a:t>
                      </a:r>
                    </a:p>
                  </a:txBody>
                  <a:tcPr/>
                </a:tc>
                <a:tc>
                  <a:txBody>
                    <a:bodyPr/>
                    <a:lstStyle/>
                    <a:p>
                      <a:r>
                        <a:rPr sz="1100">
                          <a:solidFill>
                            <a:srgbClr val="566658"/>
                          </a:solidFill>
                        </a:rPr>
                        <a:t>Even spray, every row covered?</a:t>
                      </a:r>
                    </a:p>
                  </a:txBody>
                  <a:tcPr/>
                </a:tc>
                <a:tc>
                  <a:txBody>
                    <a:bodyPr/>
                    <a:lstStyle/>
                    <a:p>
                      <a:r>
                        <a:rPr sz="1100">
                          <a:solidFill>
                            <a:srgbClr val="566658"/>
                          </a:solidFill>
                        </a:rPr>
                        <a:t>Tractor path</a:t>
                      </a:r>
                    </a:p>
                  </a:txBody>
                  <a:tcPr/>
                </a:tc>
                <a:tc>
                  <a:txBody>
                    <a:bodyPr/>
                    <a:lstStyle/>
                    <a:p>
                      <a:r>
                        <a:rPr sz="1100">
                          <a:solidFill>
                            <a:srgbClr val="566658"/>
                          </a:solidFill>
                        </a:rPr>
                        <a:t>Tractor GPS + camera (have)</a:t>
                      </a:r>
                    </a:p>
                  </a:txBody>
                  <a:tcPr/>
                </a:tc>
                <a:tc>
                  <a:txBody>
                    <a:bodyPr/>
                    <a:lstStyle/>
                    <a:p>
                      <a:r>
                        <a:rPr sz="1100">
                          <a:solidFill>
                            <a:srgbClr val="566658"/>
                          </a:solidFill>
                        </a:rPr>
                        <a:t>Sprayer flow log</a:t>
                      </a:r>
                    </a:p>
                  </a:txBody>
                  <a:tcPr/>
                </a:tc>
              </a:tr>
              <a:tr h="487680">
                <a:tc>
                  <a:txBody>
                    <a:bodyPr/>
                    <a:lstStyle/>
                    <a:p>
                      <a:r>
                        <a:rPr sz="1100" b="1">
                          <a:solidFill>
                            <a:srgbClr val="18241B"/>
                          </a:solidFill>
                        </a:rPr>
                        <a:t>Shoots, bloom (Nov)</a:t>
                      </a:r>
                    </a:p>
                  </a:txBody>
                  <a:tcPr/>
                </a:tc>
                <a:tc>
                  <a:txBody>
                    <a:bodyPr/>
                    <a:lstStyle/>
                    <a:p>
                      <a:r>
                        <a:rPr sz="1100">
                          <a:solidFill>
                            <a:srgbClr val="566658"/>
                          </a:solidFill>
                        </a:rPr>
                        <a:t>Shoots to keep? Disease risk?</a:t>
                      </a:r>
                    </a:p>
                  </a:txBody>
                  <a:tcPr/>
                </a:tc>
                <a:tc>
                  <a:txBody>
                    <a:bodyPr/>
                    <a:lstStyle/>
                    <a:p>
                      <a:r>
                        <a:rPr sz="1100">
                          <a:solidFill>
                            <a:srgbClr val="566658"/>
                          </a:solidFill>
                        </a:rPr>
                        <a:t>Shoot count, wetness</a:t>
                      </a:r>
                    </a:p>
                  </a:txBody>
                  <a:tcPr/>
                </a:tc>
                <a:tc>
                  <a:txBody>
                    <a:bodyPr/>
                    <a:lstStyle/>
                    <a:p>
                      <a:r>
                        <a:rPr sz="1100">
                          <a:solidFill>
                            <a:srgbClr val="566658"/>
                          </a:solidFill>
                        </a:rPr>
                        <a:t>Fyllo alerts (have)</a:t>
                      </a:r>
                    </a:p>
                  </a:txBody>
                  <a:tcPr/>
                </a:tc>
                <a:tc>
                  <a:txBody>
                    <a:bodyPr/>
                    <a:lstStyle/>
                    <a:p>
                      <a:r>
                        <a:rPr sz="1100">
                          <a:solidFill>
                            <a:srgbClr val="566658"/>
                          </a:solidFill>
                        </a:rPr>
                        <a:t>Multispectral vigour</a:t>
                      </a:r>
                    </a:p>
                  </a:txBody>
                  <a:tcPr/>
                </a:tc>
              </a:tr>
              <a:tr h="487680">
                <a:tc>
                  <a:txBody>
                    <a:bodyPr/>
                    <a:lstStyle/>
                    <a:p>
                      <a:r>
                        <a:rPr sz="1100" b="1">
                          <a:solidFill>
                            <a:srgbClr val="18241B"/>
                          </a:solidFill>
                        </a:rPr>
                        <a:t>Full bloom (Nov)</a:t>
                      </a:r>
                    </a:p>
                  </a:txBody>
                  <a:tcPr/>
                </a:tc>
                <a:tc>
                  <a:txBody>
                    <a:bodyPr/>
                    <a:lstStyle/>
                    <a:p>
                      <a:r>
                        <a:rPr sz="1100">
                          <a:solidFill>
                            <a:srgbClr val="566658"/>
                          </a:solidFill>
                        </a:rPr>
                        <a:t>How much fertiliser?</a:t>
                      </a:r>
                    </a:p>
                  </a:txBody>
                  <a:tcPr/>
                </a:tc>
                <a:tc>
                  <a:txBody>
                    <a:bodyPr/>
                    <a:lstStyle/>
                    <a:p>
                      <a:r>
                        <a:rPr sz="1100">
                          <a:solidFill>
                            <a:srgbClr val="566658"/>
                          </a:solidFill>
                        </a:rPr>
                        <a:t>Petiole nutrients</a:t>
                      </a:r>
                    </a:p>
                  </a:txBody>
                  <a:tcPr/>
                </a:tc>
                <a:tc>
                  <a:txBody>
                    <a:bodyPr/>
                    <a:lstStyle/>
                    <a:p>
                      <a:r>
                        <a:rPr sz="1100">
                          <a:solidFill>
                            <a:srgbClr val="566658"/>
                          </a:solidFill>
                        </a:rPr>
                        <a:t>Petiole lab test</a:t>
                      </a:r>
                    </a:p>
                  </a:txBody>
                  <a:tcPr/>
                </a:tc>
                <a:tc>
                  <a:txBody>
                    <a:bodyPr/>
                    <a:lstStyle/>
                    <a:p>
                      <a:r>
                        <a:rPr sz="1100">
                          <a:solidFill>
                            <a:srgbClr val="566658"/>
                          </a:solidFill>
                        </a:rPr>
                        <a:t>—</a:t>
                      </a:r>
                    </a:p>
                  </a:txBody>
                  <a:tcPr/>
                </a:tc>
              </a:tr>
              <a:tr h="487680">
                <a:tc>
                  <a:txBody>
                    <a:bodyPr/>
                    <a:lstStyle/>
                    <a:p>
                      <a:r>
                        <a:rPr sz="1100" b="1">
                          <a:solidFill>
                            <a:srgbClr val="18241B"/>
                          </a:solidFill>
                        </a:rPr>
                        <a:t>★ Berry sizing (Nov–Dec)</a:t>
                      </a:r>
                    </a:p>
                  </a:txBody>
                  <a:tcPr/>
                </a:tc>
                <a:tc>
                  <a:txBody>
                    <a:bodyPr/>
                    <a:lstStyle/>
                    <a:p>
                      <a:r>
                        <a:rPr sz="1100">
                          <a:solidFill>
                            <a:srgbClr val="566658"/>
                          </a:solidFill>
                        </a:rPr>
                        <a:t>GA3 / girdle? Which blocks?</a:t>
                      </a:r>
                    </a:p>
                  </a:txBody>
                  <a:tcPr/>
                </a:tc>
                <a:tc>
                  <a:txBody>
                    <a:bodyPr/>
                    <a:lstStyle/>
                    <a:p>
                      <a:r>
                        <a:rPr sz="1100">
                          <a:solidFill>
                            <a:srgbClr val="566658"/>
                          </a:solidFill>
                        </a:rPr>
                        <a:t>Berry diameter curve</a:t>
                      </a:r>
                    </a:p>
                  </a:txBody>
                  <a:tcPr/>
                </a:tc>
                <a:tc>
                  <a:txBody>
                    <a:bodyPr/>
                    <a:lstStyle/>
                    <a:p>
                      <a:r>
                        <a:rPr sz="1100">
                          <a:solidFill>
                            <a:srgbClr val="566658"/>
                          </a:solidFill>
                        </a:rPr>
                        <a:t>Scale card + camera</a:t>
                      </a:r>
                    </a:p>
                  </a:txBody>
                  <a:tcPr/>
                </a:tc>
                <a:tc>
                  <a:txBody>
                    <a:bodyPr/>
                    <a:lstStyle/>
                    <a:p>
                      <a:r>
                        <a:rPr sz="1100">
                          <a:solidFill>
                            <a:srgbClr val="566658"/>
                          </a:solidFill>
                        </a:rPr>
                        <a:t>Global-shutter rig</a:t>
                      </a:r>
                    </a:p>
                  </a:txBody>
                  <a:tcPr/>
                </a:tc>
              </a:tr>
              <a:tr h="487680">
                <a:tc>
                  <a:txBody>
                    <a:bodyPr/>
                    <a:lstStyle/>
                    <a:p>
                      <a:r>
                        <a:rPr sz="1100" b="1">
                          <a:solidFill>
                            <a:srgbClr val="18241B"/>
                          </a:solidFill>
                        </a:rPr>
                        <a:t>Berry growth (Dec–Jan)</a:t>
                      </a:r>
                    </a:p>
                  </a:txBody>
                  <a:tcPr/>
                </a:tc>
                <a:tc>
                  <a:txBody>
                    <a:bodyPr/>
                    <a:lstStyle/>
                    <a:p>
                      <a:r>
                        <a:rPr sz="1100">
                          <a:solidFill>
                            <a:srgbClr val="566658"/>
                          </a:solidFill>
                        </a:rPr>
                        <a:t>Crop load, thinning, yield</a:t>
                      </a:r>
                    </a:p>
                  </a:txBody>
                  <a:tcPr/>
                </a:tc>
                <a:tc>
                  <a:txBody>
                    <a:bodyPr/>
                    <a:lstStyle/>
                    <a:p>
                      <a:r>
                        <a:rPr sz="1100">
                          <a:solidFill>
                            <a:srgbClr val="566658"/>
                          </a:solidFill>
                        </a:rPr>
                        <a:t>Bunches per vine</a:t>
                      </a:r>
                    </a:p>
                  </a:txBody>
                  <a:tcPr/>
                </a:tc>
                <a:tc>
                  <a:txBody>
                    <a:bodyPr/>
                    <a:lstStyle/>
                    <a:p>
                      <a:r>
                        <a:rPr sz="1100">
                          <a:solidFill>
                            <a:srgbClr val="566658"/>
                          </a:solidFill>
                        </a:rPr>
                        <a:t>Action-camera pod</a:t>
                      </a:r>
                    </a:p>
                  </a:txBody>
                  <a:tcPr/>
                </a:tc>
                <a:tc>
                  <a:txBody>
                    <a:bodyPr/>
                    <a:lstStyle/>
                    <a:p>
                      <a:r>
                        <a:rPr sz="1100">
                          <a:solidFill>
                            <a:srgbClr val="566658"/>
                          </a:solidFill>
                        </a:rPr>
                        <a:t>Depth camera</a:t>
                      </a:r>
                    </a:p>
                  </a:txBody>
                  <a:tcPr/>
                </a:tc>
              </a:tr>
              <a:tr h="487680">
                <a:tc>
                  <a:txBody>
                    <a:bodyPr/>
                    <a:lstStyle/>
                    <a:p>
                      <a:r>
                        <a:rPr sz="1100" b="1">
                          <a:solidFill>
                            <a:srgbClr val="18241B"/>
                          </a:solidFill>
                        </a:rPr>
                        <a:t>Ripening (Feb)</a:t>
                      </a:r>
                    </a:p>
                  </a:txBody>
                  <a:tcPr/>
                </a:tc>
                <a:tc>
                  <a:txBody>
                    <a:bodyPr/>
                    <a:lstStyle/>
                    <a:p>
                      <a:r>
                        <a:rPr sz="1100">
                          <a:solidFill>
                            <a:srgbClr val="566658"/>
                          </a:solidFill>
                        </a:rPr>
                        <a:t>Pick order by row?</a:t>
                      </a:r>
                    </a:p>
                  </a:txBody>
                  <a:tcPr/>
                </a:tc>
                <a:tc>
                  <a:txBody>
                    <a:bodyPr/>
                    <a:lstStyle/>
                    <a:p>
                      <a:r>
                        <a:rPr sz="1100">
                          <a:solidFill>
                            <a:srgbClr val="566658"/>
                          </a:solidFill>
                        </a:rPr>
                        <a:t>°Brix trend</a:t>
                      </a:r>
                    </a:p>
                  </a:txBody>
                  <a:tcPr/>
                </a:tc>
                <a:tc>
                  <a:txBody>
                    <a:bodyPr/>
                    <a:lstStyle/>
                    <a:p>
                      <a:r>
                        <a:rPr sz="1100">
                          <a:solidFill>
                            <a:srgbClr val="566658"/>
                          </a:solidFill>
                        </a:rPr>
                        <a:t>Refractometer, tagged vines</a:t>
                      </a:r>
                    </a:p>
                  </a:txBody>
                  <a:tcPr/>
                </a:tc>
                <a:tc>
                  <a:txBody>
                    <a:bodyPr/>
                    <a:lstStyle/>
                    <a:p>
                      <a:r>
                        <a:rPr sz="1100">
                          <a:solidFill>
                            <a:srgbClr val="566658"/>
                          </a:solidFill>
                        </a:rPr>
                        <a:t>Handheld NIR meter</a:t>
                      </a:r>
                    </a:p>
                  </a:txBody>
                  <a:tcPr/>
                </a:tc>
              </a:tr>
              <a:tr h="487680">
                <a:tc>
                  <a:txBody>
                    <a:bodyPr/>
                    <a:lstStyle/>
                    <a:p>
                      <a:r>
                        <a:rPr sz="1100" b="1">
                          <a:solidFill>
                            <a:srgbClr val="18241B"/>
                          </a:solidFill>
                        </a:rPr>
                        <a:t>Harvest (Mar)</a:t>
                      </a:r>
                    </a:p>
                  </a:txBody>
                  <a:tcPr/>
                </a:tc>
                <a:tc>
                  <a:txBody>
                    <a:bodyPr/>
                    <a:lstStyle/>
                    <a:p>
                      <a:r>
                        <a:rPr sz="1100">
                          <a:solidFill>
                            <a:srgbClr val="566658"/>
                          </a:solidFill>
                        </a:rPr>
                        <a:t>Pick date, labour, theft</a:t>
                      </a:r>
                    </a:p>
                  </a:txBody>
                  <a:tcPr/>
                </a:tc>
                <a:tc>
                  <a:txBody>
                    <a:bodyPr/>
                    <a:lstStyle/>
                    <a:p>
                      <a:r>
                        <a:rPr sz="1100">
                          <a:solidFill>
                            <a:srgbClr val="566658"/>
                          </a:solidFill>
                        </a:rPr>
                        <a:t>Brix, crates per row</a:t>
                      </a:r>
                    </a:p>
                  </a:txBody>
                  <a:tcPr/>
                </a:tc>
                <a:tc>
                  <a:txBody>
                    <a:bodyPr/>
                    <a:lstStyle/>
                    <a:p>
                      <a:r>
                        <a:rPr sz="1100">
                          <a:solidFill>
                            <a:srgbClr val="566658"/>
                          </a:solidFill>
                        </a:rPr>
                        <a:t>Crate log + CCTV</a:t>
                      </a:r>
                    </a:p>
                  </a:txBody>
                  <a:tcPr/>
                </a:tc>
                <a:tc>
                  <a:txBody>
                    <a:bodyPr/>
                    <a:lstStyle/>
                    <a:p>
                      <a:r>
                        <a:rPr sz="1100">
                          <a:solidFill>
                            <a:srgbClr val="566658"/>
                          </a:solidFill>
                        </a:rPr>
                        <a:t>AI person alerts</a:t>
                      </a:r>
                    </a:p>
                  </a:txBody>
                  <a:tcPr/>
                </a:tc>
              </a:tr>
              <a:tr h="487680">
                <a:tc>
                  <a:txBody>
                    <a:bodyPr/>
                    <a:lstStyle/>
                    <a:p>
                      <a:r>
                        <a:rPr sz="1100" b="1">
                          <a:solidFill>
                            <a:srgbClr val="18241B"/>
                          </a:solidFill>
                        </a:rPr>
                        <a:t>Drying (Mar–Apr)</a:t>
                      </a:r>
                    </a:p>
                  </a:txBody>
                  <a:tcPr/>
                </a:tc>
                <a:tc>
                  <a:txBody>
                    <a:bodyPr/>
                    <a:lstStyle/>
                    <a:p>
                      <a:r>
                        <a:rPr sz="1100">
                          <a:solidFill>
                            <a:srgbClr val="566658"/>
                          </a:solidFill>
                        </a:rPr>
                        <a:t>Turn, vent, done?</a:t>
                      </a:r>
                    </a:p>
                  </a:txBody>
                  <a:tcPr/>
                </a:tc>
                <a:tc>
                  <a:txBody>
                    <a:bodyPr/>
                    <a:lstStyle/>
                    <a:p>
                      <a:r>
                        <a:rPr sz="1100">
                          <a:solidFill>
                            <a:srgbClr val="566658"/>
                          </a:solidFill>
                        </a:rPr>
                        <a:t>Temp, humidity, weight</a:t>
                      </a:r>
                    </a:p>
                  </a:txBody>
                  <a:tcPr/>
                </a:tc>
                <a:tc>
                  <a:txBody>
                    <a:bodyPr/>
                    <a:lstStyle/>
                    <a:p>
                      <a:r>
                        <a:rPr sz="1100">
                          <a:solidFill>
                            <a:srgbClr val="566658"/>
                          </a:solidFill>
                        </a:rPr>
                        <a:t>Shed sensors</a:t>
                      </a:r>
                    </a:p>
                  </a:txBody>
                  <a:tcPr/>
                </a:tc>
                <a:tc>
                  <a:txBody>
                    <a:bodyPr/>
                    <a:lstStyle/>
                    <a:p>
                      <a:r>
                        <a:rPr sz="1100">
                          <a:solidFill>
                            <a:srgbClr val="566658"/>
                          </a:solidFill>
                        </a:rPr>
                        <a:t>Colour camera</a:t>
                      </a:r>
                    </a:p>
                  </a:txBody>
                  <a:tcPr/>
                </a:tc>
              </a:tr>
            </a:tbl>
          </a:graphicData>
        </a:graphic>
      </p:graphicFrame>
      <p:sp>
        <p:nvSpPr>
          <p:cNvPr id="5" name="TextBox 4"/>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18241B"/>
                </a:solidFill>
                <a:latin typeface="Georgia"/>
              </a:rPr>
              <a:t>Berry-sizing window options</a:t>
            </a:r>
          </a:p>
        </p:txBody>
      </p:sp>
      <p:graphicFrame>
        <p:nvGraphicFramePr>
          <p:cNvPr id="4" name="Table 3"/>
          <p:cNvGraphicFramePr>
            <a:graphicFrameLocks noGrp="1"/>
          </p:cNvGraphicFramePr>
          <p:nvPr/>
        </p:nvGraphicFramePr>
        <p:xfrm>
          <a:off x="731520" y="1645920"/>
          <a:ext cx="10728655" cy="3291840"/>
        </p:xfrm>
        <a:graphic>
          <a:graphicData uri="http://schemas.openxmlformats.org/drawingml/2006/table">
            <a:tbl>
              <a:tblPr firstRow="1" bandRow="1">
                <a:tableStyleId>{5C22544A-7EE6-4342-B048-85BDC9FD1C3A}</a:tableStyleId>
              </a:tblPr>
              <a:tblGrid>
                <a:gridCol w="2194560"/>
                <a:gridCol w="3474720"/>
                <a:gridCol w="2377440"/>
                <a:gridCol w="2681935"/>
              </a:tblGrid>
              <a:tr h="470262">
                <a:tc>
                  <a:txBody>
                    <a:bodyPr/>
                    <a:lstStyle/>
                    <a:p>
                      <a:r>
                        <a:rPr b="1" sz="1200">
                          <a:solidFill>
                            <a:srgbClr val="18241B"/>
                          </a:solidFill>
                        </a:rPr>
                        <a:t>Option</a:t>
                      </a:r>
                    </a:p>
                  </a:txBody>
                  <a:tcPr>
                    <a:solidFill>
                      <a:srgbClr val="F0EDE4"/>
                    </a:solidFill>
                  </a:tcPr>
                </a:tc>
                <a:tc>
                  <a:txBody>
                    <a:bodyPr/>
                    <a:lstStyle/>
                    <a:p>
                      <a:r>
                        <a:rPr b="1" sz="1200">
                          <a:solidFill>
                            <a:srgbClr val="18241B"/>
                          </a:solidFill>
                        </a:rPr>
                        <a:t>Effect</a:t>
                      </a:r>
                    </a:p>
                  </a:txBody>
                  <a:tcPr>
                    <a:solidFill>
                      <a:srgbClr val="F0EDE4"/>
                    </a:solidFill>
                  </a:tcPr>
                </a:tc>
                <a:tc>
                  <a:txBody>
                    <a:bodyPr/>
                    <a:lstStyle/>
                    <a:p>
                      <a:r>
                        <a:rPr b="1" sz="1200">
                          <a:solidFill>
                            <a:srgbClr val="18241B"/>
                          </a:solidFill>
                        </a:rPr>
                        <a:t>Timing</a:t>
                      </a:r>
                    </a:p>
                  </a:txBody>
                  <a:tcPr>
                    <a:solidFill>
                      <a:srgbClr val="F0EDE4"/>
                    </a:solidFill>
                  </a:tcPr>
                </a:tc>
                <a:tc>
                  <a:txBody>
                    <a:bodyPr/>
                    <a:lstStyle/>
                    <a:p>
                      <a:r>
                        <a:rPr b="1" sz="1200">
                          <a:solidFill>
                            <a:srgbClr val="18241B"/>
                          </a:solidFill>
                        </a:rPr>
                        <a:t>Cost / Risk</a:t>
                      </a:r>
                    </a:p>
                  </a:txBody>
                  <a:tcPr>
                    <a:solidFill>
                      <a:srgbClr val="F0EDE4"/>
                    </a:solidFill>
                  </a:tcPr>
                </a:tc>
              </a:tr>
              <a:tr h="470262">
                <a:tc>
                  <a:txBody>
                    <a:bodyPr/>
                    <a:lstStyle/>
                    <a:p>
                      <a:r>
                        <a:rPr sz="1100" b="1">
                          <a:solidFill>
                            <a:srgbClr val="18241B"/>
                          </a:solidFill>
                        </a:rPr>
                        <a:t>GA3 sprays</a:t>
                      </a:r>
                    </a:p>
                  </a:txBody>
                  <a:tcPr/>
                </a:tc>
                <a:tc>
                  <a:txBody>
                    <a:bodyPr/>
                    <a:lstStyle/>
                    <a:p>
                      <a:r>
                        <a:rPr sz="1100">
                          <a:solidFill>
                            <a:srgbClr val="566658"/>
                          </a:solidFill>
                        </a:rPr>
                        <a:t>Standard practice for bigger berries</a:t>
                      </a:r>
                    </a:p>
                  </a:txBody>
                  <a:tcPr/>
                </a:tc>
                <a:tc>
                  <a:txBody>
                    <a:bodyPr/>
                    <a:lstStyle/>
                    <a:p>
                      <a:r>
                        <a:rPr sz="1100">
                          <a:solidFill>
                            <a:srgbClr val="566658"/>
                          </a:solidFill>
                        </a:rPr>
                        <a:t>Berry set, ~3–5 mm</a:t>
                      </a:r>
                    </a:p>
                  </a:txBody>
                  <a:tcPr/>
                </a:tc>
                <a:tc>
                  <a:txBody>
                    <a:bodyPr/>
                    <a:lstStyle/>
                    <a:p>
                      <a:r>
                        <a:rPr sz="1100">
                          <a:solidFill>
                            <a:srgbClr val="566658"/>
                          </a:solidFill>
                        </a:rPr>
                        <a:t>Late sprays give less return</a:t>
                      </a:r>
                    </a:p>
                  </a:txBody>
                  <a:tcPr/>
                </a:tc>
              </a:tr>
              <a:tr h="470262">
                <a:tc>
                  <a:txBody>
                    <a:bodyPr/>
                    <a:lstStyle/>
                    <a:p>
                      <a:r>
                        <a:rPr sz="1100" b="1">
                          <a:solidFill>
                            <a:srgbClr val="18241B"/>
                          </a:solidFill>
                        </a:rPr>
                        <a:t>GA3 + CPPU</a:t>
                      </a:r>
                    </a:p>
                  </a:txBody>
                  <a:tcPr/>
                </a:tc>
                <a:tc>
                  <a:txBody>
                    <a:bodyPr/>
                    <a:lstStyle/>
                    <a:p>
                      <a:r>
                        <a:rPr sz="1100">
                          <a:solidFill>
                            <a:srgbClr val="566658"/>
                          </a:solidFill>
                        </a:rPr>
                        <a:t>+5–20% berry size on Thompson Seedless</a:t>
                      </a:r>
                    </a:p>
                  </a:txBody>
                  <a:tcPr/>
                </a:tc>
                <a:tc>
                  <a:txBody>
                    <a:bodyPr/>
                    <a:lstStyle/>
                    <a:p>
                      <a:r>
                        <a:rPr sz="1100">
                          <a:solidFill>
                            <a:srgbClr val="566658"/>
                          </a:solidFill>
                        </a:rPr>
                        <a:t>Same window</a:t>
                      </a:r>
                    </a:p>
                  </a:txBody>
                  <a:tcPr/>
                </a:tc>
                <a:tc>
                  <a:txBody>
                    <a:bodyPr/>
                    <a:lstStyle/>
                    <a:p>
                      <a:r>
                        <a:rPr sz="1100">
                          <a:solidFill>
                            <a:srgbClr val="566658"/>
                          </a:solidFill>
                        </a:rPr>
                        <a:t>High dose can delay ripening ~3 weeks</a:t>
                      </a:r>
                    </a:p>
                  </a:txBody>
                  <a:tcPr/>
                </a:tc>
              </a:tr>
              <a:tr h="470262">
                <a:tc>
                  <a:txBody>
                    <a:bodyPr/>
                    <a:lstStyle/>
                    <a:p>
                      <a:r>
                        <a:rPr sz="1100" b="1">
                          <a:solidFill>
                            <a:srgbClr val="18241B"/>
                          </a:solidFill>
                        </a:rPr>
                        <a:t>Girdling</a:t>
                      </a:r>
                    </a:p>
                  </a:txBody>
                  <a:tcPr/>
                </a:tc>
                <a:tc>
                  <a:txBody>
                    <a:bodyPr/>
                    <a:lstStyle/>
                    <a:p>
                      <a:r>
                        <a:rPr sz="1100">
                          <a:solidFill>
                            <a:srgbClr val="566658"/>
                          </a:solidFill>
                        </a:rPr>
                        <a:t>+10–30% berry weight, no chemical</a:t>
                      </a:r>
                    </a:p>
                  </a:txBody>
                  <a:tcPr/>
                </a:tc>
                <a:tc>
                  <a:txBody>
                    <a:bodyPr/>
                    <a:lstStyle/>
                    <a:p>
                      <a:r>
                        <a:rPr sz="1100">
                          <a:solidFill>
                            <a:srgbClr val="566658"/>
                          </a:solidFill>
                        </a:rPr>
                        <a:t>From ~3 mm, done by 6–8 mm</a:t>
                      </a:r>
                    </a:p>
                  </a:txBody>
                  <a:tcPr/>
                </a:tc>
                <a:tc>
                  <a:txBody>
                    <a:bodyPr/>
                    <a:lstStyle/>
                    <a:p>
                      <a:r>
                        <a:rPr sz="1100">
                          <a:solidFill>
                            <a:srgbClr val="566658"/>
                          </a:solidFill>
                        </a:rPr>
                        <a:t>Labour intensive; can kill cane if done badly</a:t>
                      </a:r>
                    </a:p>
                  </a:txBody>
                  <a:tcPr/>
                </a:tc>
              </a:tr>
              <a:tr h="470262">
                <a:tc>
                  <a:txBody>
                    <a:bodyPr/>
                    <a:lstStyle/>
                    <a:p>
                      <a:r>
                        <a:rPr sz="1100" b="1">
                          <a:solidFill>
                            <a:srgbClr val="18241B"/>
                          </a:solidFill>
                        </a:rPr>
                        <a:t>Thinning</a:t>
                      </a:r>
                    </a:p>
                  </a:txBody>
                  <a:tcPr/>
                </a:tc>
                <a:tc>
                  <a:txBody>
                    <a:bodyPr/>
                    <a:lstStyle/>
                    <a:p>
                      <a:r>
                        <a:rPr sz="1100">
                          <a:solidFill>
                            <a:srgbClr val="566658"/>
                          </a:solidFill>
                        </a:rPr>
                        <a:t>Fewer berries, each bigger and sweeter</a:t>
                      </a:r>
                    </a:p>
                  </a:txBody>
                  <a:tcPr/>
                </a:tc>
                <a:tc>
                  <a:txBody>
                    <a:bodyPr/>
                    <a:lstStyle/>
                    <a:p>
                      <a:r>
                        <a:rPr sz="1100">
                          <a:solidFill>
                            <a:srgbClr val="566658"/>
                          </a:solidFill>
                        </a:rPr>
                        <a:t>Early berry set</a:t>
                      </a:r>
                    </a:p>
                  </a:txBody>
                  <a:tcPr/>
                </a:tc>
                <a:tc>
                  <a:txBody>
                    <a:bodyPr/>
                    <a:lstStyle/>
                    <a:p>
                      <a:r>
                        <a:rPr sz="1100">
                          <a:solidFill>
                            <a:srgbClr val="566658"/>
                          </a:solidFill>
                        </a:rPr>
                        <a:t>High manual labour requirement</a:t>
                      </a:r>
                    </a:p>
                  </a:txBody>
                  <a:tcPr/>
                </a:tc>
              </a:tr>
              <a:tr h="470262">
                <a:tc>
                  <a:txBody>
                    <a:bodyPr/>
                    <a:lstStyle/>
                    <a:p>
                      <a:r>
                        <a:rPr sz="1100" b="1">
                          <a:solidFill>
                            <a:srgbClr val="18241B"/>
                          </a:solidFill>
                        </a:rPr>
                        <a:t>Water</a:t>
                      </a:r>
                    </a:p>
                  </a:txBody>
                  <a:tcPr/>
                </a:tc>
                <a:tc>
                  <a:txBody>
                    <a:bodyPr/>
                    <a:lstStyle/>
                    <a:p>
                      <a:r>
                        <a:rPr sz="1100">
                          <a:solidFill>
                            <a:srgbClr val="566658"/>
                          </a:solidFill>
                        </a:rPr>
                        <a:t>Stress now permanently limits berry size</a:t>
                      </a:r>
                    </a:p>
                  </a:txBody>
                  <a:tcPr/>
                </a:tc>
                <a:tc>
                  <a:txBody>
                    <a:bodyPr/>
                    <a:lstStyle/>
                    <a:p>
                      <a:r>
                        <a:rPr sz="1100">
                          <a:solidFill>
                            <a:srgbClr val="566658"/>
                          </a:solidFill>
                        </a:rPr>
                        <a:t>Whole sizing phase</a:t>
                      </a:r>
                    </a:p>
                  </a:txBody>
                  <a:tcPr/>
                </a:tc>
                <a:tc>
                  <a:txBody>
                    <a:bodyPr/>
                    <a:lstStyle/>
                    <a:p>
                      <a:r>
                        <a:rPr sz="1100">
                          <a:solidFill>
                            <a:srgbClr val="566658"/>
                          </a:solidFill>
                        </a:rPr>
                        <a:t>Fyllo soil tension sensors (have)</a:t>
                      </a:r>
                    </a:p>
                  </a:txBody>
                  <a:tcPr/>
                </a:tc>
              </a:tr>
              <a:tr h="470268">
                <a:tc>
                  <a:txBody>
                    <a:bodyPr/>
                    <a:lstStyle/>
                    <a:p>
                      <a:r>
                        <a:rPr sz="1100" b="1">
                          <a:solidFill>
                            <a:srgbClr val="18241B"/>
                          </a:solidFill>
                        </a:rPr>
                        <a:t>Fertiliser</a:t>
                      </a:r>
                    </a:p>
                  </a:txBody>
                  <a:tcPr/>
                </a:tc>
                <a:tc>
                  <a:txBody>
                    <a:bodyPr/>
                    <a:lstStyle/>
                    <a:p>
                      <a:r>
                        <a:rPr sz="1100">
                          <a:solidFill>
                            <a:srgbClr val="566658"/>
                          </a:solidFill>
                        </a:rPr>
                        <a:t>Dose potash guided by petiole test (NHB)</a:t>
                      </a:r>
                    </a:p>
                  </a:txBody>
                  <a:tcPr/>
                </a:tc>
                <a:tc>
                  <a:txBody>
                    <a:bodyPr/>
                    <a:lstStyle/>
                    <a:p>
                      <a:r>
                        <a:rPr sz="1100">
                          <a:solidFill>
                            <a:srgbClr val="566658"/>
                          </a:solidFill>
                        </a:rPr>
                        <a:t>Full bloom</a:t>
                      </a:r>
                    </a:p>
                  </a:txBody>
                  <a:tcPr/>
                </a:tc>
                <a:tc>
                  <a:txBody>
                    <a:bodyPr/>
                    <a:lstStyle/>
                    <a:p>
                      <a:r>
                        <a:rPr sz="1100">
                          <a:solidFill>
                            <a:srgbClr val="566658"/>
                          </a:solidFill>
                        </a:rPr>
                        <a:t>Lab test cost &lt; one wasted dose</a:t>
                      </a:r>
                    </a:p>
                  </a:txBody>
                  <a:tcPr/>
                </a:tc>
              </a:tr>
            </a:tbl>
          </a:graphicData>
        </a:graphic>
      </p:graphicFrame>
      <p:sp>
        <p:nvSpPr>
          <p:cNvPr id="5" name="Rounded Rectangle 4"/>
          <p:cNvSpPr/>
          <p:nvPr/>
        </p:nvSpPr>
        <p:spPr>
          <a:xfrm>
            <a:off x="731520" y="5120640"/>
            <a:ext cx="10728655" cy="10058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257800"/>
            <a:ext cx="10332720" cy="731520"/>
          </a:xfrm>
          <a:prstGeom prst="rect">
            <a:avLst/>
          </a:prstGeom>
          <a:noFill/>
        </p:spPr>
        <p:txBody>
          <a:bodyPr wrap="square">
            <a:spAutoFit/>
          </a:bodyPr>
          <a:lstStyle/>
          <a:p>
            <a:r>
              <a:rPr b="1" sz="1400">
                <a:solidFill>
                  <a:srgbClr val="C27E22"/>
                </a:solidFill>
              </a:rPr>
              <a:t>Tech's job here: </a:t>
            </a:r>
            <a:r>
              <a:rPr sz="1300">
                <a:solidFill>
                  <a:srgbClr val="18241B"/>
                </a:solidFill>
              </a:rPr>
              <a:t>Measure berry diameter growth curves per block row-by-row, so growth regulator sprays and girdling are applied only to lagging blocks while still inside the narrow physiological sizing window.</a:t>
            </a:r>
          </a:p>
        </p:txBody>
      </p:sp>
      <p:sp>
        <p:nvSpPr>
          <p:cNvPr id="7" name="TextBox 6"/>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18241B"/>
                </a:solidFill>
                <a:latin typeface="Georgia"/>
              </a:rPr>
              <a:t>How data flows: five layers</a:t>
            </a:r>
          </a:p>
        </p:txBody>
      </p:sp>
      <p:sp>
        <p:nvSpPr>
          <p:cNvPr id="4" name="Rounded Rectangle 3"/>
          <p:cNvSpPr/>
          <p:nvPr/>
        </p:nvSpPr>
        <p:spPr>
          <a:xfrm>
            <a:off x="731520" y="1645920"/>
            <a:ext cx="2057400" cy="32918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1783080" cy="2926080"/>
          </a:xfrm>
          <a:prstGeom prst="rect">
            <a:avLst/>
          </a:prstGeom>
          <a:noFill/>
        </p:spPr>
        <p:txBody>
          <a:bodyPr wrap="square">
            <a:spAutoFit/>
          </a:bodyPr>
          <a:lstStyle/>
          <a:p>
            <a:pPr>
              <a:spcAft>
                <a:spcPts val="800"/>
              </a:spcAft>
            </a:pPr>
            <a:r>
              <a:rPr sz="1600" b="1">
                <a:solidFill>
                  <a:srgbClr val="4E7A3A"/>
                </a:solidFill>
              </a:rPr>
              <a:t>1. Capture</a:t>
            </a:r>
          </a:p>
          <a:p>
            <a:r>
              <a:rPr sz="1150">
                <a:solidFill>
                  <a:srgbClr val="566658"/>
                </a:solidFill>
              </a:rPr>
              <a:t>• Action-camera pod</a:t>
            </a:r>
          </a:p>
          <a:p>
            <a:r>
              <a:rPr sz="1150">
                <a:solidFill>
                  <a:srgbClr val="566658"/>
                </a:solidFill>
              </a:rPr>
              <a:t>• Fyllo station</a:t>
            </a:r>
          </a:p>
          <a:p>
            <a:r>
              <a:rPr sz="1150">
                <a:solidFill>
                  <a:srgbClr val="566658"/>
                </a:solidFill>
              </a:rPr>
              <a:t>• CCTV cameras</a:t>
            </a:r>
          </a:p>
          <a:p>
            <a:r>
              <a:rPr sz="1150">
                <a:solidFill>
                  <a:srgbClr val="566658"/>
                </a:solidFill>
              </a:rPr>
              <a:t>• Shed sensors</a:t>
            </a:r>
          </a:p>
          <a:p>
            <a:r>
              <a:rPr sz="1150">
                <a:solidFill>
                  <a:srgbClr val="566658"/>
                </a:solidFill>
              </a:rPr>
              <a:t>• Refractometer</a:t>
            </a:r>
          </a:p>
        </p:txBody>
      </p:sp>
      <p:sp>
        <p:nvSpPr>
          <p:cNvPr id="6" name="Rounded Rectangle 5"/>
          <p:cNvSpPr/>
          <p:nvPr/>
        </p:nvSpPr>
        <p:spPr>
          <a:xfrm>
            <a:off x="2907791" y="1645920"/>
            <a:ext cx="2057400" cy="32918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44951" y="1828800"/>
            <a:ext cx="1783080" cy="2926080"/>
          </a:xfrm>
          <a:prstGeom prst="rect">
            <a:avLst/>
          </a:prstGeom>
          <a:noFill/>
        </p:spPr>
        <p:txBody>
          <a:bodyPr wrap="square">
            <a:spAutoFit/>
          </a:bodyPr>
          <a:lstStyle/>
          <a:p>
            <a:pPr>
              <a:spcAft>
                <a:spcPts val="800"/>
              </a:spcAft>
            </a:pPr>
            <a:r>
              <a:rPr sz="1600" b="1">
                <a:solidFill>
                  <a:srgbClr val="4E7A3A"/>
                </a:solidFill>
              </a:rPr>
              <a:t>2. Identify</a:t>
            </a:r>
          </a:p>
          <a:p>
            <a:r>
              <a:rPr sz="1150">
                <a:solidFill>
                  <a:srgbClr val="566658"/>
                </a:solidFill>
              </a:rPr>
              <a:t>• Row-end number boards</a:t>
            </a:r>
          </a:p>
          <a:p>
            <a:r>
              <a:rPr sz="1150">
                <a:solidFill>
                  <a:srgbClr val="566658"/>
                </a:solidFill>
              </a:rPr>
              <a:t>• Trunk counting</a:t>
            </a:r>
          </a:p>
          <a:p>
            <a:r>
              <a:rPr sz="1150">
                <a:solidFill>
                  <a:srgbClr val="566658"/>
                </a:solidFill>
              </a:rPr>
              <a:t>• Date + GPS stamps</a:t>
            </a:r>
          </a:p>
          <a:p>
            <a:r>
              <a:rPr sz="1150">
                <a:solidFill>
                  <a:srgbClr val="566658"/>
                </a:solidFill>
              </a:rPr>
              <a:t>• Canopy flank ID</a:t>
            </a:r>
          </a:p>
          <a:p>
            <a:r>
              <a:rPr sz="1150">
                <a:solidFill>
                  <a:srgbClr val="566658"/>
                </a:solidFill>
              </a:rPr>
              <a:t>• Unique vine tags</a:t>
            </a:r>
          </a:p>
        </p:txBody>
      </p:sp>
      <p:sp>
        <p:nvSpPr>
          <p:cNvPr id="8" name="Rounded Rectangle 7"/>
          <p:cNvSpPr/>
          <p:nvPr/>
        </p:nvSpPr>
        <p:spPr>
          <a:xfrm>
            <a:off x="5084064" y="1645920"/>
            <a:ext cx="2057400" cy="32918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21224" y="1828800"/>
            <a:ext cx="1783080" cy="2926080"/>
          </a:xfrm>
          <a:prstGeom prst="rect">
            <a:avLst/>
          </a:prstGeom>
          <a:noFill/>
        </p:spPr>
        <p:txBody>
          <a:bodyPr wrap="square">
            <a:spAutoFit/>
          </a:bodyPr>
          <a:lstStyle/>
          <a:p>
            <a:pPr>
              <a:spcAft>
                <a:spcPts val="800"/>
              </a:spcAft>
            </a:pPr>
            <a:r>
              <a:rPr sz="1600" b="1">
                <a:solidFill>
                  <a:srgbClr val="4E7A3A"/>
                </a:solidFill>
              </a:rPr>
              <a:t>3. Store</a:t>
            </a:r>
          </a:p>
          <a:p>
            <a:r>
              <a:rPr sz="1150">
                <a:solidFill>
                  <a:srgbClr val="566658"/>
                </a:solidFill>
              </a:rPr>
              <a:t>• Season folders</a:t>
            </a:r>
          </a:p>
          <a:p>
            <a:r>
              <a:rPr sz="1150">
                <a:solidFill>
                  <a:srgbClr val="566658"/>
                </a:solidFill>
              </a:rPr>
              <a:t>• Phenology stage blocks</a:t>
            </a:r>
          </a:p>
          <a:p>
            <a:r>
              <a:rPr sz="1150">
                <a:solidFill>
                  <a:srgbClr val="566658"/>
                </a:solidFill>
              </a:rPr>
              <a:t>• One row per measurement</a:t>
            </a:r>
          </a:p>
          <a:p>
            <a:r>
              <a:rPr sz="1150">
                <a:solidFill>
                  <a:srgbClr val="566658"/>
                </a:solidFill>
              </a:rPr>
              <a:t>• Raw footage archive</a:t>
            </a:r>
          </a:p>
          <a:p>
            <a:r>
              <a:rPr sz="1150">
                <a:solidFill>
                  <a:srgbClr val="566658"/>
                </a:solidFill>
              </a:rPr>
              <a:t>• Sync manifest</a:t>
            </a:r>
          </a:p>
        </p:txBody>
      </p:sp>
      <p:sp>
        <p:nvSpPr>
          <p:cNvPr id="10" name="Rounded Rectangle 9"/>
          <p:cNvSpPr/>
          <p:nvPr/>
        </p:nvSpPr>
        <p:spPr>
          <a:xfrm>
            <a:off x="7260336" y="1645920"/>
            <a:ext cx="2057400" cy="32918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97496" y="1828800"/>
            <a:ext cx="1783080" cy="2926080"/>
          </a:xfrm>
          <a:prstGeom prst="rect">
            <a:avLst/>
          </a:prstGeom>
          <a:noFill/>
        </p:spPr>
        <p:txBody>
          <a:bodyPr wrap="square">
            <a:spAutoFit/>
          </a:bodyPr>
          <a:lstStyle/>
          <a:p>
            <a:pPr>
              <a:spcAft>
                <a:spcPts val="800"/>
              </a:spcAft>
            </a:pPr>
            <a:r>
              <a:rPr sz="1600" b="1">
                <a:solidFill>
                  <a:srgbClr val="4E7A3A"/>
                </a:solidFill>
              </a:rPr>
              <a:t>4. Analyse</a:t>
            </a:r>
          </a:p>
          <a:p>
            <a:r>
              <a:rPr sz="1150">
                <a:solidFill>
                  <a:srgbClr val="566658"/>
                </a:solidFill>
              </a:rPr>
              <a:t>• Bunch count AI</a:t>
            </a:r>
          </a:p>
          <a:p>
            <a:r>
              <a:rPr sz="1150">
                <a:solidFill>
                  <a:srgbClr val="566658"/>
                </a:solidFill>
              </a:rPr>
              <a:t>• Berry diameter sizing</a:t>
            </a:r>
          </a:p>
          <a:p>
            <a:r>
              <a:rPr sz="1150">
                <a:solidFill>
                  <a:srgbClr val="566658"/>
                </a:solidFill>
              </a:rPr>
              <a:t>• Vigour (NDVI / green)</a:t>
            </a:r>
          </a:p>
          <a:p>
            <a:r>
              <a:rPr sz="1150">
                <a:solidFill>
                  <a:srgbClr val="566658"/>
                </a:solidFill>
              </a:rPr>
              <a:t>• Shed drying curve</a:t>
            </a:r>
          </a:p>
          <a:p>
            <a:r>
              <a:rPr sz="1150">
                <a:solidFill>
                  <a:srgbClr val="566658"/>
                </a:solidFill>
              </a:rPr>
              <a:t>• Security person alerts</a:t>
            </a:r>
          </a:p>
        </p:txBody>
      </p:sp>
      <p:sp>
        <p:nvSpPr>
          <p:cNvPr id="12" name="Rounded Rectangle 11"/>
          <p:cNvSpPr/>
          <p:nvPr/>
        </p:nvSpPr>
        <p:spPr>
          <a:xfrm>
            <a:off x="9436608" y="1645920"/>
            <a:ext cx="2057400" cy="32918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73768" y="1828800"/>
            <a:ext cx="1783080" cy="2926080"/>
          </a:xfrm>
          <a:prstGeom prst="rect">
            <a:avLst/>
          </a:prstGeom>
          <a:noFill/>
        </p:spPr>
        <p:txBody>
          <a:bodyPr wrap="square">
            <a:spAutoFit/>
          </a:bodyPr>
          <a:lstStyle/>
          <a:p>
            <a:pPr>
              <a:spcAft>
                <a:spcPts val="800"/>
              </a:spcAft>
            </a:pPr>
            <a:r>
              <a:rPr sz="1600" b="1">
                <a:solidFill>
                  <a:srgbClr val="4E7A3A"/>
                </a:solidFill>
              </a:rPr>
              <a:t>5. Act</a:t>
            </a:r>
          </a:p>
          <a:p>
            <a:r>
              <a:rPr sz="1150">
                <a:solidFill>
                  <a:srgbClr val="566658"/>
                </a:solidFill>
              </a:rPr>
              <a:t>• Spray / irrigate by block</a:t>
            </a:r>
          </a:p>
          <a:p>
            <a:r>
              <a:rPr sz="1150">
                <a:solidFill>
                  <a:srgbClr val="566658"/>
                </a:solidFill>
              </a:rPr>
              <a:t>• Selective pick order</a:t>
            </a:r>
          </a:p>
          <a:p>
            <a:r>
              <a:rPr sz="1150">
                <a:solidFill>
                  <a:srgbClr val="566658"/>
                </a:solidFill>
              </a:rPr>
              <a:t>• Shed ventilation alerts</a:t>
            </a:r>
          </a:p>
          <a:p>
            <a:r>
              <a:rPr sz="1150">
                <a:solidFill>
                  <a:srgbClr val="566658"/>
                </a:solidFill>
              </a:rPr>
              <a:t>• Weekly grower report</a:t>
            </a:r>
          </a:p>
          <a:p>
            <a:r>
              <a:rPr sz="1150">
                <a:solidFill>
                  <a:srgbClr val="566658"/>
                </a:solidFill>
              </a:rPr>
              <a:t>• Post-season review</a:t>
            </a:r>
          </a:p>
        </p:txBody>
      </p:sp>
      <p:sp>
        <p:nvSpPr>
          <p:cNvPr id="14" name="Rounded Rectangle 13"/>
          <p:cNvSpPr/>
          <p:nvPr/>
        </p:nvSpPr>
        <p:spPr>
          <a:xfrm>
            <a:off x="731520" y="5120640"/>
            <a:ext cx="10728655" cy="10058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257800"/>
            <a:ext cx="10332720" cy="731520"/>
          </a:xfrm>
          <a:prstGeom prst="rect">
            <a:avLst/>
          </a:prstGeom>
          <a:noFill/>
        </p:spPr>
        <p:txBody>
          <a:bodyPr wrap="square">
            <a:spAutoFit/>
          </a:bodyPr>
          <a:lstStyle/>
          <a:p>
            <a:r>
              <a:rPr b="1" sz="1400">
                <a:solidFill>
                  <a:srgbClr val="4E7A3A"/>
                </a:solidFill>
              </a:rPr>
              <a:t>Layer 2 is the foundation: </a:t>
            </a:r>
            <a:r>
              <a:rPr sz="1300">
                <a:solidFill>
                  <a:srgbClr val="18241B"/>
                </a:solidFill>
              </a:rPr>
              <a:t>Without a verifiable vine ID on every image, photos are just disconnected photos. At 4,100 vines across 51 rows, simple row boards plus trunk counting do the job accurately without needing costly RTK GPS base stations.</a:t>
            </a:r>
          </a:p>
        </p:txBody>
      </p:sp>
      <p:sp>
        <p:nvSpPr>
          <p:cNvPr id="16" name="TextBox 15"/>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18241B"/>
                </a:solidFill>
                <a:latin typeface="Georgia"/>
              </a:rPr>
              <a:t>Camera pod: two action cameras</a:t>
            </a:r>
          </a:p>
        </p:txBody>
      </p:sp>
      <p:sp>
        <p:nvSpPr>
          <p:cNvPr id="4" name="Rounded Rectangle 3"/>
          <p:cNvSpPr/>
          <p:nvPr/>
        </p:nvSpPr>
        <p:spPr>
          <a:xfrm>
            <a:off x="731520" y="1645920"/>
            <a:ext cx="4389120" cy="438912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3840480" cy="4023360"/>
          </a:xfrm>
          <a:prstGeom prst="rect">
            <a:avLst/>
          </a:prstGeom>
          <a:noFill/>
        </p:spPr>
        <p:txBody>
          <a:bodyPr wrap="square">
            <a:spAutoFit/>
          </a:bodyPr>
          <a:lstStyle/>
          <a:p>
            <a:pPr>
              <a:spcAft>
                <a:spcPts val="1000"/>
              </a:spcAft>
            </a:pPr>
            <a:r>
              <a:rPr sz="1800" b="1">
                <a:solidFill>
                  <a:srgbClr val="18241B"/>
                </a:solidFill>
              </a:rPr>
              <a:t>Must-Have Specifications</a:t>
            </a:r>
          </a:p>
          <a:p>
            <a:pPr>
              <a:spcAft>
                <a:spcPts val="800"/>
              </a:spcAft>
            </a:pPr>
            <a:r>
              <a:rPr sz="1300">
                <a:solidFill>
                  <a:srgbClr val="566658"/>
                </a:solidFill>
              </a:rPr>
              <a:t>• Auto-start on power: 100% no-touch operation</a:t>
            </a:r>
          </a:p>
          <a:p>
            <a:pPr>
              <a:spcAft>
                <a:spcPts val="800"/>
              </a:spcAft>
            </a:pPr>
            <a:r>
              <a:rPr sz="1300">
                <a:solidFill>
                  <a:srgbClr val="566658"/>
                </a:solidFill>
              </a:rPr>
              <a:t>• Linear lens mode: zero fish-eye barrel distortion</a:t>
            </a:r>
          </a:p>
          <a:p>
            <a:pPr>
              <a:spcAft>
                <a:spcPts val="800"/>
              </a:spcAft>
            </a:pPr>
            <a:r>
              <a:rPr sz="1300">
                <a:solidFill>
                  <a:srgbClr val="566658"/>
                </a:solidFill>
              </a:rPr>
              <a:t>• Fast locked shutter: ≥ 1/1500 s to kill motion blur</a:t>
            </a:r>
          </a:p>
          <a:p>
            <a:pPr>
              <a:spcAft>
                <a:spcPts val="800"/>
              </a:spcAft>
            </a:pPr>
            <a:r>
              <a:rPr sz="1300">
                <a:solidFill>
                  <a:srgbClr val="566658"/>
                </a:solidFill>
              </a:rPr>
              <a:t>• External 12V power tapped from tractor ignition</a:t>
            </a:r>
          </a:p>
          <a:p>
            <a:pPr>
              <a:spcAft>
                <a:spcPts val="800"/>
              </a:spcAft>
            </a:pPr>
            <a:r>
              <a:rPr sz="1300">
                <a:solidFill>
                  <a:srgbClr val="566658"/>
                </a:solidFill>
              </a:rPr>
              <a:t>• Interval photos: 1–2 raw frames per second</a:t>
            </a:r>
          </a:p>
          <a:p>
            <a:pPr>
              <a:spcAft>
                <a:spcPts val="800"/>
              </a:spcAft>
            </a:pPr>
            <a:r>
              <a:rPr sz="1300">
                <a:solidFill>
                  <a:srgbClr val="566658"/>
                </a:solidFill>
              </a:rPr>
              <a:t>• Integrated LED light bars to penetrate dense canopy shade</a:t>
            </a:r>
          </a:p>
        </p:txBody>
      </p:sp>
      <p:graphicFrame>
        <p:nvGraphicFramePr>
          <p:cNvPr id="6" name="Table 5"/>
          <p:cNvGraphicFramePr>
            <a:graphicFrameLocks noGrp="1"/>
          </p:cNvGraphicFramePr>
          <p:nvPr/>
        </p:nvGraphicFramePr>
        <p:xfrm>
          <a:off x="5394960" y="1645920"/>
          <a:ext cx="6065215" cy="2926080"/>
        </p:xfrm>
        <a:graphic>
          <a:graphicData uri="http://schemas.openxmlformats.org/drawingml/2006/table">
            <a:tbl>
              <a:tblPr firstRow="1" bandRow="1">
                <a:tableStyleId>{5C22544A-7EE6-4342-B048-85BDC9FD1C3A}</a:tableStyleId>
              </a:tblPr>
              <a:tblGrid>
                <a:gridCol w="2011680"/>
                <a:gridCol w="1097280"/>
                <a:gridCol w="1463040"/>
                <a:gridCol w="1493215"/>
              </a:tblGrid>
              <a:tr h="731520">
                <a:tc>
                  <a:txBody>
                    <a:bodyPr/>
                    <a:lstStyle/>
                    <a:p>
                      <a:r>
                        <a:rPr b="1" sz="1150">
                          <a:solidFill>
                            <a:srgbClr val="18241B"/>
                          </a:solidFill>
                        </a:rPr>
                        <a:t>Camera at ~1.4 m</a:t>
                      </a:r>
                    </a:p>
                  </a:txBody>
                  <a:tcPr>
                    <a:solidFill>
                      <a:srgbClr val="F0EDE4"/>
                    </a:solidFill>
                  </a:tcPr>
                </a:tc>
                <a:tc>
                  <a:txBody>
                    <a:bodyPr/>
                    <a:lstStyle/>
                    <a:p>
                      <a:r>
                        <a:rPr b="1" sz="1150">
                          <a:solidFill>
                            <a:srgbClr val="18241B"/>
                          </a:solidFill>
                        </a:rPr>
                        <a:t>mm / px</a:t>
                      </a:r>
                    </a:p>
                  </a:txBody>
                  <a:tcPr>
                    <a:solidFill>
                      <a:srgbClr val="F0EDE4"/>
                    </a:solidFill>
                  </a:tcPr>
                </a:tc>
                <a:tc>
                  <a:txBody>
                    <a:bodyPr/>
                    <a:lstStyle/>
                    <a:p>
                      <a:r>
                        <a:rPr b="1" sz="1150">
                          <a:solidFill>
                            <a:srgbClr val="18241B"/>
                          </a:solidFill>
                        </a:rPr>
                        <a:t>3–7 mm berry</a:t>
                      </a:r>
                    </a:p>
                  </a:txBody>
                  <a:tcPr>
                    <a:solidFill>
                      <a:srgbClr val="F0EDE4"/>
                    </a:solidFill>
                  </a:tcPr>
                </a:tc>
                <a:tc>
                  <a:txBody>
                    <a:bodyPr/>
                    <a:lstStyle/>
                    <a:p>
                      <a:r>
                        <a:rPr b="1" sz="1150">
                          <a:solidFill>
                            <a:srgbClr val="18241B"/>
                          </a:solidFill>
                        </a:rPr>
                        <a:t>12–18 mm berry</a:t>
                      </a:r>
                    </a:p>
                  </a:txBody>
                  <a:tcPr>
                    <a:solidFill>
                      <a:srgbClr val="F0EDE4"/>
                    </a:solidFill>
                  </a:tcPr>
                </a:tc>
              </a:tr>
              <a:tr h="731520">
                <a:tc>
                  <a:txBody>
                    <a:bodyPr/>
                    <a:lstStyle/>
                    <a:p>
                      <a:r>
                        <a:rPr b="1" sz="1100"/>
                        <a:t>Dashcam, 1080p wide</a:t>
                      </a:r>
                    </a:p>
                  </a:txBody>
                  <a:tcPr/>
                </a:tc>
                <a:tc>
                  <a:txBody>
                    <a:bodyPr/>
                    <a:lstStyle/>
                    <a:p>
                      <a:r>
                        <a:rPr sz="1100"/>
                        <a:t>~4</a:t>
                      </a:r>
                    </a:p>
                  </a:txBody>
                  <a:tcPr/>
                </a:tc>
                <a:tc>
                  <a:txBody>
                    <a:bodyPr/>
                    <a:lstStyle/>
                    <a:p>
                      <a:r>
                        <a:rPr sz="1100"/>
                        <a:t>1–2 px (No)</a:t>
                      </a:r>
                    </a:p>
                  </a:txBody>
                  <a:tcPr/>
                </a:tc>
                <a:tc>
                  <a:txBody>
                    <a:bodyPr/>
                    <a:lstStyle/>
                    <a:p>
                      <a:r>
                        <a:rPr sz="1100"/>
                        <a:t>3–5 px (No)</a:t>
                      </a:r>
                    </a:p>
                  </a:txBody>
                  <a:tcPr/>
                </a:tc>
              </a:tr>
              <a:tr h="731520">
                <a:tc>
                  <a:txBody>
                    <a:bodyPr/>
                    <a:lstStyle/>
                    <a:p>
                      <a:r>
                        <a:rPr b="1" sz="1100"/>
                        <a:t>Action cam, 4K linear</a:t>
                      </a:r>
                    </a:p>
                  </a:txBody>
                  <a:tcPr/>
                </a:tc>
                <a:tc>
                  <a:txBody>
                    <a:bodyPr/>
                    <a:lstStyle/>
                    <a:p>
                      <a:r>
                        <a:rPr sz="1100"/>
                        <a:t>~0.7</a:t>
                      </a:r>
                    </a:p>
                  </a:txBody>
                  <a:tcPr/>
                </a:tc>
                <a:tc>
                  <a:txBody>
                    <a:bodyPr/>
                    <a:lstStyle/>
                    <a:p>
                      <a:r>
                        <a:rPr sz="1100"/>
                        <a:t>4–10 px (Weak)</a:t>
                      </a:r>
                    </a:p>
                  </a:txBody>
                  <a:tcPr/>
                </a:tc>
                <a:tc>
                  <a:txBody>
                    <a:bodyPr/>
                    <a:lstStyle/>
                    <a:p>
                      <a:r>
                        <a:rPr sz="1100"/>
                        <a:t>16–25 px (Yes)</a:t>
                      </a:r>
                    </a:p>
                  </a:txBody>
                  <a:tcPr/>
                </a:tc>
              </a:tr>
              <a:tr h="731520">
                <a:tc>
                  <a:txBody>
                    <a:bodyPr/>
                    <a:lstStyle/>
                    <a:p>
                      <a:r>
                        <a:rPr b="1" sz="1100"/>
                        <a:t>Industrial narrow lens</a:t>
                      </a:r>
                    </a:p>
                  </a:txBody>
                  <a:tcPr/>
                </a:tc>
                <a:tc>
                  <a:txBody>
                    <a:bodyPr/>
                    <a:lstStyle/>
                    <a:p>
                      <a:r>
                        <a:rPr sz="1100"/>
                        <a:t>~0.3–0.4</a:t>
                      </a:r>
                    </a:p>
                  </a:txBody>
                  <a:tcPr/>
                </a:tc>
                <a:tc>
                  <a:txBody>
                    <a:bodyPr/>
                    <a:lstStyle/>
                    <a:p>
                      <a:r>
                        <a:rPr sz="1100"/>
                        <a:t>10–20 px (Yes)</a:t>
                      </a:r>
                    </a:p>
                  </a:txBody>
                  <a:tcPr/>
                </a:tc>
                <a:tc>
                  <a:txBody>
                    <a:bodyPr/>
                    <a:lstStyle/>
                    <a:p>
                      <a:r>
                        <a:rPr sz="1100"/>
                        <a:t>30–50 px (Yes)</a:t>
                      </a:r>
                    </a:p>
                  </a:txBody>
                  <a:tcPr/>
                </a:tc>
              </a:tr>
            </a:tbl>
          </a:graphicData>
        </a:graphic>
      </p:graphicFrame>
      <p:sp>
        <p:nvSpPr>
          <p:cNvPr id="7" name="Rounded Rectangle 6"/>
          <p:cNvSpPr/>
          <p:nvPr/>
        </p:nvSpPr>
        <p:spPr>
          <a:xfrm>
            <a:off x="5394960" y="4846320"/>
            <a:ext cx="6065215" cy="118872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0" y="4983480"/>
            <a:ext cx="5669280" cy="914400"/>
          </a:xfrm>
          <a:prstGeom prst="rect">
            <a:avLst/>
          </a:prstGeom>
          <a:noFill/>
        </p:spPr>
        <p:txBody>
          <a:bodyPr wrap="square">
            <a:spAutoFit/>
          </a:bodyPr>
          <a:lstStyle/>
          <a:p>
            <a:r>
              <a:rPr b="1" sz="1300">
                <a:solidFill>
                  <a:srgbClr val="C27E22"/>
                </a:solidFill>
              </a:rPr>
              <a:t>Operational Recommendation: </a:t>
            </a:r>
            <a:r>
              <a:rPr sz="1200">
                <a:solidFill>
                  <a:srgbClr val="18241B"/>
                </a:solidFill>
              </a:rPr>
              <a:t>For the early 3–7 mm GA3 sizing window, pair action camera passes with close-up smartphone photos of tagged clusters against scale cards, upgrading to industrial global-shutter pods in Year 2.</a:t>
            </a:r>
          </a:p>
        </p:txBody>
      </p:sp>
      <p:sp>
        <p:nvSpPr>
          <p:cNvPr id="9" name="TextBox 8"/>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18241B"/>
                </a:solidFill>
                <a:latin typeface="Georgia"/>
              </a:rPr>
              <a:t>One pod, five platforms</a:t>
            </a:r>
          </a:p>
        </p:txBody>
      </p:sp>
      <p:graphicFrame>
        <p:nvGraphicFramePr>
          <p:cNvPr id="4" name="Table 3"/>
          <p:cNvGraphicFramePr>
            <a:graphicFrameLocks noGrp="1"/>
          </p:cNvGraphicFramePr>
          <p:nvPr/>
        </p:nvGraphicFramePr>
        <p:xfrm>
          <a:off x="731520" y="1645920"/>
          <a:ext cx="10728655" cy="3291840"/>
        </p:xfrm>
        <a:graphic>
          <a:graphicData uri="http://schemas.openxmlformats.org/drawingml/2006/table">
            <a:tbl>
              <a:tblPr firstRow="1" bandRow="1">
                <a:tableStyleId>{5C22544A-7EE6-4342-B048-85BDC9FD1C3A}</a:tableStyleId>
              </a:tblPr>
              <a:tblGrid>
                <a:gridCol w="2377440"/>
                <a:gridCol w="1097280"/>
                <a:gridCol w="1463040"/>
                <a:gridCol w="1828800"/>
                <a:gridCol w="2011680"/>
                <a:gridCol w="1950415"/>
              </a:tblGrid>
              <a:tr h="548640">
                <a:tc>
                  <a:txBody>
                    <a:bodyPr/>
                    <a:lstStyle/>
                    <a:p>
                      <a:r>
                        <a:rPr b="1" sz="1150">
                          <a:solidFill>
                            <a:srgbClr val="18241B"/>
                          </a:solidFill>
                        </a:rPr>
                        <a:t>Platform</a:t>
                      </a:r>
                    </a:p>
                  </a:txBody>
                  <a:tcPr>
                    <a:solidFill>
                      <a:srgbClr val="F0EDE4"/>
                    </a:solidFill>
                  </a:tcPr>
                </a:tc>
                <a:tc>
                  <a:txBody>
                    <a:bodyPr/>
                    <a:lstStyle/>
                    <a:p>
                      <a:r>
                        <a:rPr b="1" sz="1150">
                          <a:solidFill>
                            <a:srgbClr val="18241B"/>
                          </a:solidFill>
                        </a:rPr>
                        <a:t>Cost / pass</a:t>
                      </a:r>
                    </a:p>
                  </a:txBody>
                  <a:tcPr>
                    <a:solidFill>
                      <a:srgbClr val="F0EDE4"/>
                    </a:solidFill>
                  </a:tcPr>
                </a:tc>
                <a:tc>
                  <a:txBody>
                    <a:bodyPr/>
                    <a:lstStyle/>
                    <a:p>
                      <a:r>
                        <a:rPr b="1" sz="1150">
                          <a:solidFill>
                            <a:srgbClr val="18241B"/>
                          </a:solidFill>
                        </a:rPr>
                        <a:t>Operator</a:t>
                      </a:r>
                    </a:p>
                  </a:txBody>
                  <a:tcPr>
                    <a:solidFill>
                      <a:srgbClr val="F0EDE4"/>
                    </a:solidFill>
                  </a:tcPr>
                </a:tc>
                <a:tc>
                  <a:txBody>
                    <a:bodyPr/>
                    <a:lstStyle/>
                    <a:p>
                      <a:r>
                        <a:rPr b="1" sz="1150">
                          <a:solidFill>
                            <a:srgbClr val="18241B"/>
                          </a:solidFill>
                        </a:rPr>
                        <a:t>How often</a:t>
                      </a:r>
                    </a:p>
                  </a:txBody>
                  <a:tcPr>
                    <a:solidFill>
                      <a:srgbClr val="F0EDE4"/>
                    </a:solidFill>
                  </a:tcPr>
                </a:tc>
                <a:tc>
                  <a:txBody>
                    <a:bodyPr/>
                    <a:lstStyle/>
                    <a:p>
                      <a:r>
                        <a:rPr b="1" sz="1150">
                          <a:solidFill>
                            <a:srgbClr val="18241B"/>
                          </a:solidFill>
                        </a:rPr>
                        <a:t>Image quality</a:t>
                      </a:r>
                    </a:p>
                  </a:txBody>
                  <a:tcPr>
                    <a:solidFill>
                      <a:srgbClr val="F0EDE4"/>
                    </a:solidFill>
                  </a:tcPr>
                </a:tc>
                <a:tc>
                  <a:txBody>
                    <a:bodyPr/>
                    <a:lstStyle/>
                    <a:p>
                      <a:r>
                        <a:rPr b="1" sz="1150">
                          <a:solidFill>
                            <a:srgbClr val="18241B"/>
                          </a:solidFill>
                        </a:rPr>
                        <a:t>Main risk</a:t>
                      </a:r>
                    </a:p>
                  </a:txBody>
                  <a:tcPr>
                    <a:solidFill>
                      <a:srgbClr val="F0EDE4"/>
                    </a:solidFill>
                  </a:tcPr>
                </a:tc>
              </a:tr>
              <a:tr h="548640">
                <a:tc>
                  <a:txBody>
                    <a:bodyPr/>
                    <a:lstStyle/>
                    <a:p>
                      <a:r>
                        <a:rPr sz="1100" b="1">
                          <a:solidFill>
                            <a:srgbClr val="18241B"/>
                          </a:solidFill>
                        </a:rPr>
                        <a:t>P1 Tractor, spray passes</a:t>
                      </a:r>
                    </a:p>
                  </a:txBody>
                  <a:tcPr/>
                </a:tc>
                <a:tc>
                  <a:txBody>
                    <a:bodyPr/>
                    <a:lstStyle/>
                    <a:p>
                      <a:r>
                        <a:rPr sz="1100">
                          <a:solidFill>
                            <a:srgbClr val="566658"/>
                          </a:solidFill>
                        </a:rPr>
                        <a:t>₹0</a:t>
                      </a:r>
                    </a:p>
                  </a:txBody>
                  <a:tcPr/>
                </a:tc>
                <a:tc>
                  <a:txBody>
                    <a:bodyPr/>
                    <a:lstStyle/>
                    <a:p>
                      <a:r>
                        <a:rPr sz="1100">
                          <a:solidFill>
                            <a:srgbClr val="566658"/>
                          </a:solidFill>
                        </a:rPr>
                        <a:t>Farmer</a:t>
                      </a:r>
                    </a:p>
                  </a:txBody>
                  <a:tcPr/>
                </a:tc>
                <a:tc>
                  <a:txBody>
                    <a:bodyPr/>
                    <a:lstStyle/>
                    <a:p>
                      <a:r>
                        <a:rPr sz="1100">
                          <a:solidFill>
                            <a:srgbClr val="566658"/>
                          </a:solidFill>
                        </a:rPr>
                        <a:t>Spray schedule</a:t>
                      </a:r>
                    </a:p>
                  </a:txBody>
                  <a:tcPr/>
                </a:tc>
                <a:tc>
                  <a:txBody>
                    <a:bodyPr/>
                    <a:lstStyle/>
                    <a:p>
                      <a:r>
                        <a:rPr sz="1100">
                          <a:solidFill>
                            <a:srgbClr val="566658"/>
                          </a:solidFill>
                        </a:rPr>
                        <a:t>Mist, diesel shake</a:t>
                      </a:r>
                    </a:p>
                  </a:txBody>
                  <a:tcPr/>
                </a:tc>
                <a:tc>
                  <a:txBody>
                    <a:bodyPr/>
                    <a:lstStyle/>
                    <a:p>
                      <a:r>
                        <a:rPr sz="1100">
                          <a:solidFill>
                            <a:srgbClr val="566658"/>
                          </a:solidFill>
                        </a:rPr>
                        <a:t>Dirty lenses</a:t>
                      </a:r>
                    </a:p>
                  </a:txBody>
                  <a:tcPr/>
                </a:tc>
              </a:tr>
              <a:tr h="548640">
                <a:tc>
                  <a:txBody>
                    <a:bodyPr/>
                    <a:lstStyle/>
                    <a:p>
                      <a:r>
                        <a:rPr sz="1100" b="1">
                          <a:solidFill>
                            <a:srgbClr val="18241B"/>
                          </a:solidFill>
                        </a:rPr>
                        <a:t>P2 Tractor, camera-only</a:t>
                      </a:r>
                    </a:p>
                  </a:txBody>
                  <a:tcPr/>
                </a:tc>
                <a:tc>
                  <a:txBody>
                    <a:bodyPr/>
                    <a:lstStyle/>
                    <a:p>
                      <a:r>
                        <a:rPr sz="1100">
                          <a:solidFill>
                            <a:srgbClr val="566658"/>
                          </a:solidFill>
                        </a:rPr>
                        <a:t>₹500</a:t>
                      </a:r>
                    </a:p>
                  </a:txBody>
                  <a:tcPr/>
                </a:tc>
                <a:tc>
                  <a:txBody>
                    <a:bodyPr/>
                    <a:lstStyle/>
                    <a:p>
                      <a:r>
                        <a:rPr sz="1100">
                          <a:solidFill>
                            <a:srgbClr val="566658"/>
                          </a:solidFill>
                        </a:rPr>
                        <a:t>Farmer</a:t>
                      </a:r>
                    </a:p>
                  </a:txBody>
                  <a:tcPr/>
                </a:tc>
                <a:tc>
                  <a:txBody>
                    <a:bodyPr/>
                    <a:lstStyle/>
                    <a:p>
                      <a:r>
                        <a:rPr sz="1100">
                          <a:solidFill>
                            <a:srgbClr val="566658"/>
                          </a:solidFill>
                        </a:rPr>
                        <a:t>On request</a:t>
                      </a:r>
                    </a:p>
                  </a:txBody>
                  <a:tcPr/>
                </a:tc>
                <a:tc>
                  <a:txBody>
                    <a:bodyPr/>
                    <a:lstStyle/>
                    <a:p>
                      <a:r>
                        <a:rPr sz="1100">
                          <a:solidFill>
                            <a:srgbClr val="566658"/>
                          </a:solidFill>
                        </a:rPr>
                        <a:t>No mist, low shake</a:t>
                      </a:r>
                    </a:p>
                  </a:txBody>
                  <a:tcPr/>
                </a:tc>
                <a:tc>
                  <a:txBody>
                    <a:bodyPr/>
                    <a:lstStyle/>
                    <a:p>
                      <a:r>
                        <a:rPr sz="1100">
                          <a:solidFill>
                            <a:srgbClr val="566658"/>
                          </a:solidFill>
                        </a:rPr>
                        <a:t>Cost adds up</a:t>
                      </a:r>
                    </a:p>
                  </a:txBody>
                  <a:tcPr/>
                </a:tc>
              </a:tr>
              <a:tr h="548640">
                <a:tc>
                  <a:txBody>
                    <a:bodyPr/>
                    <a:lstStyle/>
                    <a:p>
                      <a:r>
                        <a:rPr sz="1100" b="1">
                          <a:solidFill>
                            <a:srgbClr val="18241B"/>
                          </a:solidFill>
                        </a:rPr>
                        <a:t>P3 Suzuki Access scooter</a:t>
                      </a:r>
                    </a:p>
                  </a:txBody>
                  <a:tcPr/>
                </a:tc>
                <a:tc>
                  <a:txBody>
                    <a:bodyPr/>
                    <a:lstStyle/>
                    <a:p>
                      <a:r>
                        <a:rPr sz="1100">
                          <a:solidFill>
                            <a:srgbClr val="566658"/>
                          </a:solidFill>
                        </a:rPr>
                        <a:t>Fuel</a:t>
                      </a:r>
                    </a:p>
                  </a:txBody>
                  <a:tcPr/>
                </a:tc>
                <a:tc>
                  <a:txBody>
                    <a:bodyPr/>
                    <a:lstStyle/>
                    <a:p>
                      <a:r>
                        <a:rPr sz="1100">
                          <a:solidFill>
                            <a:srgbClr val="566658"/>
                          </a:solidFill>
                        </a:rPr>
                        <a:t>You</a:t>
                      </a:r>
                    </a:p>
                  </a:txBody>
                  <a:tcPr/>
                </a:tc>
                <a:tc>
                  <a:txBody>
                    <a:bodyPr/>
                    <a:lstStyle/>
                    <a:p>
                      <a:r>
                        <a:rPr sz="1100">
                          <a:solidFill>
                            <a:srgbClr val="566658"/>
                          </a:solidFill>
                        </a:rPr>
                        <a:t>Weekly</a:t>
                      </a:r>
                    </a:p>
                  </a:txBody>
                  <a:tcPr/>
                </a:tc>
                <a:tc>
                  <a:txBody>
                    <a:bodyPr/>
                    <a:lstStyle/>
                    <a:p>
                      <a:r>
                        <a:rPr sz="1100">
                          <a:solidFill>
                            <a:srgbClr val="566658"/>
                          </a:solidFill>
                        </a:rPr>
                        <a:t>Less shake</a:t>
                      </a:r>
                    </a:p>
                  </a:txBody>
                  <a:tcPr/>
                </a:tc>
                <a:tc>
                  <a:txBody>
                    <a:bodyPr/>
                    <a:lstStyle/>
                    <a:p>
                      <a:r>
                        <a:rPr sz="1100">
                          <a:solidFill>
                            <a:srgbClr val="566658"/>
                          </a:solidFill>
                        </a:rPr>
                        <a:t>Balance, bumps</a:t>
                      </a:r>
                    </a:p>
                  </a:txBody>
                  <a:tcPr/>
                </a:tc>
              </a:tr>
              <a:tr h="548640">
                <a:tc>
                  <a:txBody>
                    <a:bodyPr/>
                    <a:lstStyle/>
                    <a:p>
                      <a:r>
                        <a:rPr sz="1100" b="1">
                          <a:solidFill>
                            <a:srgbClr val="18241B"/>
                          </a:solidFill>
                        </a:rPr>
                        <a:t>P4 Push trolley</a:t>
                      </a:r>
                    </a:p>
                  </a:txBody>
                  <a:tcPr/>
                </a:tc>
                <a:tc>
                  <a:txBody>
                    <a:bodyPr/>
                    <a:lstStyle/>
                    <a:p>
                      <a:r>
                        <a:rPr sz="1100">
                          <a:solidFill>
                            <a:srgbClr val="566658"/>
                          </a:solidFill>
                        </a:rPr>
                        <a:t>₹0</a:t>
                      </a:r>
                    </a:p>
                  </a:txBody>
                  <a:tcPr/>
                </a:tc>
                <a:tc>
                  <a:txBody>
                    <a:bodyPr/>
                    <a:lstStyle/>
                    <a:p>
                      <a:r>
                        <a:rPr sz="1100">
                          <a:solidFill>
                            <a:srgbClr val="566658"/>
                          </a:solidFill>
                        </a:rPr>
                        <a:t>You / worker</a:t>
                      </a:r>
                    </a:p>
                  </a:txBody>
                  <a:tcPr/>
                </a:tc>
                <a:tc>
                  <a:txBody>
                    <a:bodyPr/>
                    <a:lstStyle/>
                    <a:p>
                      <a:r>
                        <a:rPr sz="1100">
                          <a:solidFill>
                            <a:srgbClr val="566658"/>
                          </a:solidFill>
                        </a:rPr>
                        <a:t>On request</a:t>
                      </a:r>
                    </a:p>
                  </a:txBody>
                  <a:tcPr/>
                </a:tc>
                <a:tc>
                  <a:txBody>
                    <a:bodyPr/>
                    <a:lstStyle/>
                    <a:p>
                      <a:r>
                        <a:rPr sz="1100">
                          <a:solidFill>
                            <a:srgbClr val="566658"/>
                          </a:solidFill>
                        </a:rPr>
                        <a:t>Best, steady frames</a:t>
                      </a:r>
                    </a:p>
                  </a:txBody>
                  <a:tcPr/>
                </a:tc>
                <a:tc>
                  <a:txBody>
                    <a:bodyPr/>
                    <a:lstStyle/>
                    <a:p>
                      <a:r>
                        <a:rPr sz="1100">
                          <a:solidFill>
                            <a:srgbClr val="566658"/>
                          </a:solidFill>
                        </a:rPr>
                        <a:t>1.5–2 h walk</a:t>
                      </a:r>
                    </a:p>
                  </a:txBody>
                  <a:tcPr/>
                </a:tc>
              </a:tr>
              <a:tr h="548640">
                <a:tc>
                  <a:txBody>
                    <a:bodyPr/>
                    <a:lstStyle/>
                    <a:p>
                      <a:r>
                        <a:rPr sz="1100" b="1">
                          <a:solidFill>
                            <a:srgbClr val="18241B"/>
                          </a:solidFill>
                        </a:rPr>
                        <a:t>P5 Hybrid Mix</a:t>
                      </a:r>
                    </a:p>
                  </a:txBody>
                  <a:tcPr/>
                </a:tc>
                <a:tc>
                  <a:txBody>
                    <a:bodyPr/>
                    <a:lstStyle/>
                    <a:p>
                      <a:r>
                        <a:rPr sz="1100">
                          <a:solidFill>
                            <a:srgbClr val="566658"/>
                          </a:solidFill>
                        </a:rPr>
                        <a:t>Varies</a:t>
                      </a:r>
                    </a:p>
                  </a:txBody>
                  <a:tcPr/>
                </a:tc>
                <a:tc>
                  <a:txBody>
                    <a:bodyPr/>
                    <a:lstStyle/>
                    <a:p>
                      <a:r>
                        <a:rPr sz="1100">
                          <a:solidFill>
                            <a:srgbClr val="566658"/>
                          </a:solidFill>
                        </a:rPr>
                        <a:t>Both</a:t>
                      </a:r>
                    </a:p>
                  </a:txBody>
                  <a:tcPr/>
                </a:tc>
                <a:tc>
                  <a:txBody>
                    <a:bodyPr/>
                    <a:lstStyle/>
                    <a:p>
                      <a:r>
                        <a:rPr sz="1100">
                          <a:solidFill>
                            <a:srgbClr val="566658"/>
                          </a:solidFill>
                        </a:rPr>
                        <a:t>Weekly in windows</a:t>
                      </a:r>
                    </a:p>
                  </a:txBody>
                  <a:tcPr/>
                </a:tc>
                <a:tc>
                  <a:txBody>
                    <a:bodyPr/>
                    <a:lstStyle/>
                    <a:p>
                      <a:r>
                        <a:rPr sz="1100">
                          <a:solidFill>
                            <a:srgbClr val="566658"/>
                          </a:solidFill>
                        </a:rPr>
                        <a:t>Good</a:t>
                      </a:r>
                    </a:p>
                  </a:txBody>
                  <a:tcPr/>
                </a:tc>
                <a:tc>
                  <a:txBody>
                    <a:bodyPr/>
                    <a:lstStyle/>
                    <a:p>
                      <a:r>
                        <a:rPr sz="1100">
                          <a:solidFill>
                            <a:srgbClr val="566658"/>
                          </a:solidFill>
                        </a:rPr>
                        <a:t>Keep consistent</a:t>
                      </a:r>
                    </a:p>
                  </a:txBody>
                  <a:tcPr/>
                </a:tc>
              </a:tr>
            </a:tbl>
          </a:graphicData>
        </a:graphic>
      </p:graphicFrame>
      <p:sp>
        <p:nvSpPr>
          <p:cNvPr id="5" name="Rounded Rectangle 4"/>
          <p:cNvSpPr/>
          <p:nvPr/>
        </p:nvSpPr>
        <p:spPr>
          <a:xfrm>
            <a:off x="731520" y="5120640"/>
            <a:ext cx="10728655" cy="10058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257800"/>
            <a:ext cx="10332720" cy="731520"/>
          </a:xfrm>
          <a:prstGeom prst="rect">
            <a:avLst/>
          </a:prstGeom>
          <a:noFill/>
        </p:spPr>
        <p:txBody>
          <a:bodyPr wrap="square">
            <a:spAutoFit/>
          </a:bodyPr>
          <a:lstStyle/>
          <a:p>
            <a:r>
              <a:rPr b="1" sz="1400">
                <a:solidFill>
                  <a:srgbClr val="4E7A3A"/>
                </a:solidFill>
              </a:rPr>
              <a:t>Likely Strategy (P5): </a:t>
            </a:r>
            <a:r>
              <a:rPr sz="1250">
                <a:solidFill>
                  <a:srgbClr val="18241B"/>
                </a:solidFill>
              </a:rPr>
              <a:t>Scooter or light push cart every week during late Nov–Dec (berry sizing) and around veraison ripening; free opportunistic spray passes during the remainder of the season. Tractor mount clamps to front frame, powered via ignition 12V.</a:t>
            </a:r>
          </a:p>
        </p:txBody>
      </p:sp>
      <p:sp>
        <p:nvSpPr>
          <p:cNvPr id="7" name="TextBox 6"/>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18241B"/>
                </a:solidFill>
                <a:latin typeface="Georgia"/>
              </a:rPr>
              <a:t>Data handling: two options</a:t>
            </a:r>
          </a:p>
        </p:txBody>
      </p:sp>
      <p:sp>
        <p:nvSpPr>
          <p:cNvPr id="4" name="Rounded Rectangle 3"/>
          <p:cNvSpPr/>
          <p:nvPr/>
        </p:nvSpPr>
        <p:spPr>
          <a:xfrm>
            <a:off x="731520" y="1554480"/>
            <a:ext cx="10728655" cy="77724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10332720" cy="502920"/>
          </a:xfrm>
          <a:prstGeom prst="rect">
            <a:avLst/>
          </a:prstGeom>
          <a:noFill/>
        </p:spPr>
        <p:txBody>
          <a:bodyPr wrap="none">
            <a:spAutoFit/>
          </a:bodyPr>
          <a:lstStyle/>
          <a:p>
            <a:r>
              <a:rPr b="1" sz="1500">
                <a:solidFill>
                  <a:srgbClr val="C27E22"/>
                </a:solidFill>
              </a:rPr>
              <a:t>~60–130 GB per full vineyard pass </a:t>
            </a:r>
            <a:r>
              <a:rPr sz="1400">
                <a:solidFill>
                  <a:srgbClr val="18241B"/>
                </a:solidFill>
              </a:rPr>
              <a:t>(two cameras, photos or 4K video) — far too massive for rural 4G SIM upload.</a:t>
            </a:r>
          </a:p>
        </p:txBody>
      </p:sp>
      <p:sp>
        <p:nvSpPr>
          <p:cNvPr id="6" name="Rounded Rectangle 5"/>
          <p:cNvSpPr/>
          <p:nvPr/>
        </p:nvSpPr>
        <p:spPr>
          <a:xfrm>
            <a:off x="731520" y="2514600"/>
            <a:ext cx="5212080" cy="35661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697480"/>
            <a:ext cx="4663440" cy="3200400"/>
          </a:xfrm>
          <a:prstGeom prst="rect">
            <a:avLst/>
          </a:prstGeom>
          <a:noFill/>
        </p:spPr>
        <p:txBody>
          <a:bodyPr wrap="square">
            <a:spAutoFit/>
          </a:bodyPr>
          <a:lstStyle/>
          <a:p>
            <a:pPr>
              <a:spcAft>
                <a:spcPts val="800"/>
              </a:spcAft>
            </a:pPr>
            <a:r>
              <a:rPr sz="1800" b="1">
                <a:solidFill>
                  <a:srgbClr val="4E7A3A"/>
                </a:solidFill>
              </a:rPr>
              <a:t>D1   Weekly SD swap + laptop</a:t>
            </a:r>
          </a:p>
          <a:p>
            <a:pPr>
              <a:spcAft>
                <a:spcPts val="600"/>
              </a:spcAft>
            </a:pPr>
            <a:r>
              <a:rPr sz="1300">
                <a:solidFill>
                  <a:srgbClr val="566658"/>
                </a:solidFill>
              </a:rPr>
              <a:t>• Hardware: 4 high-endurance SD cards, reader, 2–4 TB drive</a:t>
            </a:r>
          </a:p>
          <a:p>
            <a:pPr>
              <a:spcAft>
                <a:spcPts val="600"/>
              </a:spcAft>
            </a:pPr>
            <a:r>
              <a:rPr sz="1300">
                <a:solidFill>
                  <a:srgbClr val="566658"/>
                </a:solidFill>
              </a:rPr>
              <a:t>• On farm: swap cards weekly (~5 min); farmer does nothing</a:t>
            </a:r>
          </a:p>
          <a:p>
            <a:pPr>
              <a:spcAft>
                <a:spcPts val="600"/>
              </a:spcAft>
            </a:pPr>
            <a:r>
              <a:rPr sz="1300">
                <a:solidFill>
                  <a:srgbClr val="566658"/>
                </a:solidFill>
              </a:rPr>
              <a:t>• Software: Python ingestion script, row finder, vine counter</a:t>
            </a:r>
          </a:p>
          <a:p>
            <a:pPr>
              <a:spcAft>
                <a:spcPts val="600"/>
              </a:spcAft>
            </a:pPr>
            <a:r>
              <a:rPr sz="1300">
                <a:solidFill>
                  <a:srgbClr val="566658"/>
                </a:solidFill>
              </a:rPr>
              <a:t>• Pros: cheapest, 100% reliable, full raw resolution preserved</a:t>
            </a:r>
          </a:p>
          <a:p>
            <a:pPr>
              <a:spcAft>
                <a:spcPts val="600"/>
              </a:spcAft>
            </a:pPr>
            <a:r>
              <a:rPr sz="1300">
                <a:solidFill>
                  <a:srgbClr val="566658"/>
                </a:solidFill>
              </a:rPr>
              <a:t>• Cons: requires weekly physical visit; analysis delayed by days</a:t>
            </a:r>
          </a:p>
        </p:txBody>
      </p:sp>
      <p:sp>
        <p:nvSpPr>
          <p:cNvPr id="8" name="Rounded Rectangle 7"/>
          <p:cNvSpPr/>
          <p:nvPr/>
        </p:nvSpPr>
        <p:spPr>
          <a:xfrm>
            <a:off x="6217920" y="2514600"/>
            <a:ext cx="5212080" cy="35661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697480"/>
            <a:ext cx="4663440" cy="3200400"/>
          </a:xfrm>
          <a:prstGeom prst="rect">
            <a:avLst/>
          </a:prstGeom>
          <a:noFill/>
        </p:spPr>
        <p:txBody>
          <a:bodyPr wrap="square">
            <a:spAutoFit/>
          </a:bodyPr>
          <a:lstStyle/>
          <a:p>
            <a:pPr>
              <a:spcAft>
                <a:spcPts val="800"/>
              </a:spcAft>
            </a:pPr>
            <a:r>
              <a:rPr sz="1800" b="1">
                <a:solidFill>
                  <a:srgbClr val="C27E22"/>
                </a:solidFill>
              </a:rPr>
              <a:t>D2   On-board computer, Wi-Fi sync</a:t>
            </a:r>
          </a:p>
          <a:p>
            <a:pPr>
              <a:spcAft>
                <a:spcPts val="600"/>
              </a:spcAft>
            </a:pPr>
            <a:r>
              <a:rPr sz="1300">
                <a:solidFill>
                  <a:srgbClr val="566658"/>
                </a:solidFill>
              </a:rPr>
              <a:t>• Hardware: Jetson Orin Nano / RPi 5, global-shutter cams, SSD (~₹50k–1L)</a:t>
            </a:r>
          </a:p>
          <a:p>
            <a:pPr>
              <a:spcAft>
                <a:spcPts val="600"/>
              </a:spcAft>
            </a:pPr>
            <a:r>
              <a:rPr sz="1300">
                <a:solidFill>
                  <a:srgbClr val="566658"/>
                </a:solidFill>
              </a:rPr>
              <a:t>• On farm: fully automated; uploads lightweight MB metrics via shed Wi-Fi</a:t>
            </a:r>
          </a:p>
          <a:p>
            <a:pPr>
              <a:spcAft>
                <a:spcPts val="600"/>
              </a:spcAft>
            </a:pPr>
            <a:r>
              <a:rPr sz="1300">
                <a:solidFill>
                  <a:srgbClr val="566658"/>
                </a:solidFill>
              </a:rPr>
              <a:t>• Software: on-device inference, automated health checks, telemetry daemon</a:t>
            </a:r>
          </a:p>
          <a:p>
            <a:pPr>
              <a:spcAft>
                <a:spcPts val="600"/>
              </a:spcAft>
            </a:pPr>
            <a:r>
              <a:rPr sz="1300">
                <a:solidFill>
                  <a:srgbClr val="566658"/>
                </a:solidFill>
              </a:rPr>
              <a:t>• Pros: fully no-touch, near-real-time row alerts</a:t>
            </a:r>
          </a:p>
          <a:p>
            <a:pPr>
              <a:spcAft>
                <a:spcPts val="600"/>
              </a:spcAft>
            </a:pPr>
            <a:r>
              <a:rPr sz="1300">
                <a:solidFill>
                  <a:srgbClr val="566658"/>
                </a:solidFill>
              </a:rPr>
              <a:t>• Cons: higher initial cost, software complexity, field vibration risk</a:t>
            </a:r>
          </a:p>
        </p:txBody>
      </p:sp>
      <p:sp>
        <p:nvSpPr>
          <p:cNvPr id="10" name="TextBox 9"/>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18241B"/>
                </a:solidFill>
                <a:latin typeface="Georgia"/>
              </a:rPr>
              <a:t>What multispectral can do</a:t>
            </a:r>
          </a:p>
        </p:txBody>
      </p:sp>
      <p:sp>
        <p:nvSpPr>
          <p:cNvPr id="4" name="Rounded Rectangle 3"/>
          <p:cNvSpPr/>
          <p:nvPr/>
        </p:nvSpPr>
        <p:spPr>
          <a:xfrm>
            <a:off x="731520" y="1645920"/>
            <a:ext cx="4572000" cy="438912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023360" cy="4023360"/>
          </a:xfrm>
          <a:prstGeom prst="rect">
            <a:avLst/>
          </a:prstGeom>
          <a:noFill/>
        </p:spPr>
        <p:txBody>
          <a:bodyPr wrap="square">
            <a:spAutoFit/>
          </a:bodyPr>
          <a:lstStyle/>
          <a:p>
            <a:pPr>
              <a:spcAft>
                <a:spcPts val="1000"/>
              </a:spcAft>
            </a:pPr>
            <a:r>
              <a:rPr sz="1800" b="1">
                <a:solidFill>
                  <a:srgbClr val="18241B"/>
                </a:solidFill>
              </a:rPr>
              <a:t>Capabilities &amp; Limits</a:t>
            </a:r>
          </a:p>
          <a:p>
            <a:pPr>
              <a:spcAft>
                <a:spcPts val="800"/>
              </a:spcAft>
            </a:pPr>
            <a:r>
              <a:rPr b="1" sz="1300">
                <a:solidFill>
                  <a:srgbClr val="18241B"/>
                </a:solidFill>
              </a:rPr>
              <a:t>• Vine vigour &amp; stress map: </a:t>
            </a:r>
            <a:r>
              <a:rPr b="1" sz="1200">
                <a:solidFill>
                  <a:srgbClr val="4E7A3A"/>
                </a:solidFill>
              </a:rPr>
              <a:t>YES</a:t>
            </a:r>
          </a:p>
          <a:p>
            <a:pPr>
              <a:spcAft>
                <a:spcPts val="800"/>
              </a:spcAft>
            </a:pPr>
            <a:r>
              <a:rPr b="1" sz="1300">
                <a:solidFill>
                  <a:srgbClr val="18241B"/>
                </a:solidFill>
              </a:rPr>
              <a:t>• Weak patches, nutrient diffs: </a:t>
            </a:r>
            <a:r>
              <a:rPr b="1" sz="1200">
                <a:solidFill>
                  <a:srgbClr val="4E7A3A"/>
                </a:solidFill>
              </a:rPr>
              <a:t>YES</a:t>
            </a:r>
          </a:p>
          <a:p>
            <a:pPr>
              <a:spcAft>
                <a:spcPts val="800"/>
              </a:spcAft>
            </a:pPr>
            <a:r>
              <a:rPr b="1" sz="1300">
                <a:solidFill>
                  <a:srgbClr val="18241B"/>
                </a:solidFill>
              </a:rPr>
              <a:t>• Stress before visible disease: </a:t>
            </a:r>
            <a:r>
              <a:rPr b="1" sz="1200">
                <a:solidFill>
                  <a:srgbClr val="4E7A3A"/>
                </a:solidFill>
              </a:rPr>
              <a:t>YES</a:t>
            </a:r>
          </a:p>
          <a:p>
            <a:pPr>
              <a:spcAft>
                <a:spcPts val="800"/>
              </a:spcAft>
            </a:pPr>
            <a:r>
              <a:rPr b="1" sz="1300">
                <a:solidFill>
                  <a:srgbClr val="18241B"/>
                </a:solidFill>
              </a:rPr>
              <a:t>• Berry size &amp; bunch count: </a:t>
            </a:r>
            <a:r>
              <a:rPr b="1" sz="1200">
                <a:solidFill>
                  <a:srgbClr val="566658"/>
                </a:solidFill>
              </a:rPr>
              <a:t>NO (needs standard RGB)</a:t>
            </a:r>
          </a:p>
          <a:p>
            <a:pPr>
              <a:spcAft>
                <a:spcPts val="800"/>
              </a:spcAft>
            </a:pPr>
            <a:r>
              <a:rPr b="1" sz="1300">
                <a:solidFill>
                  <a:srgbClr val="18241B"/>
                </a:solidFill>
              </a:rPr>
              <a:t>• Sugar (Brix) / raisin quality: </a:t>
            </a:r>
            <a:r>
              <a:rPr b="1" sz="1200">
                <a:solidFill>
                  <a:srgbClr val="C27E22"/>
                </a:solidFill>
              </a:rPr>
              <a:t>NO (needs hyperspectral)</a:t>
            </a:r>
          </a:p>
        </p:txBody>
      </p:sp>
      <p:sp>
        <p:nvSpPr>
          <p:cNvPr id="6" name="Rounded Rectangle 5"/>
          <p:cNvSpPr/>
          <p:nvPr/>
        </p:nvSpPr>
        <p:spPr>
          <a:xfrm>
            <a:off x="5577840" y="1645920"/>
            <a:ext cx="5882335" cy="13258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0" y="1783080"/>
            <a:ext cx="5486400" cy="1051560"/>
          </a:xfrm>
          <a:prstGeom prst="rect">
            <a:avLst/>
          </a:prstGeom>
          <a:noFill/>
        </p:spPr>
        <p:txBody>
          <a:bodyPr wrap="square">
            <a:spAutoFit/>
          </a:bodyPr>
          <a:lstStyle/>
          <a:p>
            <a:r>
              <a:rPr sz="1500" b="1">
                <a:solidFill>
                  <a:srgbClr val="18241B"/>
                </a:solidFill>
              </a:rPr>
              <a:t>M1   Survey3 on our cart pod</a:t>
            </a:r>
            <a:r>
              <a:rPr sz="1300" b="1">
                <a:solidFill>
                  <a:srgbClr val="C27E22"/>
                </a:solidFill>
              </a:rPr>
              <a:t>  (~₹50–70k)</a:t>
            </a:r>
          </a:p>
          <a:p>
            <a:pPr>
              <a:spcAft>
                <a:spcPts val="200"/>
              </a:spcAft>
            </a:pPr>
            <a:r>
              <a:rPr sz="1200">
                <a:solidFill>
                  <a:srgbClr val="566658"/>
                </a:solidFill>
              </a:rPr>
              <a:t>Side view under canopy suits bower trellis; provides NDVI vigour matched directly to per-vine bunch counts.</a:t>
            </a:r>
          </a:p>
          <a:p>
            <a:r>
              <a:rPr b="1" sz="1100">
                <a:solidFill>
                  <a:srgbClr val="4E7A3A"/>
                </a:solidFill>
              </a:rPr>
              <a:t>Status: Fits budget</a:t>
            </a:r>
          </a:p>
        </p:txBody>
      </p:sp>
      <p:sp>
        <p:nvSpPr>
          <p:cNvPr id="8" name="Rounded Rectangle 7"/>
          <p:cNvSpPr/>
          <p:nvPr/>
        </p:nvSpPr>
        <p:spPr>
          <a:xfrm>
            <a:off x="5577840" y="3108960"/>
            <a:ext cx="5882335" cy="13258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0" y="3246120"/>
            <a:ext cx="5486400" cy="1051560"/>
          </a:xfrm>
          <a:prstGeom prst="rect">
            <a:avLst/>
          </a:prstGeom>
          <a:noFill/>
        </p:spPr>
        <p:txBody>
          <a:bodyPr wrap="square">
            <a:spAutoFit/>
          </a:bodyPr>
          <a:lstStyle/>
          <a:p>
            <a:r>
              <a:rPr sz="1500" b="1">
                <a:solidFill>
                  <a:srgbClr val="18241B"/>
                </a:solidFill>
              </a:rPr>
              <a:t>M2   Hired drone survey service</a:t>
            </a:r>
            <a:r>
              <a:rPr sz="1300" b="1">
                <a:solidFill>
                  <a:srgbClr val="C27E22"/>
                </a:solidFill>
              </a:rPr>
              <a:t>  (Quote per flight)</a:t>
            </a:r>
          </a:p>
          <a:p>
            <a:pPr>
              <a:spcAft>
                <a:spcPts val="200"/>
              </a:spcAft>
            </a:pPr>
            <a:r>
              <a:rPr sz="1200">
                <a:solidFill>
                  <a:srgbClr val="566658"/>
                </a:solidFill>
              </a:rPr>
              <a:t>1–2 flights per season; inspects top of canopy only, cannot image bunches hanging underneath.</a:t>
            </a:r>
          </a:p>
          <a:p>
            <a:r>
              <a:rPr b="1" sz="1100">
                <a:solidFill>
                  <a:srgbClr val="4E7A3A"/>
                </a:solidFill>
              </a:rPr>
              <a:t>Status: Fits budget</a:t>
            </a:r>
          </a:p>
        </p:txBody>
      </p:sp>
      <p:sp>
        <p:nvSpPr>
          <p:cNvPr id="10" name="Rounded Rectangle 9"/>
          <p:cNvSpPr/>
          <p:nvPr/>
        </p:nvSpPr>
        <p:spPr>
          <a:xfrm>
            <a:off x="5577840" y="4572000"/>
            <a:ext cx="5882335" cy="13258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0" y="4709160"/>
            <a:ext cx="5486400" cy="1051560"/>
          </a:xfrm>
          <a:prstGeom prst="rect">
            <a:avLst/>
          </a:prstGeom>
          <a:noFill/>
        </p:spPr>
        <p:txBody>
          <a:bodyPr wrap="square">
            <a:spAutoFit/>
          </a:bodyPr>
          <a:lstStyle/>
          <a:p>
            <a:r>
              <a:rPr sz="1500" b="1">
                <a:solidFill>
                  <a:srgbClr val="18241B"/>
                </a:solidFill>
              </a:rPr>
              <a:t>M3   Own pro drone + RedEdge-P</a:t>
            </a:r>
            <a:r>
              <a:rPr sz="1300" b="1">
                <a:solidFill>
                  <a:srgbClr val="C27E22"/>
                </a:solidFill>
              </a:rPr>
              <a:t>  (₹11.5 lakh + drone)</a:t>
            </a:r>
          </a:p>
          <a:p>
            <a:pPr>
              <a:spcAft>
                <a:spcPts val="200"/>
              </a:spcAft>
            </a:pPr>
            <a:r>
              <a:rPr sz="1200">
                <a:solidFill>
                  <a:srgbClr val="566658"/>
                </a:solidFill>
              </a:rPr>
              <a:t>Calibrated 5-band research payload; far beyond realistic 4.5-acre budget.</a:t>
            </a:r>
          </a:p>
          <a:p>
            <a:r>
              <a:rPr b="1" sz="1100">
                <a:solidFill>
                  <a:srgbClr val="9E2A2B"/>
                </a:solidFill>
              </a:rPr>
              <a:t>Status: Over budget</a:t>
            </a:r>
          </a:p>
        </p:txBody>
      </p:sp>
      <p:sp>
        <p:nvSpPr>
          <p:cNvPr id="12" name="TextBox 11"/>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18241B"/>
                </a:solidFill>
                <a:latin typeface="Georgia"/>
              </a:rPr>
              <a:t>Macro + micro + ground truth</a:t>
            </a:r>
          </a:p>
        </p:txBody>
      </p:sp>
      <p:sp>
        <p:nvSpPr>
          <p:cNvPr id="4" name="Rounded Rectangle 3"/>
          <p:cNvSpPr/>
          <p:nvPr/>
        </p:nvSpPr>
        <p:spPr>
          <a:xfrm>
            <a:off x="731520" y="1645920"/>
            <a:ext cx="3474720" cy="228600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108960" cy="1920240"/>
          </a:xfrm>
          <a:prstGeom prst="rect">
            <a:avLst/>
          </a:prstGeom>
          <a:noFill/>
        </p:spPr>
        <p:txBody>
          <a:bodyPr wrap="square">
            <a:spAutoFit/>
          </a:bodyPr>
          <a:lstStyle/>
          <a:p>
            <a:r>
              <a:rPr sz="1600" b="1">
                <a:solidFill>
                  <a:srgbClr val="4E7A3A"/>
                </a:solidFill>
              </a:rPr>
              <a:t>Macro: Fyllo Station</a:t>
            </a:r>
          </a:p>
          <a:p>
            <a:pPr>
              <a:spcAft>
                <a:spcPts val="600"/>
              </a:spcAft>
            </a:pPr>
            <a:r>
              <a:rPr sz="1200" b="1">
                <a:solidFill>
                  <a:srgbClr val="C27E22"/>
                </a:solidFill>
              </a:rPr>
              <a:t>1 point, hourly</a:t>
            </a:r>
          </a:p>
          <a:p>
            <a:r>
              <a:rPr sz="1250">
                <a:solidFill>
                  <a:srgbClr val="566658"/>
                </a:solidFill>
              </a:rPr>
              <a:t>Tracks heat units (GDD), leaf wetness, relative humidity, soil moisture at 8"/16", rainfall, and light intensity.</a:t>
            </a:r>
          </a:p>
        </p:txBody>
      </p:sp>
      <p:sp>
        <p:nvSpPr>
          <p:cNvPr id="6" name="Rounded Rectangle 5"/>
          <p:cNvSpPr/>
          <p:nvPr/>
        </p:nvSpPr>
        <p:spPr>
          <a:xfrm>
            <a:off x="4343400" y="1645920"/>
            <a:ext cx="3474720" cy="228600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828800"/>
            <a:ext cx="3108960" cy="1920240"/>
          </a:xfrm>
          <a:prstGeom prst="rect">
            <a:avLst/>
          </a:prstGeom>
          <a:noFill/>
        </p:spPr>
        <p:txBody>
          <a:bodyPr wrap="square">
            <a:spAutoFit/>
          </a:bodyPr>
          <a:lstStyle/>
          <a:p>
            <a:r>
              <a:rPr sz="1600" b="1">
                <a:solidFill>
                  <a:srgbClr val="4E7A3A"/>
                </a:solidFill>
              </a:rPr>
              <a:t>Micro: Camera Cart</a:t>
            </a:r>
          </a:p>
          <a:p>
            <a:pPr>
              <a:spcAft>
                <a:spcPts val="600"/>
              </a:spcAft>
            </a:pPr>
            <a:r>
              <a:rPr sz="1200" b="1">
                <a:solidFill>
                  <a:srgbClr val="C27E22"/>
                </a:solidFill>
              </a:rPr>
              <a:t>4,100 vines, weekly</a:t>
            </a:r>
          </a:p>
          <a:p>
            <a:r>
              <a:rPr sz="1250">
                <a:solidFill>
                  <a:srgbClr val="566658"/>
                </a:solidFill>
              </a:rPr>
              <a:t>Measures bunch counts per vine, berry sizing progression, canopy density (NDVI), and visual leaf symptoms.</a:t>
            </a:r>
          </a:p>
        </p:txBody>
      </p:sp>
      <p:sp>
        <p:nvSpPr>
          <p:cNvPr id="8" name="Rounded Rectangle 7"/>
          <p:cNvSpPr/>
          <p:nvPr/>
        </p:nvSpPr>
        <p:spPr>
          <a:xfrm>
            <a:off x="7955280" y="1645920"/>
            <a:ext cx="3474720" cy="228600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828800"/>
            <a:ext cx="3108960" cy="1920240"/>
          </a:xfrm>
          <a:prstGeom prst="rect">
            <a:avLst/>
          </a:prstGeom>
          <a:noFill/>
        </p:spPr>
        <p:txBody>
          <a:bodyPr wrap="square">
            <a:spAutoFit/>
          </a:bodyPr>
          <a:lstStyle/>
          <a:p>
            <a:r>
              <a:rPr sz="1600" b="1">
                <a:solidFill>
                  <a:srgbClr val="4E7A3A"/>
                </a:solidFill>
              </a:rPr>
              <a:t>Ground Truth: Manual</a:t>
            </a:r>
          </a:p>
          <a:p>
            <a:pPr>
              <a:spcAft>
                <a:spcPts val="600"/>
              </a:spcAft>
            </a:pPr>
            <a:r>
              <a:rPr sz="1200" b="1">
                <a:solidFill>
                  <a:srgbClr val="C27E22"/>
                </a:solidFill>
              </a:rPr>
              <a:t>~20 tagged vines, key dates</a:t>
            </a:r>
          </a:p>
          <a:p>
            <a:r>
              <a:rPr sz="1250">
                <a:solidFill>
                  <a:srgbClr val="566658"/>
                </a:solidFill>
              </a:rPr>
              <a:t>Hand vernier caliper berry measurements, hand refractometer Brix curves, crates per row, and raisin recovery.</a:t>
            </a:r>
          </a:p>
        </p:txBody>
      </p:sp>
      <p:sp>
        <p:nvSpPr>
          <p:cNvPr id="10" name="Rounded Rectangle 9"/>
          <p:cNvSpPr/>
          <p:nvPr/>
        </p:nvSpPr>
        <p:spPr>
          <a:xfrm>
            <a:off x="731520" y="4069080"/>
            <a:ext cx="10728655" cy="73152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0520"/>
            <a:ext cx="10332720" cy="548640"/>
          </a:xfrm>
          <a:prstGeom prst="rect">
            <a:avLst/>
          </a:prstGeom>
          <a:noFill/>
        </p:spPr>
        <p:txBody>
          <a:bodyPr wrap="none">
            <a:spAutoFit/>
          </a:bodyPr>
          <a:lstStyle/>
          <a:p>
            <a:pPr algn="ctr"/>
            <a:r>
              <a:rPr b="1" sz="1400">
                <a:solidFill>
                  <a:srgbClr val="18241B"/>
                </a:solidFill>
              </a:rPr>
              <a:t>Macro predicts EXPECTED growth  →  Micro shows OBSERVED per vine  →  DEVIATION is what we act on</a:t>
            </a:r>
          </a:p>
        </p:txBody>
      </p:sp>
      <p:sp>
        <p:nvSpPr>
          <p:cNvPr id="12" name="Rounded Rectangle 11"/>
          <p:cNvSpPr/>
          <p:nvPr/>
        </p:nvSpPr>
        <p:spPr>
          <a:xfrm>
            <a:off x="731520" y="4937760"/>
            <a:ext cx="7132320" cy="118872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029200"/>
            <a:ext cx="6766560" cy="1005840"/>
          </a:xfrm>
          <a:prstGeom prst="rect">
            <a:avLst/>
          </a:prstGeom>
          <a:noFill/>
        </p:spPr>
        <p:txBody>
          <a:bodyPr wrap="square">
            <a:spAutoFit/>
          </a:bodyPr>
          <a:lstStyle/>
          <a:p>
            <a:r>
              <a:rPr b="1" sz="1300">
                <a:solidFill>
                  <a:srgbClr val="4E7A3A"/>
                </a:solidFill>
              </a:rPr>
              <a:t>Where It Works: </a:t>
            </a:r>
            <a:r>
              <a:rPr sz="1200">
                <a:solidFill>
                  <a:srgbClr val="566658"/>
                </a:solidFill>
              </a:rPr>
              <a:t>Heat units predict expected berry curve; farm-wide vs local slows distinguish irrigation deficits from vine pests; wet spells trigger targeted visual mildew inspection.</a:t>
            </a:r>
          </a:p>
        </p:txBody>
      </p:sp>
      <p:sp>
        <p:nvSpPr>
          <p:cNvPr id="14" name="Rounded Rectangle 13"/>
          <p:cNvSpPr/>
          <p:nvPr/>
        </p:nvSpPr>
        <p:spPr>
          <a:xfrm>
            <a:off x="8046720" y="4937760"/>
            <a:ext cx="3413455" cy="118872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5029200"/>
            <a:ext cx="3017520" cy="1005840"/>
          </a:xfrm>
          <a:prstGeom prst="rect">
            <a:avLst/>
          </a:prstGeom>
          <a:noFill/>
        </p:spPr>
        <p:txBody>
          <a:bodyPr wrap="square">
            <a:spAutoFit/>
          </a:bodyPr>
          <a:lstStyle/>
          <a:p>
            <a:r>
              <a:rPr b="1" sz="1300">
                <a:solidFill>
                  <a:srgbClr val="9E2A2B"/>
                </a:solidFill>
              </a:rPr>
              <a:t>Limits: </a:t>
            </a:r>
            <a:r>
              <a:rPr sz="1200">
                <a:solidFill>
                  <a:srgbClr val="566658"/>
                </a:solidFill>
              </a:rPr>
              <a:t>Single weather point cannot explain row-level soil variance; periodic hand sampling remains essential to calibrate cameras.</a:t>
            </a:r>
          </a:p>
        </p:txBody>
      </p:sp>
      <p:sp>
        <p:nvSpPr>
          <p:cNvPr id="16" name="TextBox 15"/>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18241B"/>
                </a:solidFill>
                <a:latin typeface="Georgia"/>
              </a:rPr>
              <a:t>Raisin shed and security options</a:t>
            </a:r>
          </a:p>
        </p:txBody>
      </p:sp>
      <p:sp>
        <p:nvSpPr>
          <p:cNvPr id="4" name="Rounded Rectangle 3"/>
          <p:cNvSpPr/>
          <p:nvPr/>
        </p:nvSpPr>
        <p:spPr>
          <a:xfrm>
            <a:off x="731520" y="1645920"/>
            <a:ext cx="5212080" cy="438912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846320" cy="4023360"/>
          </a:xfrm>
          <a:prstGeom prst="rect">
            <a:avLst/>
          </a:prstGeom>
          <a:noFill/>
        </p:spPr>
        <p:txBody>
          <a:bodyPr wrap="square">
            <a:spAutoFit/>
          </a:bodyPr>
          <a:lstStyle/>
          <a:p>
            <a:pPr>
              <a:spcAft>
                <a:spcPts val="1000"/>
              </a:spcAft>
            </a:pPr>
            <a:r>
              <a:rPr sz="1800" b="1">
                <a:solidFill>
                  <a:srgbClr val="C27E22"/>
                </a:solidFill>
              </a:rPr>
              <a:t>Raisin Shed Quality Instrumentation</a:t>
            </a:r>
          </a:p>
          <a:p>
            <a:pPr>
              <a:spcAft>
                <a:spcPts val="800"/>
              </a:spcAft>
            </a:pPr>
            <a:r>
              <a:rPr sz="1250">
                <a:solidFill>
                  <a:srgbClr val="566658"/>
                </a:solidFill>
              </a:rPr>
              <a:t>• Temp + humidity (3 tiers) (ESP32 + SHT31):
  Humid spells trigger mold &amp; dark browning</a:t>
            </a:r>
          </a:p>
          <a:p>
            <a:pPr>
              <a:spcAft>
                <a:spcPts val="800"/>
              </a:spcAft>
            </a:pPr>
            <a:r>
              <a:rPr sz="1250">
                <a:solidFill>
                  <a:srgbClr val="566658"/>
                </a:solidFill>
              </a:rPr>
              <a:t>• Sample rack weight (Load cell):
  Continuously tracks drying curve and true recovery ratio</a:t>
            </a:r>
          </a:p>
          <a:p>
            <a:pPr>
              <a:spcAft>
                <a:spcPts val="800"/>
              </a:spcAft>
            </a:pPr>
            <a:r>
              <a:rPr sz="1250">
                <a:solidFill>
                  <a:srgbClr val="566658"/>
                </a:solidFill>
              </a:rPr>
              <a:t>• Berry colour tracking (Time-lapse camera):
  Quantifies golden vs brown colour progression</a:t>
            </a:r>
          </a:p>
          <a:p>
            <a:pPr>
              <a:spcAft>
                <a:spcPts val="800"/>
              </a:spcAft>
            </a:pPr>
            <a:r>
              <a:rPr sz="1250">
                <a:solidFill>
                  <a:srgbClr val="566658"/>
                </a:solidFill>
              </a:rPr>
              <a:t>• Pretreatment log (Log sheet / photo):
  Links field harvest Brix directly to final market grade</a:t>
            </a:r>
          </a:p>
        </p:txBody>
      </p:sp>
      <p:sp>
        <p:nvSpPr>
          <p:cNvPr id="6" name="Rounded Rectangle 5"/>
          <p:cNvSpPr/>
          <p:nvPr/>
        </p:nvSpPr>
        <p:spPr>
          <a:xfrm>
            <a:off x="6217920" y="1645920"/>
            <a:ext cx="5212080" cy="438912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023360"/>
          </a:xfrm>
          <a:prstGeom prst="rect">
            <a:avLst/>
          </a:prstGeom>
          <a:noFill/>
        </p:spPr>
        <p:txBody>
          <a:bodyPr wrap="square">
            <a:spAutoFit/>
          </a:bodyPr>
          <a:lstStyle/>
          <a:p>
            <a:pPr>
              <a:spcAft>
                <a:spcPts val="1000"/>
              </a:spcAft>
            </a:pPr>
            <a:r>
              <a:rPr sz="1800" b="1">
                <a:solidFill>
                  <a:srgbClr val="18241B"/>
                </a:solidFill>
              </a:rPr>
              <a:t>Security Architecture (No Fixed IP)</a:t>
            </a:r>
          </a:p>
          <a:p>
            <a:pPr>
              <a:spcAft>
                <a:spcPts val="800"/>
              </a:spcAft>
            </a:pPr>
            <a:r>
              <a:rPr sz="1250">
                <a:solidFill>
                  <a:srgbClr val="566658"/>
                </a:solidFill>
              </a:rPr>
              <a:t>• S1  Solar 4G Cameras (AI on device):
  Detect people at camera level; sends alerts via vendor app. Plugs perimeter border gaps cheaply.</a:t>
            </a:r>
          </a:p>
          <a:p>
            <a:pPr>
              <a:spcAft>
                <a:spcPts val="800"/>
              </a:spcAft>
            </a:pPr>
            <a:r>
              <a:rPr sz="1250">
                <a:solidFill>
                  <a:srgbClr val="566658"/>
                </a:solidFill>
              </a:rPr>
              <a:t>• S2  Small Shed Computer:
  Reads existing cameras locally via RTSP, runs person detector, dispatches push alerts over 4G.</a:t>
            </a:r>
          </a:p>
          <a:p>
            <a:pPr>
              <a:spcAft>
                <a:spcPts val="800"/>
              </a:spcAft>
            </a:pPr>
            <a:r>
              <a:rPr sz="1250">
                <a:solidFill>
                  <a:srgbClr val="566658"/>
                </a:solidFill>
              </a:rPr>
              <a:t>• S3  Private Mesh VPN (Tailscale):
  ZeroTier / Tailscale deployed on S2 to stream camera feeds remotely without static public IP.</a:t>
            </a:r>
          </a:p>
        </p:txBody>
      </p:sp>
      <p:sp>
        <p:nvSpPr>
          <p:cNvPr id="8" name="TextBox 7"/>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18241B"/>
                </a:solidFill>
                <a:latin typeface="Georgia"/>
              </a:rPr>
              <a:t>Budget options within ₹3 lakh</a:t>
            </a:r>
          </a:p>
        </p:txBody>
      </p:sp>
      <p:graphicFrame>
        <p:nvGraphicFramePr>
          <p:cNvPr id="4" name="Table 3"/>
          <p:cNvGraphicFramePr>
            <a:graphicFrameLocks noGrp="1"/>
          </p:cNvGraphicFramePr>
          <p:nvPr/>
        </p:nvGraphicFramePr>
        <p:xfrm>
          <a:off x="731520" y="1645920"/>
          <a:ext cx="7132320" cy="4389120"/>
        </p:xfrm>
        <a:graphic>
          <a:graphicData uri="http://schemas.openxmlformats.org/drawingml/2006/table">
            <a:tbl>
              <a:tblPr firstRow="1" bandRow="1">
                <a:tableStyleId>{5C22544A-7EE6-4342-B048-85BDC9FD1C3A}</a:tableStyleId>
              </a:tblPr>
              <a:tblGrid>
                <a:gridCol w="4206240"/>
                <a:gridCol w="1645920"/>
                <a:gridCol w="1280160"/>
              </a:tblGrid>
              <a:tr h="438912">
                <a:tc>
                  <a:txBody>
                    <a:bodyPr/>
                    <a:lstStyle/>
                    <a:p>
                      <a:r>
                        <a:rPr b="1" sz="1200">
                          <a:solidFill>
                            <a:srgbClr val="18241B"/>
                          </a:solidFill>
                        </a:rPr>
                        <a:t>Item</a:t>
                      </a:r>
                    </a:p>
                  </a:txBody>
                  <a:tcPr>
                    <a:solidFill>
                      <a:srgbClr val="F0EDE4"/>
                    </a:solidFill>
                  </a:tcPr>
                </a:tc>
                <a:tc>
                  <a:txBody>
                    <a:bodyPr/>
                    <a:lstStyle/>
                    <a:p>
                      <a:r>
                        <a:rPr b="1" sz="1200">
                          <a:solidFill>
                            <a:srgbClr val="18241B"/>
                          </a:solidFill>
                        </a:rPr>
                        <a:t>Cost Range</a:t>
                      </a:r>
                    </a:p>
                  </a:txBody>
                  <a:tcPr>
                    <a:solidFill>
                      <a:srgbClr val="F0EDE4"/>
                    </a:solidFill>
                  </a:tcPr>
                </a:tc>
                <a:tc>
                  <a:txBody>
                    <a:bodyPr/>
                    <a:lstStyle/>
                    <a:p>
                      <a:r>
                        <a:rPr b="1" sz="1200">
                          <a:solidFill>
                            <a:srgbClr val="18241B"/>
                          </a:solidFill>
                        </a:rPr>
                        <a:t>Need Tier</a:t>
                      </a:r>
                    </a:p>
                  </a:txBody>
                  <a:tcPr>
                    <a:solidFill>
                      <a:srgbClr val="F0EDE4"/>
                    </a:solidFill>
                  </a:tcPr>
                </a:tc>
              </a:tr>
              <a:tr h="438912">
                <a:tc>
                  <a:txBody>
                    <a:bodyPr/>
                    <a:lstStyle/>
                    <a:p>
                      <a:r>
                        <a:rPr sz="1100">
                          <a:solidFill>
                            <a:srgbClr val="18241B"/>
                          </a:solidFill>
                        </a:rPr>
                        <a:t>2 × 4K action cameras (locked shutter)</a:t>
                      </a:r>
                    </a:p>
                  </a:txBody>
                  <a:tcPr/>
                </a:tc>
                <a:tc>
                  <a:txBody>
                    <a:bodyPr/>
                    <a:lstStyle/>
                    <a:p>
                      <a:r>
                        <a:rPr sz="1100"/>
                        <a:t>₹60–90k</a:t>
                      </a:r>
                    </a:p>
                  </a:txBody>
                  <a:tcPr/>
                </a:tc>
                <a:tc>
                  <a:txBody>
                    <a:bodyPr/>
                    <a:lstStyle/>
                    <a:p>
                      <a:r>
                        <a:rPr b="1" sz="1100">
                          <a:solidFill>
                            <a:srgbClr val="4E7A3A"/>
                          </a:solidFill>
                        </a:rPr>
                        <a:t>Core</a:t>
                      </a:r>
                    </a:p>
                  </a:txBody>
                  <a:tcPr/>
                </a:tc>
              </a:tr>
              <a:tr h="438912">
                <a:tc>
                  <a:txBody>
                    <a:bodyPr/>
                    <a:lstStyle/>
                    <a:p>
                      <a:r>
                        <a:rPr sz="1100">
                          <a:solidFill>
                            <a:srgbClr val="18241B"/>
                          </a:solidFill>
                        </a:rPr>
                        <a:t>MAPIR Survey3 + calibration panel (M1)</a:t>
                      </a:r>
                    </a:p>
                  </a:txBody>
                  <a:tcPr/>
                </a:tc>
                <a:tc>
                  <a:txBody>
                    <a:bodyPr/>
                    <a:lstStyle/>
                    <a:p>
                      <a:r>
                        <a:rPr sz="1100"/>
                        <a:t>₹50–70k</a:t>
                      </a:r>
                    </a:p>
                  </a:txBody>
                  <a:tcPr/>
                </a:tc>
                <a:tc>
                  <a:txBody>
                    <a:bodyPr/>
                    <a:lstStyle/>
                    <a:p>
                      <a:r>
                        <a:rPr b="1" sz="1100">
                          <a:solidFill>
                            <a:srgbClr val="C27E22"/>
                          </a:solidFill>
                        </a:rPr>
                        <a:t>Option</a:t>
                      </a:r>
                    </a:p>
                  </a:txBody>
                  <a:tcPr/>
                </a:tc>
              </a:tr>
              <a:tr h="438912">
                <a:tc>
                  <a:txBody>
                    <a:bodyPr/>
                    <a:lstStyle/>
                    <a:p>
                      <a:r>
                        <a:rPr sz="1100">
                          <a:solidFill>
                            <a:srgbClr val="18241B"/>
                          </a:solidFill>
                        </a:rPr>
                        <a:t>Pod: clamps, dampers, sealed case, 2 LED bars, 12V</a:t>
                      </a:r>
                    </a:p>
                  </a:txBody>
                  <a:tcPr/>
                </a:tc>
                <a:tc>
                  <a:txBody>
                    <a:bodyPr/>
                    <a:lstStyle/>
                    <a:p>
                      <a:r>
                        <a:rPr sz="1100"/>
                        <a:t>₹15–25k</a:t>
                      </a:r>
                    </a:p>
                  </a:txBody>
                  <a:tcPr/>
                </a:tc>
                <a:tc>
                  <a:txBody>
                    <a:bodyPr/>
                    <a:lstStyle/>
                    <a:p>
                      <a:r>
                        <a:rPr b="1" sz="1100">
                          <a:solidFill>
                            <a:srgbClr val="4E7A3A"/>
                          </a:solidFill>
                        </a:rPr>
                        <a:t>Core</a:t>
                      </a:r>
                    </a:p>
                  </a:txBody>
                  <a:tcPr/>
                </a:tc>
              </a:tr>
              <a:tr h="438912">
                <a:tc>
                  <a:txBody>
                    <a:bodyPr/>
                    <a:lstStyle/>
                    <a:p>
                      <a:r>
                        <a:rPr sz="1100">
                          <a:solidFill>
                            <a:srgbClr val="18241B"/>
                          </a:solidFill>
                        </a:rPr>
                        <a:t>GPS logger, row boards, scale cards, tags</a:t>
                      </a:r>
                    </a:p>
                  </a:txBody>
                  <a:tcPr/>
                </a:tc>
                <a:tc>
                  <a:txBody>
                    <a:bodyPr/>
                    <a:lstStyle/>
                    <a:p>
                      <a:r>
                        <a:rPr sz="1100"/>
                        <a:t>₹5–10k</a:t>
                      </a:r>
                    </a:p>
                  </a:txBody>
                  <a:tcPr/>
                </a:tc>
                <a:tc>
                  <a:txBody>
                    <a:bodyPr/>
                    <a:lstStyle/>
                    <a:p>
                      <a:r>
                        <a:rPr b="1" sz="1100">
                          <a:solidFill>
                            <a:srgbClr val="4E7A3A"/>
                          </a:solidFill>
                        </a:rPr>
                        <a:t>Core</a:t>
                      </a:r>
                    </a:p>
                  </a:txBody>
                  <a:tcPr/>
                </a:tc>
              </a:tr>
              <a:tr h="438912">
                <a:tc>
                  <a:txBody>
                    <a:bodyPr/>
                    <a:lstStyle/>
                    <a:p>
                      <a:r>
                        <a:rPr sz="1100">
                          <a:solidFill>
                            <a:srgbClr val="18241B"/>
                          </a:solidFill>
                        </a:rPr>
                        <a:t>Shed: 3-tier sensors, load cell, time-lapse</a:t>
                      </a:r>
                    </a:p>
                  </a:txBody>
                  <a:tcPr/>
                </a:tc>
                <a:tc>
                  <a:txBody>
                    <a:bodyPr/>
                    <a:lstStyle/>
                    <a:p>
                      <a:r>
                        <a:rPr sz="1100"/>
                        <a:t>₹15–25k</a:t>
                      </a:r>
                    </a:p>
                  </a:txBody>
                  <a:tcPr/>
                </a:tc>
                <a:tc>
                  <a:txBody>
                    <a:bodyPr/>
                    <a:lstStyle/>
                    <a:p>
                      <a:r>
                        <a:rPr b="1" sz="1100">
                          <a:solidFill>
                            <a:srgbClr val="4E7A3A"/>
                          </a:solidFill>
                        </a:rPr>
                        <a:t>Core</a:t>
                      </a:r>
                    </a:p>
                  </a:txBody>
                  <a:tcPr/>
                </a:tc>
              </a:tr>
              <a:tr h="438912">
                <a:tc>
                  <a:txBody>
                    <a:bodyPr/>
                    <a:lstStyle/>
                    <a:p>
                      <a:r>
                        <a:rPr sz="1100">
                          <a:solidFill>
                            <a:srgbClr val="18241B"/>
                          </a:solidFill>
                        </a:rPr>
                        <a:t>CCTV gaps: 2 solar 4G AI cameras (S1)</a:t>
                      </a:r>
                    </a:p>
                  </a:txBody>
                  <a:tcPr/>
                </a:tc>
                <a:tc>
                  <a:txBody>
                    <a:bodyPr/>
                    <a:lstStyle/>
                    <a:p>
                      <a:r>
                        <a:rPr sz="1100"/>
                        <a:t>₹25–40k</a:t>
                      </a:r>
                    </a:p>
                  </a:txBody>
                  <a:tcPr/>
                </a:tc>
                <a:tc>
                  <a:txBody>
                    <a:bodyPr/>
                    <a:lstStyle/>
                    <a:p>
                      <a:r>
                        <a:rPr b="1" sz="1100">
                          <a:solidFill>
                            <a:srgbClr val="C27E22"/>
                          </a:solidFill>
                        </a:rPr>
                        <a:t>Option</a:t>
                      </a:r>
                    </a:p>
                  </a:txBody>
                  <a:tcPr/>
                </a:tc>
              </a:tr>
              <a:tr h="438912">
                <a:tc>
                  <a:txBody>
                    <a:bodyPr/>
                    <a:lstStyle/>
                    <a:p>
                      <a:r>
                        <a:rPr sz="1100">
                          <a:solidFill>
                            <a:srgbClr val="18241B"/>
                          </a:solidFill>
                        </a:rPr>
                        <a:t>SD cards + portable SSD (D1)</a:t>
                      </a:r>
                    </a:p>
                  </a:txBody>
                  <a:tcPr/>
                </a:tc>
                <a:tc>
                  <a:txBody>
                    <a:bodyPr/>
                    <a:lstStyle/>
                    <a:p>
                      <a:r>
                        <a:rPr sz="1100"/>
                        <a:t>₹8–12k</a:t>
                      </a:r>
                    </a:p>
                  </a:txBody>
                  <a:tcPr/>
                </a:tc>
                <a:tc>
                  <a:txBody>
                    <a:bodyPr/>
                    <a:lstStyle/>
                    <a:p>
                      <a:r>
                        <a:rPr b="1" sz="1100">
                          <a:solidFill>
                            <a:srgbClr val="4E7A3A"/>
                          </a:solidFill>
                        </a:rPr>
                        <a:t>Core</a:t>
                      </a:r>
                    </a:p>
                  </a:txBody>
                  <a:tcPr/>
                </a:tc>
              </a:tr>
              <a:tr h="438912">
                <a:tc>
                  <a:txBody>
                    <a:bodyPr/>
                    <a:lstStyle/>
                    <a:p>
                      <a:r>
                        <a:rPr sz="1100">
                          <a:solidFill>
                            <a:srgbClr val="18241B"/>
                          </a:solidFill>
                        </a:rPr>
                        <a:t>Weather, soil, disease (Fyllo station)</a:t>
                      </a:r>
                    </a:p>
                  </a:txBody>
                  <a:tcPr/>
                </a:tc>
                <a:tc>
                  <a:txBody>
                    <a:bodyPr/>
                    <a:lstStyle/>
                    <a:p>
                      <a:r>
                        <a:rPr sz="1100"/>
                        <a:t>₹0</a:t>
                      </a:r>
                    </a:p>
                  </a:txBody>
                  <a:tcPr/>
                </a:tc>
                <a:tc>
                  <a:txBody>
                    <a:bodyPr/>
                    <a:lstStyle/>
                    <a:p>
                      <a:r>
                        <a:rPr b="1" sz="1100">
                          <a:solidFill>
                            <a:srgbClr val="566658"/>
                          </a:solidFill>
                        </a:rPr>
                        <a:t>Have</a:t>
                      </a:r>
                    </a:p>
                  </a:txBody>
                  <a:tcPr/>
                </a:tc>
              </a:tr>
              <a:tr h="438912">
                <a:tc>
                  <a:txBody>
                    <a:bodyPr/>
                    <a:lstStyle/>
                    <a:p>
                      <a:r>
                        <a:rPr sz="1100">
                          <a:solidFill>
                            <a:srgbClr val="18241B"/>
                          </a:solidFill>
                        </a:rPr>
                        <a:t>Contingency or D2 on-board upgrade later</a:t>
                      </a:r>
                    </a:p>
                  </a:txBody>
                  <a:tcPr/>
                </a:tc>
                <a:tc>
                  <a:txBody>
                    <a:bodyPr/>
                    <a:lstStyle/>
                    <a:p>
                      <a:r>
                        <a:rPr sz="1100"/>
                        <a:t>₹30–50k</a:t>
                      </a:r>
                    </a:p>
                  </a:txBody>
                  <a:tcPr/>
                </a:tc>
                <a:tc>
                  <a:txBody>
                    <a:bodyPr/>
                    <a:lstStyle/>
                    <a:p>
                      <a:r>
                        <a:rPr b="1" sz="1100">
                          <a:solidFill>
                            <a:srgbClr val="566658"/>
                          </a:solidFill>
                        </a:rPr>
                        <a:t>Reserve</a:t>
                      </a:r>
                    </a:p>
                  </a:txBody>
                  <a:tcPr/>
                </a:tc>
              </a:tr>
            </a:tbl>
          </a:graphicData>
        </a:graphic>
      </p:graphicFrame>
      <p:sp>
        <p:nvSpPr>
          <p:cNvPr id="5" name="Rounded Rectangle 4"/>
          <p:cNvSpPr/>
          <p:nvPr/>
        </p:nvSpPr>
        <p:spPr>
          <a:xfrm>
            <a:off x="8138160" y="1645920"/>
            <a:ext cx="3322015" cy="2011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0" y="1920240"/>
            <a:ext cx="2926080" cy="1554480"/>
          </a:xfrm>
          <a:prstGeom prst="rect">
            <a:avLst/>
          </a:prstGeom>
          <a:noFill/>
        </p:spPr>
        <p:txBody>
          <a:bodyPr wrap="square">
            <a:spAutoFit/>
          </a:bodyPr>
          <a:lstStyle/>
          <a:p>
            <a:r>
              <a:rPr sz="4400" b="1">
                <a:solidFill>
                  <a:srgbClr val="4E7A3A"/>
                </a:solidFill>
                <a:latin typeface="Georgia"/>
              </a:rPr>
              <a:t>₹2.1–3 L</a:t>
            </a:r>
          </a:p>
          <a:p>
            <a:r>
              <a:rPr sz="1300">
                <a:solidFill>
                  <a:srgbClr val="566658"/>
                </a:solidFill>
              </a:rPr>
              <a:t>total project capital required, depending on optional modules selected.</a:t>
            </a:r>
          </a:p>
        </p:txBody>
      </p:sp>
      <p:sp>
        <p:nvSpPr>
          <p:cNvPr id="7" name="Rounded Rectangle 6"/>
          <p:cNvSpPr/>
          <p:nvPr/>
        </p:nvSpPr>
        <p:spPr>
          <a:xfrm>
            <a:off x="8138160" y="3931920"/>
            <a:ext cx="3322015" cy="210312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0" y="4206240"/>
            <a:ext cx="2926080" cy="1645920"/>
          </a:xfrm>
          <a:prstGeom prst="rect">
            <a:avLst/>
          </a:prstGeom>
          <a:noFill/>
        </p:spPr>
        <p:txBody>
          <a:bodyPr wrap="square">
            <a:spAutoFit/>
          </a:bodyPr>
          <a:lstStyle/>
          <a:p>
            <a:r>
              <a:rPr sz="4400" b="1">
                <a:solidFill>
                  <a:srgbClr val="C27E22"/>
                </a:solidFill>
                <a:latin typeface="Georgia"/>
              </a:rPr>
              <a:t>₹25–65k</a:t>
            </a:r>
          </a:p>
          <a:p>
            <a:r>
              <a:rPr sz="1300">
                <a:solidFill>
                  <a:srgbClr val="566658"/>
                </a:solidFill>
              </a:rPr>
              <a:t>saved upfront because Fyllo IoT already covers weather, soil moisture, and microclimate.</a:t>
            </a:r>
          </a:p>
        </p:txBody>
      </p:sp>
      <p:sp>
        <p:nvSpPr>
          <p:cNvPr id="9" name="TextBox 8"/>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18241B"/>
                </a:solidFill>
                <a:latin typeface="Georgia"/>
              </a:rPr>
              <a:t>This season, step by step</a:t>
            </a:r>
          </a:p>
        </p:txBody>
      </p:sp>
      <p:sp>
        <p:nvSpPr>
          <p:cNvPr id="4" name="Rounded Rectangle 3"/>
          <p:cNvSpPr/>
          <p:nvPr/>
        </p:nvSpPr>
        <p:spPr>
          <a:xfrm>
            <a:off x="731520" y="1645920"/>
            <a:ext cx="1234440" cy="31089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37360"/>
            <a:ext cx="1143000" cy="2834640"/>
          </a:xfrm>
          <a:prstGeom prst="rect">
            <a:avLst/>
          </a:prstGeom>
          <a:noFill/>
        </p:spPr>
        <p:txBody>
          <a:bodyPr wrap="square">
            <a:spAutoFit/>
          </a:bodyPr>
          <a:lstStyle/>
          <a:p>
            <a:pPr algn="ctr">
              <a:spcAft>
                <a:spcPts val="600"/>
              </a:spcAft>
            </a:pPr>
            <a:r>
              <a:rPr sz="1100" b="1">
                <a:solidFill>
                  <a:srgbClr val="4E7A3A"/>
                </a:solidFill>
              </a:rPr>
              <a:t>Late Oct</a:t>
            </a:r>
          </a:p>
          <a:p>
            <a:pPr algn="ctr">
              <a:spcAft>
                <a:spcPts val="800"/>
              </a:spcAft>
            </a:pPr>
            <a:r>
              <a:rPr sz="2200" b="1">
                <a:solidFill>
                  <a:srgbClr val="18241B"/>
                </a:solidFill>
                <a:latin typeface="Georgia"/>
              </a:rPr>
              <a:t>1</a:t>
            </a:r>
          </a:p>
          <a:p>
            <a:pPr algn="ctr"/>
            <a:r>
              <a:rPr sz="1100">
                <a:solidFill>
                  <a:srgbClr val="566658"/>
                </a:solidFill>
              </a:rPr>
              <a:t>Row boards, pilot pod, test lighting</a:t>
            </a:r>
          </a:p>
        </p:txBody>
      </p:sp>
      <p:sp>
        <p:nvSpPr>
          <p:cNvPr id="6" name="Rounded Rectangle 5"/>
          <p:cNvSpPr/>
          <p:nvPr/>
        </p:nvSpPr>
        <p:spPr>
          <a:xfrm>
            <a:off x="2066543" y="1645920"/>
            <a:ext cx="1234440" cy="31089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12263" y="1737360"/>
            <a:ext cx="1143000" cy="2834640"/>
          </a:xfrm>
          <a:prstGeom prst="rect">
            <a:avLst/>
          </a:prstGeom>
          <a:noFill/>
        </p:spPr>
        <p:txBody>
          <a:bodyPr wrap="square">
            <a:spAutoFit/>
          </a:bodyPr>
          <a:lstStyle/>
          <a:p>
            <a:pPr algn="ctr">
              <a:spcAft>
                <a:spcPts val="600"/>
              </a:spcAft>
            </a:pPr>
            <a:r>
              <a:rPr sz="1100" b="1">
                <a:solidFill>
                  <a:srgbClr val="4E7A3A"/>
                </a:solidFill>
              </a:rPr>
              <a:t>Nov</a:t>
            </a:r>
          </a:p>
          <a:p>
            <a:pPr algn="ctr">
              <a:spcAft>
                <a:spcPts val="800"/>
              </a:spcAft>
            </a:pPr>
            <a:r>
              <a:rPr sz="2200" b="1">
                <a:solidFill>
                  <a:srgbClr val="18241B"/>
                </a:solidFill>
                <a:latin typeface="Georgia"/>
              </a:rPr>
              <a:t>2</a:t>
            </a:r>
          </a:p>
          <a:p>
            <a:pPr algn="ctr"/>
            <a:r>
              <a:rPr sz="1100">
                <a:solidFill>
                  <a:srgbClr val="566658"/>
                </a:solidFill>
              </a:rPr>
              <a:t>Pod live, CCTV alerts, petiole test</a:t>
            </a:r>
          </a:p>
        </p:txBody>
      </p:sp>
      <p:sp>
        <p:nvSpPr>
          <p:cNvPr id="8" name="Rounded Rectangle 7"/>
          <p:cNvSpPr/>
          <p:nvPr/>
        </p:nvSpPr>
        <p:spPr>
          <a:xfrm>
            <a:off x="3401568" y="1645920"/>
            <a:ext cx="1234440" cy="31089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47287" y="1737360"/>
            <a:ext cx="1143000" cy="2834640"/>
          </a:xfrm>
          <a:prstGeom prst="rect">
            <a:avLst/>
          </a:prstGeom>
          <a:noFill/>
        </p:spPr>
        <p:txBody>
          <a:bodyPr wrap="square">
            <a:spAutoFit/>
          </a:bodyPr>
          <a:lstStyle/>
          <a:p>
            <a:pPr algn="ctr">
              <a:spcAft>
                <a:spcPts val="600"/>
              </a:spcAft>
            </a:pPr>
            <a:r>
              <a:rPr sz="1100" b="1">
                <a:solidFill>
                  <a:srgbClr val="4E7A3A"/>
                </a:solidFill>
              </a:rPr>
              <a:t>Late Nov-Dec</a:t>
            </a:r>
          </a:p>
          <a:p>
            <a:pPr algn="ctr">
              <a:spcAft>
                <a:spcPts val="800"/>
              </a:spcAft>
            </a:pPr>
            <a:r>
              <a:rPr sz="2200" b="1">
                <a:solidFill>
                  <a:srgbClr val="18241B"/>
                </a:solidFill>
                <a:latin typeface="Georgia"/>
              </a:rPr>
              <a:t>3</a:t>
            </a:r>
          </a:p>
          <a:p>
            <a:pPr algn="ctr"/>
            <a:r>
              <a:rPr sz="1100">
                <a:solidFill>
                  <a:srgbClr val="566658"/>
                </a:solidFill>
              </a:rPr>
              <a:t>Weekly berry curves → GA3 by block</a:t>
            </a:r>
          </a:p>
        </p:txBody>
      </p:sp>
      <p:sp>
        <p:nvSpPr>
          <p:cNvPr id="10" name="Rounded Rectangle 9"/>
          <p:cNvSpPr/>
          <p:nvPr/>
        </p:nvSpPr>
        <p:spPr>
          <a:xfrm>
            <a:off x="4736592" y="1645920"/>
            <a:ext cx="1234440" cy="31089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82312" y="1737360"/>
            <a:ext cx="1143000" cy="2834640"/>
          </a:xfrm>
          <a:prstGeom prst="rect">
            <a:avLst/>
          </a:prstGeom>
          <a:noFill/>
        </p:spPr>
        <p:txBody>
          <a:bodyPr wrap="square">
            <a:spAutoFit/>
          </a:bodyPr>
          <a:lstStyle/>
          <a:p>
            <a:pPr algn="ctr">
              <a:spcAft>
                <a:spcPts val="600"/>
              </a:spcAft>
            </a:pPr>
            <a:r>
              <a:rPr sz="1100" b="1">
                <a:solidFill>
                  <a:srgbClr val="4E7A3A"/>
                </a:solidFill>
              </a:rPr>
              <a:t>Dec-Jan</a:t>
            </a:r>
          </a:p>
          <a:p>
            <a:pPr algn="ctr">
              <a:spcAft>
                <a:spcPts val="800"/>
              </a:spcAft>
            </a:pPr>
            <a:r>
              <a:rPr sz="2200" b="1">
                <a:solidFill>
                  <a:srgbClr val="18241B"/>
                </a:solidFill>
                <a:latin typeface="Georgia"/>
              </a:rPr>
              <a:t>4</a:t>
            </a:r>
          </a:p>
          <a:p>
            <a:pPr algn="ctr"/>
            <a:r>
              <a:rPr sz="1100">
                <a:solidFill>
                  <a:srgbClr val="566658"/>
                </a:solidFill>
              </a:rPr>
              <a:t>Bunch counts, early yield map</a:t>
            </a:r>
          </a:p>
        </p:txBody>
      </p:sp>
      <p:sp>
        <p:nvSpPr>
          <p:cNvPr id="12" name="Rounded Rectangle 11"/>
          <p:cNvSpPr/>
          <p:nvPr/>
        </p:nvSpPr>
        <p:spPr>
          <a:xfrm>
            <a:off x="6071616" y="1645920"/>
            <a:ext cx="1234440" cy="31089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17336" y="1737360"/>
            <a:ext cx="1143000" cy="2834640"/>
          </a:xfrm>
          <a:prstGeom prst="rect">
            <a:avLst/>
          </a:prstGeom>
          <a:noFill/>
        </p:spPr>
        <p:txBody>
          <a:bodyPr wrap="square">
            <a:spAutoFit/>
          </a:bodyPr>
          <a:lstStyle/>
          <a:p>
            <a:pPr algn="ctr">
              <a:spcAft>
                <a:spcPts val="600"/>
              </a:spcAft>
            </a:pPr>
            <a:r>
              <a:rPr sz="1100" b="1">
                <a:solidFill>
                  <a:srgbClr val="4E7A3A"/>
                </a:solidFill>
              </a:rPr>
              <a:t>Feb</a:t>
            </a:r>
          </a:p>
          <a:p>
            <a:pPr algn="ctr">
              <a:spcAft>
                <a:spcPts val="800"/>
              </a:spcAft>
            </a:pPr>
            <a:r>
              <a:rPr sz="2200" b="1">
                <a:solidFill>
                  <a:srgbClr val="18241B"/>
                </a:solidFill>
                <a:latin typeface="Georgia"/>
              </a:rPr>
              <a:t>5</a:t>
            </a:r>
          </a:p>
          <a:p>
            <a:pPr algn="ctr"/>
            <a:r>
              <a:rPr sz="1100">
                <a:solidFill>
                  <a:srgbClr val="566658"/>
                </a:solidFill>
              </a:rPr>
              <a:t>Brix on tagged vines, pick order</a:t>
            </a:r>
          </a:p>
        </p:txBody>
      </p:sp>
      <p:sp>
        <p:nvSpPr>
          <p:cNvPr id="14" name="Rounded Rectangle 13"/>
          <p:cNvSpPr/>
          <p:nvPr/>
        </p:nvSpPr>
        <p:spPr>
          <a:xfrm>
            <a:off x="7406640" y="1645920"/>
            <a:ext cx="1234440" cy="31089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52360" y="1737360"/>
            <a:ext cx="1143000" cy="2834640"/>
          </a:xfrm>
          <a:prstGeom prst="rect">
            <a:avLst/>
          </a:prstGeom>
          <a:noFill/>
        </p:spPr>
        <p:txBody>
          <a:bodyPr wrap="square">
            <a:spAutoFit/>
          </a:bodyPr>
          <a:lstStyle/>
          <a:p>
            <a:pPr algn="ctr">
              <a:spcAft>
                <a:spcPts val="600"/>
              </a:spcAft>
            </a:pPr>
            <a:r>
              <a:rPr sz="1100" b="1">
                <a:solidFill>
                  <a:srgbClr val="C27E22"/>
                </a:solidFill>
              </a:rPr>
              <a:t>Mar</a:t>
            </a:r>
          </a:p>
          <a:p>
            <a:pPr algn="ctr">
              <a:spcAft>
                <a:spcPts val="800"/>
              </a:spcAft>
            </a:pPr>
            <a:r>
              <a:rPr sz="2200" b="1">
                <a:solidFill>
                  <a:srgbClr val="18241B"/>
                </a:solidFill>
                <a:latin typeface="Georgia"/>
              </a:rPr>
              <a:t>6</a:t>
            </a:r>
          </a:p>
          <a:p>
            <a:pPr algn="ctr"/>
            <a:r>
              <a:rPr sz="1100">
                <a:solidFill>
                  <a:srgbClr val="566658"/>
                </a:solidFill>
              </a:rPr>
              <a:t>Crates per row = real harvest yield</a:t>
            </a:r>
          </a:p>
        </p:txBody>
      </p:sp>
      <p:sp>
        <p:nvSpPr>
          <p:cNvPr id="16" name="Rounded Rectangle 15"/>
          <p:cNvSpPr/>
          <p:nvPr/>
        </p:nvSpPr>
        <p:spPr>
          <a:xfrm>
            <a:off x="8741664" y="1645920"/>
            <a:ext cx="1234440" cy="31089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87384" y="1737360"/>
            <a:ext cx="1143000" cy="2834640"/>
          </a:xfrm>
          <a:prstGeom prst="rect">
            <a:avLst/>
          </a:prstGeom>
          <a:noFill/>
        </p:spPr>
        <p:txBody>
          <a:bodyPr wrap="square">
            <a:spAutoFit/>
          </a:bodyPr>
          <a:lstStyle/>
          <a:p>
            <a:pPr algn="ctr">
              <a:spcAft>
                <a:spcPts val="600"/>
              </a:spcAft>
            </a:pPr>
            <a:r>
              <a:rPr sz="1100" b="1">
                <a:solidFill>
                  <a:srgbClr val="C27E22"/>
                </a:solidFill>
              </a:rPr>
              <a:t>Mar-Apr</a:t>
            </a:r>
          </a:p>
          <a:p>
            <a:pPr algn="ctr">
              <a:spcAft>
                <a:spcPts val="800"/>
              </a:spcAft>
            </a:pPr>
            <a:r>
              <a:rPr sz="2200" b="1">
                <a:solidFill>
                  <a:srgbClr val="18241B"/>
                </a:solidFill>
                <a:latin typeface="Georgia"/>
              </a:rPr>
              <a:t>7</a:t>
            </a:r>
          </a:p>
          <a:p>
            <a:pPr algn="ctr"/>
            <a:r>
              <a:rPr sz="1100">
                <a:solidFill>
                  <a:srgbClr val="566658"/>
                </a:solidFill>
              </a:rPr>
              <a:t>Shed drying curves, recovery ratio</a:t>
            </a:r>
          </a:p>
        </p:txBody>
      </p:sp>
      <p:sp>
        <p:nvSpPr>
          <p:cNvPr id="18" name="Rounded Rectangle 17"/>
          <p:cNvSpPr/>
          <p:nvPr/>
        </p:nvSpPr>
        <p:spPr>
          <a:xfrm>
            <a:off x="10076688" y="1645920"/>
            <a:ext cx="1234440" cy="310896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22408" y="1737360"/>
            <a:ext cx="1143000" cy="2834640"/>
          </a:xfrm>
          <a:prstGeom prst="rect">
            <a:avLst/>
          </a:prstGeom>
          <a:noFill/>
        </p:spPr>
        <p:txBody>
          <a:bodyPr wrap="square">
            <a:spAutoFit/>
          </a:bodyPr>
          <a:lstStyle/>
          <a:p>
            <a:pPr algn="ctr">
              <a:spcAft>
                <a:spcPts val="600"/>
              </a:spcAft>
            </a:pPr>
            <a:r>
              <a:rPr sz="1100" b="1">
                <a:solidFill>
                  <a:srgbClr val="C27E22"/>
                </a:solidFill>
              </a:rPr>
              <a:t>May</a:t>
            </a:r>
          </a:p>
          <a:p>
            <a:pPr algn="ctr">
              <a:spcAft>
                <a:spcPts val="800"/>
              </a:spcAft>
            </a:pPr>
            <a:r>
              <a:rPr sz="2200" b="1">
                <a:solidFill>
                  <a:srgbClr val="18241B"/>
                </a:solidFill>
                <a:latin typeface="Georgia"/>
              </a:rPr>
              <a:t>8</a:t>
            </a:r>
          </a:p>
          <a:p>
            <a:pPr algn="ctr"/>
            <a:r>
              <a:rPr sz="1100">
                <a:solidFill>
                  <a:srgbClr val="566658"/>
                </a:solidFill>
              </a:rPr>
              <a:t>Season report vs baseline records</a:t>
            </a:r>
          </a:p>
        </p:txBody>
      </p:sp>
      <p:sp>
        <p:nvSpPr>
          <p:cNvPr id="20" name="Rounded Rectangle 19"/>
          <p:cNvSpPr/>
          <p:nvPr/>
        </p:nvSpPr>
        <p:spPr>
          <a:xfrm>
            <a:off x="731520" y="5029200"/>
            <a:ext cx="10728655" cy="10972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166360"/>
            <a:ext cx="10332720" cy="822960"/>
          </a:xfrm>
          <a:prstGeom prst="rect">
            <a:avLst/>
          </a:prstGeom>
          <a:noFill/>
        </p:spPr>
        <p:txBody>
          <a:bodyPr wrap="square">
            <a:spAutoFit/>
          </a:bodyPr>
          <a:lstStyle/>
          <a:p>
            <a:r>
              <a:rPr b="1" sz="1400">
                <a:solidFill>
                  <a:srgbClr val="4E7A3A"/>
                </a:solidFill>
              </a:rPr>
              <a:t>Go / No-Go Gate at Each Step: </a:t>
            </a:r>
            <a:r>
              <a:rPr sz="1300">
                <a:solidFill>
                  <a:srgbClr val="18241B"/>
                </a:solidFill>
              </a:rPr>
              <a:t>Did this intervention save money or improve quality compared with last season? This empirical discipline requires establishing last season's farm records as the definitive operational baseline.</a:t>
            </a:r>
          </a:p>
        </p:txBody>
      </p:sp>
      <p:sp>
        <p:nvSpPr>
          <p:cNvPr id="22" name="TextBox 21"/>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F4F7F4"/>
                </a:solidFill>
                <a:latin typeface="Georgia"/>
              </a:rPr>
              <a:t>Decisions and inputs still needed</a:t>
            </a:r>
          </a:p>
        </p:txBody>
      </p:sp>
      <p:sp>
        <p:nvSpPr>
          <p:cNvPr id="4" name="Rounded Rectangle 3"/>
          <p:cNvSpPr/>
          <p:nvPr/>
        </p:nvSpPr>
        <p:spPr>
          <a:xfrm>
            <a:off x="731520" y="1645920"/>
            <a:ext cx="3474720" cy="4389120"/>
          </a:xfrm>
          <a:prstGeom prst="roundRect">
            <a:avLst>
              <a:gd name="adj" fmla="val 4000"/>
            </a:avLst>
          </a:prstGeom>
          <a:solidFill>
            <a:srgbClr val="243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20240"/>
            <a:ext cx="3017520" cy="3931920"/>
          </a:xfrm>
          <a:prstGeom prst="rect">
            <a:avLst/>
          </a:prstGeom>
          <a:noFill/>
        </p:spPr>
        <p:txBody>
          <a:bodyPr wrap="square">
            <a:spAutoFit/>
          </a:bodyPr>
          <a:lstStyle/>
          <a:p>
            <a:pPr>
              <a:spcAft>
                <a:spcPts val="1200"/>
              </a:spcAft>
            </a:pPr>
            <a:r>
              <a:rPr sz="1800" b="1">
                <a:solidFill>
                  <a:srgbClr val="C27E22"/>
                </a:solidFill>
              </a:rPr>
              <a:t>1. Decide Strategy</a:t>
            </a:r>
          </a:p>
          <a:p>
            <a:pPr>
              <a:spcAft>
                <a:spcPts val="800"/>
              </a:spcAft>
            </a:pPr>
            <a:r>
              <a:rPr sz="1300">
                <a:solidFill>
                  <a:srgbClr val="F4F7F4"/>
                </a:solidFill>
              </a:rPr>
              <a:t>• Platform mix: P1–P5 balance</a:t>
            </a:r>
          </a:p>
          <a:p>
            <a:pPr>
              <a:spcAft>
                <a:spcPts val="800"/>
              </a:spcAft>
            </a:pPr>
            <a:r>
              <a:rPr sz="1300">
                <a:solidFill>
                  <a:srgbClr val="F4F7F4"/>
                </a:solidFill>
              </a:rPr>
              <a:t>• Data ingestion: D1 SD swap now, D2 on-board later?</a:t>
            </a:r>
          </a:p>
          <a:p>
            <a:pPr>
              <a:spcAft>
                <a:spcPts val="800"/>
              </a:spcAft>
            </a:pPr>
            <a:r>
              <a:rPr sz="1300">
                <a:solidFill>
                  <a:srgbClr val="F4F7F4"/>
                </a:solidFill>
              </a:rPr>
              <a:t>• Multispectral: M1 Survey3, M2 drone, or standard RGB only</a:t>
            </a:r>
          </a:p>
          <a:p>
            <a:pPr>
              <a:spcAft>
                <a:spcPts val="800"/>
              </a:spcAft>
            </a:pPr>
            <a:r>
              <a:rPr sz="1300">
                <a:solidFill>
                  <a:srgbClr val="F4F7F4"/>
                </a:solidFill>
              </a:rPr>
              <a:t>• Security: S1 cameras, S2 shed computer, or both</a:t>
            </a:r>
          </a:p>
        </p:txBody>
      </p:sp>
      <p:sp>
        <p:nvSpPr>
          <p:cNvPr id="6" name="Rounded Rectangle 5"/>
          <p:cNvSpPr/>
          <p:nvPr/>
        </p:nvSpPr>
        <p:spPr>
          <a:xfrm>
            <a:off x="4343400" y="1645920"/>
            <a:ext cx="3474720" cy="4389120"/>
          </a:xfrm>
          <a:prstGeom prst="roundRect">
            <a:avLst>
              <a:gd name="adj" fmla="val 4000"/>
            </a:avLst>
          </a:prstGeom>
          <a:solidFill>
            <a:srgbClr val="243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920240"/>
            <a:ext cx="3017520" cy="3931920"/>
          </a:xfrm>
          <a:prstGeom prst="rect">
            <a:avLst/>
          </a:prstGeom>
          <a:noFill/>
        </p:spPr>
        <p:txBody>
          <a:bodyPr wrap="square">
            <a:spAutoFit/>
          </a:bodyPr>
          <a:lstStyle/>
          <a:p>
            <a:pPr>
              <a:spcAft>
                <a:spcPts val="1200"/>
              </a:spcAft>
            </a:pPr>
            <a:r>
              <a:rPr sz="1800" b="1">
                <a:solidFill>
                  <a:srgbClr val="C27E22"/>
                </a:solidFill>
              </a:rPr>
              <a:t>2. Request from Fyllo</a:t>
            </a:r>
          </a:p>
          <a:p>
            <a:pPr>
              <a:spcAft>
                <a:spcPts val="800"/>
              </a:spcAft>
            </a:pPr>
            <a:r>
              <a:rPr sz="1300">
                <a:solidFill>
                  <a:srgbClr val="F4F7F4"/>
                </a:solidFill>
              </a:rPr>
              <a:t>• Full CSV historical sensor export</a:t>
            </a:r>
          </a:p>
          <a:p>
            <a:pPr>
              <a:spcAft>
                <a:spcPts val="800"/>
              </a:spcAft>
            </a:pPr>
            <a:r>
              <a:rPr sz="1300">
                <a:solidFill>
                  <a:srgbClr val="F4F7F4"/>
                </a:solidFill>
              </a:rPr>
              <a:t>• REST API or automated webhook access</a:t>
            </a:r>
          </a:p>
          <a:p>
            <a:pPr>
              <a:spcAft>
                <a:spcPts val="800"/>
              </a:spcAft>
            </a:pPr>
            <a:r>
              <a:rPr sz="1300">
                <a:solidFill>
                  <a:srgbClr val="F4F7F4"/>
                </a:solidFill>
              </a:rPr>
              <a:t>• Disease risk mathematical scores as raw data</a:t>
            </a:r>
          </a:p>
          <a:p>
            <a:pPr>
              <a:spcAft>
                <a:spcPts val="800"/>
              </a:spcAft>
            </a:pPr>
            <a:r>
              <a:rPr sz="1300">
                <a:solidFill>
                  <a:srgbClr val="F4F7F4"/>
                </a:solidFill>
              </a:rPr>
              <a:t>• Service repair for air pressure sensor</a:t>
            </a:r>
          </a:p>
          <a:p>
            <a:pPr>
              <a:spcAft>
                <a:spcPts val="800"/>
              </a:spcAft>
            </a:pPr>
            <a:r>
              <a:rPr sz="1300">
                <a:solidFill>
                  <a:srgbClr val="F4F7F4"/>
                </a:solidFill>
              </a:rPr>
              <a:t>• Exact GPS coordinate of soil moisture probe</a:t>
            </a:r>
          </a:p>
        </p:txBody>
      </p:sp>
      <p:sp>
        <p:nvSpPr>
          <p:cNvPr id="8" name="Rounded Rectangle 7"/>
          <p:cNvSpPr/>
          <p:nvPr/>
        </p:nvSpPr>
        <p:spPr>
          <a:xfrm>
            <a:off x="7955280" y="1645920"/>
            <a:ext cx="3474720" cy="4389120"/>
          </a:xfrm>
          <a:prstGeom prst="roundRect">
            <a:avLst>
              <a:gd name="adj" fmla="val 4000"/>
            </a:avLst>
          </a:prstGeom>
          <a:solidFill>
            <a:srgbClr val="243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83880" y="1920240"/>
            <a:ext cx="3017520" cy="3931920"/>
          </a:xfrm>
          <a:prstGeom prst="rect">
            <a:avLst/>
          </a:prstGeom>
          <a:noFill/>
        </p:spPr>
        <p:txBody>
          <a:bodyPr wrap="square">
            <a:spAutoFit/>
          </a:bodyPr>
          <a:lstStyle/>
          <a:p>
            <a:pPr>
              <a:spcAft>
                <a:spcPts val="1200"/>
              </a:spcAft>
            </a:pPr>
            <a:r>
              <a:rPr sz="1800" b="1">
                <a:solidFill>
                  <a:srgbClr val="C27E22"/>
                </a:solidFill>
              </a:rPr>
              <a:t>3. Dig Out Farm Records</a:t>
            </a:r>
          </a:p>
          <a:p>
            <a:pPr>
              <a:spcAft>
                <a:spcPts val="800"/>
              </a:spcAft>
            </a:pPr>
            <a:r>
              <a:rPr sz="1300">
                <a:solidFill>
                  <a:srgbClr val="F4F7F4"/>
                </a:solidFill>
              </a:rPr>
              <a:t>• Past spray &amp; GA3 chemical application dates</a:t>
            </a:r>
          </a:p>
          <a:p>
            <a:pPr>
              <a:spcAft>
                <a:spcPts val="800"/>
              </a:spcAft>
            </a:pPr>
            <a:r>
              <a:rPr sz="1300">
                <a:solidFill>
                  <a:srgbClr val="F4F7F4"/>
                </a:solidFill>
              </a:rPr>
              <a:t>• Fertiliser and input vendor purchase bills</a:t>
            </a:r>
          </a:p>
          <a:p>
            <a:pPr>
              <a:spcAft>
                <a:spcPts val="800"/>
              </a:spcAft>
            </a:pPr>
            <a:r>
              <a:rPr sz="1300">
                <a:solidFill>
                  <a:srgbClr val="F4F7F4"/>
                </a:solidFill>
              </a:rPr>
              <a:t>• Labour muster days by operation</a:t>
            </a:r>
          </a:p>
          <a:p>
            <a:pPr>
              <a:spcAft>
                <a:spcPts val="800"/>
              </a:spcAft>
            </a:pPr>
            <a:r>
              <a:rPr sz="1300">
                <a:solidFill>
                  <a:srgbClr val="F4F7F4"/>
                </a:solidFill>
              </a:rPr>
              <a:t>• Historical harvest crate counts by row</a:t>
            </a:r>
          </a:p>
          <a:p>
            <a:pPr>
              <a:spcAft>
                <a:spcPts val="800"/>
              </a:spcAft>
            </a:pPr>
            <a:r>
              <a:rPr sz="1300">
                <a:solidFill>
                  <a:srgbClr val="F4F7F4"/>
                </a:solidFill>
              </a:rPr>
              <a:t>• Final dried raisin recovery weight, grade, and sale price</a:t>
            </a:r>
          </a:p>
        </p:txBody>
      </p:sp>
      <p:sp>
        <p:nvSpPr>
          <p:cNvPr id="10" name="TextBox 9"/>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A8BAAA"/>
                </a:solidFill>
                <a:latin typeface="Arial"/>
              </a:rPr>
              <a:t>From Vine to Raisin · Vijayapura vineyard, 2025–26 season · </a:t>
            </a:r>
            <a:r>
              <a:rPr sz="1100" b="1">
                <a:solidFill>
                  <a:srgbClr val="93C5FD"/>
                </a:solidFill>
                <a:latin typeface="Arial"/>
                <a:hlinkClick r:id="rId2"/>
              </a:rPr>
              <a:t>arunpatillabs.com</a:t>
            </a:r>
            <a:r>
              <a:rPr sz="1100">
                <a:solidFill>
                  <a:srgbClr val="A8BAAA"/>
                </a:solidFill>
                <a:latin typeface="Arial"/>
              </a:rPr>
              <a:t>   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18241B"/>
                </a:solidFill>
                <a:latin typeface="Georgia"/>
              </a:rPr>
              <a:t>Appendix: source media used</a:t>
            </a:r>
          </a:p>
        </p:txBody>
      </p:sp>
      <p:graphicFrame>
        <p:nvGraphicFramePr>
          <p:cNvPr id="4" name="Table 3"/>
          <p:cNvGraphicFramePr>
            <a:graphicFrameLocks noGrp="1"/>
          </p:cNvGraphicFramePr>
          <p:nvPr/>
        </p:nvGraphicFramePr>
        <p:xfrm>
          <a:off x="731520" y="1554480"/>
          <a:ext cx="10728655" cy="4297680"/>
        </p:xfrm>
        <a:graphic>
          <a:graphicData uri="http://schemas.openxmlformats.org/drawingml/2006/table">
            <a:tbl>
              <a:tblPr firstRow="1" bandRow="1">
                <a:tableStyleId>{5C22544A-7EE6-4342-B048-85BDC9FD1C3A}</a:tableStyleId>
              </a:tblPr>
              <a:tblGrid>
                <a:gridCol w="2011680"/>
                <a:gridCol w="6217920"/>
                <a:gridCol w="2499055"/>
              </a:tblGrid>
              <a:tr h="306977">
                <a:tc>
                  <a:txBody>
                    <a:bodyPr/>
                    <a:lstStyle/>
                    <a:p>
                      <a:r>
                        <a:rPr b="1" sz="1100">
                          <a:solidFill>
                            <a:srgbClr val="18241B"/>
                          </a:solidFill>
                        </a:rPr>
                        <a:t>Slide Reference</a:t>
                      </a:r>
                    </a:p>
                  </a:txBody>
                  <a:tcPr>
                    <a:solidFill>
                      <a:srgbClr val="F0EDE4"/>
                    </a:solidFill>
                  </a:tcPr>
                </a:tc>
                <a:tc>
                  <a:txBody>
                    <a:bodyPr/>
                    <a:lstStyle/>
                    <a:p>
                      <a:r>
                        <a:rPr b="1" sz="1100">
                          <a:solidFill>
                            <a:srgbClr val="18241B"/>
                          </a:solidFill>
                        </a:rPr>
                        <a:t>Media File(s)</a:t>
                      </a:r>
                    </a:p>
                  </a:txBody>
                  <a:tcPr>
                    <a:solidFill>
                      <a:srgbClr val="F0EDE4"/>
                    </a:solidFill>
                  </a:tcPr>
                </a:tc>
                <a:tc>
                  <a:txBody>
                    <a:bodyPr/>
                    <a:lstStyle/>
                    <a:p>
                      <a:r>
                        <a:rPr b="1" sz="1100">
                          <a:solidFill>
                            <a:srgbClr val="18241B"/>
                          </a:solidFill>
                        </a:rPr>
                        <a:t>Timestamp Date</a:t>
                      </a:r>
                    </a:p>
                  </a:txBody>
                  <a:tcPr>
                    <a:solidFill>
                      <a:srgbClr val="F0EDE4"/>
                    </a:solidFill>
                  </a:tcPr>
                </a:tc>
              </a:tr>
              <a:tr h="306977">
                <a:tc>
                  <a:txBody>
                    <a:bodyPr/>
                    <a:lstStyle/>
                    <a:p>
                      <a:r>
                        <a:rPr sz="1000" b="1"/>
                        <a:t>Slide 2</a:t>
                      </a:r>
                    </a:p>
                  </a:txBody>
                  <a:tcPr/>
                </a:tc>
                <a:tc>
                  <a:txBody>
                    <a:bodyPr/>
                    <a:lstStyle/>
                    <a:p>
                      <a:r>
                        <a:rPr sz="1000"/>
                        <a:t>IMG_0650.PNG (tractor GPS screenshot)</a:t>
                      </a:r>
                    </a:p>
                  </a:txBody>
                  <a:tcPr/>
                </a:tc>
                <a:tc>
                  <a:txBody>
                    <a:bodyPr/>
                    <a:lstStyle/>
                    <a:p>
                      <a:r>
                        <a:rPr sz="1000"/>
                        <a:t>1 Nov 2025</a:t>
                      </a:r>
                    </a:p>
                  </a:txBody>
                  <a:tcPr/>
                </a:tc>
              </a:tr>
              <a:tr h="306977">
                <a:tc>
                  <a:txBody>
                    <a:bodyPr/>
                    <a:lstStyle/>
                    <a:p>
                      <a:r>
                        <a:rPr sz="1000" b="1"/>
                        <a:t>Slide 5</a:t>
                      </a:r>
                    </a:p>
                  </a:txBody>
                  <a:tcPr/>
                </a:tc>
                <a:tc>
                  <a:txBody>
                    <a:bodyPr/>
                    <a:lstStyle/>
                    <a:p>
                      <a:r>
                        <a:rPr sz="1000"/>
                        <a:t>VIDEO-2025-11-02-10-27-20.mp4</a:t>
                      </a:r>
                    </a:p>
                  </a:txBody>
                  <a:tcPr/>
                </a:tc>
                <a:tc>
                  <a:txBody>
                    <a:bodyPr/>
                    <a:lstStyle/>
                    <a:p>
                      <a:r>
                        <a:rPr sz="1000"/>
                        <a:t>2 Nov 2025*</a:t>
                      </a:r>
                    </a:p>
                  </a:txBody>
                  <a:tcPr/>
                </a:tc>
              </a:tr>
              <a:tr h="306977">
                <a:tc>
                  <a:txBody>
                    <a:bodyPr/>
                    <a:lstStyle/>
                    <a:p>
                      <a:r>
                        <a:rPr sz="1000" b="1"/>
                        <a:t>Slide 6</a:t>
                      </a:r>
                    </a:p>
                  </a:txBody>
                  <a:tcPr/>
                </a:tc>
                <a:tc>
                  <a:txBody>
                    <a:bodyPr/>
                    <a:lstStyle/>
                    <a:p>
                      <a:r>
                        <a:rPr sz="1000"/>
                        <a:t>f35cd164-....MP4 (CCTV camera)</a:t>
                      </a:r>
                    </a:p>
                  </a:txBody>
                  <a:tcPr/>
                </a:tc>
                <a:tc>
                  <a:txBody>
                    <a:bodyPr/>
                    <a:lstStyle/>
                    <a:p>
                      <a:r>
                        <a:rPr sz="1000"/>
                        <a:t>18 Oct 2025</a:t>
                      </a:r>
                    </a:p>
                  </a:txBody>
                  <a:tcPr/>
                </a:tc>
              </a:tr>
              <a:tr h="306977">
                <a:tc>
                  <a:txBody>
                    <a:bodyPr/>
                    <a:lstStyle/>
                    <a:p>
                      <a:r>
                        <a:rPr sz="1000" b="1"/>
                        <a:t>Slide 7</a:t>
                      </a:r>
                    </a:p>
                  </a:txBody>
                  <a:tcPr/>
                </a:tc>
                <a:tc>
                  <a:txBody>
                    <a:bodyPr/>
                    <a:lstStyle/>
                    <a:p>
                      <a:r>
                        <a:rPr sz="1000"/>
                        <a:t>IMG_0653 / 0654 / 0655.HEIC</a:t>
                      </a:r>
                    </a:p>
                  </a:txBody>
                  <a:tcPr/>
                </a:tc>
                <a:tc>
                  <a:txBody>
                    <a:bodyPr/>
                    <a:lstStyle/>
                    <a:p>
                      <a:r>
                        <a:rPr sz="1000"/>
                        <a:t>2 Nov 2025</a:t>
                      </a:r>
                    </a:p>
                  </a:txBody>
                  <a:tcPr/>
                </a:tc>
              </a:tr>
              <a:tr h="306977">
                <a:tc>
                  <a:txBody>
                    <a:bodyPr/>
                    <a:lstStyle/>
                    <a:p>
                      <a:r>
                        <a:rPr sz="1000" b="1"/>
                        <a:t>Slide 8</a:t>
                      </a:r>
                    </a:p>
                  </a:txBody>
                  <a:tcPr/>
                </a:tc>
                <a:tc>
                  <a:txBody>
                    <a:bodyPr/>
                    <a:lstStyle/>
                    <a:p>
                      <a:r>
                        <a:rPr sz="1000"/>
                        <a:t>PHOTO-2025-11-12-07-40-08.jpg (×2)</a:t>
                      </a:r>
                    </a:p>
                  </a:txBody>
                  <a:tcPr/>
                </a:tc>
                <a:tc>
                  <a:txBody>
                    <a:bodyPr/>
                    <a:lstStyle/>
                    <a:p>
                      <a:r>
                        <a:rPr sz="1000"/>
                        <a:t>12 Nov 2025</a:t>
                      </a:r>
                    </a:p>
                  </a:txBody>
                  <a:tcPr/>
                </a:tc>
              </a:tr>
              <a:tr h="306977">
                <a:tc>
                  <a:txBody>
                    <a:bodyPr/>
                    <a:lstStyle/>
                    <a:p>
                      <a:r>
                        <a:rPr sz="1000" b="1"/>
                        <a:t>Slide 9</a:t>
                      </a:r>
                    </a:p>
                  </a:txBody>
                  <a:tcPr/>
                </a:tc>
                <a:tc>
                  <a:txBody>
                    <a:bodyPr/>
                    <a:lstStyle/>
                    <a:p>
                      <a:r>
                        <a:rPr sz="1000"/>
                        <a:t>IMG_0694–0707.HEIC, 200C36AD / A85AAFFF.JPG</a:t>
                      </a:r>
                    </a:p>
                  </a:txBody>
                  <a:tcPr/>
                </a:tc>
                <a:tc>
                  <a:txBody>
                    <a:bodyPr/>
                    <a:lstStyle/>
                    <a:p>
                      <a:r>
                        <a:rPr sz="1000"/>
                        <a:t>14 Nov 2025</a:t>
                      </a:r>
                    </a:p>
                  </a:txBody>
                  <a:tcPr/>
                </a:tc>
              </a:tr>
              <a:tr h="306977">
                <a:tc>
                  <a:txBody>
                    <a:bodyPr/>
                    <a:lstStyle/>
                    <a:p>
                      <a:r>
                        <a:rPr sz="1000" b="1"/>
                        <a:t>Slide 10</a:t>
                      </a:r>
                    </a:p>
                  </a:txBody>
                  <a:tcPr/>
                </a:tc>
                <a:tc>
                  <a:txBody>
                    <a:bodyPr/>
                    <a:lstStyle/>
                    <a:p>
                      <a:r>
                        <a:rPr sz="1000"/>
                        <a:t>VIDEO-2026-01-15-13-48-46.mp4</a:t>
                      </a:r>
                    </a:p>
                  </a:txBody>
                  <a:tcPr/>
                </a:tc>
                <a:tc>
                  <a:txBody>
                    <a:bodyPr/>
                    <a:lstStyle/>
                    <a:p>
                      <a:r>
                        <a:rPr sz="1000"/>
                        <a:t>15 Jan 2026*</a:t>
                      </a:r>
                    </a:p>
                  </a:txBody>
                  <a:tcPr/>
                </a:tc>
              </a:tr>
              <a:tr h="306977">
                <a:tc>
                  <a:txBody>
                    <a:bodyPr/>
                    <a:lstStyle/>
                    <a:p>
                      <a:r>
                        <a:rPr sz="1000" b="1"/>
                        <a:t>Slide 11</a:t>
                      </a:r>
                    </a:p>
                  </a:txBody>
                  <a:tcPr/>
                </a:tc>
                <a:tc>
                  <a:txBody>
                    <a:bodyPr/>
                    <a:lstStyle/>
                    <a:p>
                      <a:r>
                        <a:rPr sz="1000"/>
                        <a:t>VIDEO-2026-02-14-..., VIDEO-2026-02-15-....mp4</a:t>
                      </a:r>
                    </a:p>
                  </a:txBody>
                  <a:tcPr/>
                </a:tc>
                <a:tc>
                  <a:txBody>
                    <a:bodyPr/>
                    <a:lstStyle/>
                    <a:p>
                      <a:r>
                        <a:rPr sz="1000"/>
                        <a:t>14–15 Feb 2026*</a:t>
                      </a:r>
                    </a:p>
                  </a:txBody>
                  <a:tcPr/>
                </a:tc>
              </a:tr>
              <a:tr h="306977">
                <a:tc>
                  <a:txBody>
                    <a:bodyPr/>
                    <a:lstStyle/>
                    <a:p>
                      <a:r>
                        <a:rPr sz="1000" b="1"/>
                        <a:t>Slide 13</a:t>
                      </a:r>
                    </a:p>
                  </a:txBody>
                  <a:tcPr/>
                </a:tc>
                <a:tc>
                  <a:txBody>
                    <a:bodyPr/>
                    <a:lstStyle/>
                    <a:p>
                      <a:r>
                        <a:rPr sz="1000"/>
                        <a:t>20260218102201.MP4 (CCTV camera)</a:t>
                      </a:r>
                    </a:p>
                  </a:txBody>
                  <a:tcPr/>
                </a:tc>
                <a:tc>
                  <a:txBody>
                    <a:bodyPr/>
                    <a:lstStyle/>
                    <a:p>
                      <a:r>
                        <a:rPr sz="1000"/>
                        <a:t>18 Feb 2026</a:t>
                      </a:r>
                    </a:p>
                  </a:txBody>
                  <a:tcPr/>
                </a:tc>
              </a:tr>
              <a:tr h="306977">
                <a:tc>
                  <a:txBody>
                    <a:bodyPr/>
                    <a:lstStyle/>
                    <a:p>
                      <a:r>
                        <a:rPr sz="1000" b="1"/>
                        <a:t>Slide 14–15, 17</a:t>
                      </a:r>
                    </a:p>
                  </a:txBody>
                  <a:tcPr/>
                </a:tc>
                <a:tc>
                  <a:txBody>
                    <a:bodyPr/>
                    <a:lstStyle/>
                    <a:p>
                      <a:r>
                        <a:rPr sz="1000"/>
                        <a:t>VIDEO-2026-03-14-12-11-52 / 13-00-19.mp4</a:t>
                      </a:r>
                    </a:p>
                  </a:txBody>
                  <a:tcPr/>
                </a:tc>
                <a:tc>
                  <a:txBody>
                    <a:bodyPr/>
                    <a:lstStyle/>
                    <a:p>
                      <a:r>
                        <a:rPr sz="1000"/>
                        <a:t>14 Mar 2026*</a:t>
                      </a:r>
                    </a:p>
                  </a:txBody>
                  <a:tcPr/>
                </a:tc>
              </a:tr>
              <a:tr h="306977">
                <a:tc>
                  <a:txBody>
                    <a:bodyPr/>
                    <a:lstStyle/>
                    <a:p>
                      <a:r>
                        <a:rPr sz="1000" b="1"/>
                        <a:t>Slide 16</a:t>
                      </a:r>
                    </a:p>
                  </a:txBody>
                  <a:tcPr/>
                </a:tc>
                <a:tc>
                  <a:txBody>
                    <a:bodyPr/>
                    <a:lstStyle/>
                    <a:p>
                      <a:r>
                        <a:rPr sz="1000"/>
                        <a:t>IMG_1316.MOV, IMG_1324.MOV</a:t>
                      </a:r>
                    </a:p>
                  </a:txBody>
                  <a:tcPr/>
                </a:tc>
                <a:tc>
                  <a:txBody>
                    <a:bodyPr/>
                    <a:lstStyle/>
                    <a:p>
                      <a:r>
                        <a:rPr sz="1000"/>
                        <a:t>~Apr 2026 (inferred)</a:t>
                      </a:r>
                    </a:p>
                  </a:txBody>
                  <a:tcPr/>
                </a:tc>
              </a:tr>
              <a:tr h="306977">
                <a:tc>
                  <a:txBody>
                    <a:bodyPr/>
                    <a:lstStyle/>
                    <a:p>
                      <a:r>
                        <a:rPr sz="1000" b="1"/>
                        <a:t>Slide 18</a:t>
                      </a:r>
                    </a:p>
                  </a:txBody>
                  <a:tcPr/>
                </a:tc>
                <a:tc>
                  <a:txBody>
                    <a:bodyPr/>
                    <a:lstStyle/>
                    <a:p>
                      <a:r>
                        <a:rPr sz="1000"/>
                        <a:t>IMG_1313.HEIC</a:t>
                      </a:r>
                    </a:p>
                  </a:txBody>
                  <a:tcPr/>
                </a:tc>
                <a:tc>
                  <a:txBody>
                    <a:bodyPr/>
                    <a:lstStyle/>
                    <a:p>
                      <a:r>
                        <a:rPr sz="1000"/>
                        <a:t>9 Apr 2026</a:t>
                      </a:r>
                    </a:p>
                  </a:txBody>
                  <a:tcPr/>
                </a:tc>
              </a:tr>
              <a:tr h="306979">
                <a:tc>
                  <a:txBody>
                    <a:bodyPr/>
                    <a:lstStyle/>
                    <a:p>
                      <a:r>
                        <a:rPr sz="1000" b="1"/>
                        <a:t>Slide 19</a:t>
                      </a:r>
                    </a:p>
                  </a:txBody>
                  <a:tcPr/>
                </a:tc>
                <a:tc>
                  <a:txBody>
                    <a:bodyPr/>
                    <a:lstStyle/>
                    <a:p>
                      <a:r>
                        <a:rPr sz="1000"/>
                        <a:t>20260408080701.MP4 (CCTV camera)</a:t>
                      </a:r>
                    </a:p>
                  </a:txBody>
                  <a:tcPr/>
                </a:tc>
                <a:tc>
                  <a:txBody>
                    <a:bodyPr/>
                    <a:lstStyle/>
                    <a:p>
                      <a:r>
                        <a:rPr sz="1000"/>
                        <a:t>7 Apr 2026</a:t>
                      </a:r>
                    </a:p>
                  </a:txBody>
                  <a:tcPr/>
                </a:tc>
              </a:tr>
            </a:tbl>
          </a:graphicData>
        </a:graphic>
      </p:graphicFrame>
      <p:sp>
        <p:nvSpPr>
          <p:cNvPr id="5" name="TextBox 4"/>
          <p:cNvSpPr txBox="1"/>
          <p:nvPr/>
        </p:nvSpPr>
        <p:spPr>
          <a:xfrm>
            <a:off x="731520" y="5943600"/>
            <a:ext cx="10728655" cy="365760"/>
          </a:xfrm>
          <a:prstGeom prst="rect">
            <a:avLst/>
          </a:prstGeom>
          <a:noFill/>
        </p:spPr>
        <p:txBody>
          <a:bodyPr wrap="none">
            <a:spAutoFit/>
          </a:bodyPr>
          <a:lstStyle/>
          <a:p>
            <a:r>
              <a:rPr sz="1000" i="1">
                <a:solidFill>
                  <a:srgbClr val="566658"/>
                </a:solidFill>
              </a:rPr>
              <a:t>* Date from WhatsApp filename timestamp (transmission date). Practices designated 'typical' represent regional horticultural standards.</a:t>
            </a:r>
          </a:p>
        </p:txBody>
      </p:sp>
      <p:sp>
        <p:nvSpPr>
          <p:cNvPr id="6" name="TextBox 5"/>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1051560"/>
          </a:xfrm>
          <a:prstGeom prst="rect">
            <a:avLst/>
          </a:prstGeom>
          <a:noFill/>
        </p:spPr>
        <p:txBody>
          <a:bodyPr wrap="square" anchor="t" lIns="0" tIns="0" rIns="0" bIns="0">
            <a:spAutoFit/>
          </a:bodyPr>
          <a:lstStyle/>
          <a:p>
            <a:r>
              <a:rPr sz="2800" b="1">
                <a:solidFill>
                  <a:srgbClr val="18241B"/>
                </a:solidFill>
                <a:latin typeface="Georgia"/>
              </a:rPr>
              <a:t>Appendix: Part 3 sources</a:t>
            </a:r>
          </a:p>
        </p:txBody>
      </p:sp>
      <p:sp>
        <p:nvSpPr>
          <p:cNvPr id="4" name="Rounded Rectangle 3"/>
          <p:cNvSpPr/>
          <p:nvPr/>
        </p:nvSpPr>
        <p:spPr>
          <a:xfrm>
            <a:off x="731520" y="1554480"/>
            <a:ext cx="4206240" cy="4297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3840480" cy="3931920"/>
          </a:xfrm>
          <a:prstGeom prst="rect">
            <a:avLst/>
          </a:prstGeom>
          <a:noFill/>
        </p:spPr>
        <p:txBody>
          <a:bodyPr wrap="square">
            <a:spAutoFit/>
          </a:bodyPr>
          <a:lstStyle/>
          <a:p>
            <a:pPr>
              <a:spcAft>
                <a:spcPts val="800"/>
              </a:spcAft>
            </a:pPr>
            <a:r>
              <a:rPr sz="1600" b="1">
                <a:solidFill>
                  <a:srgbClr val="18241B"/>
                </a:solidFill>
              </a:rPr>
              <a:t>Media Hardware References</a:t>
            </a:r>
          </a:p>
          <a:p>
            <a:pPr>
              <a:spcAft>
                <a:spcPts val="400"/>
              </a:spcAft>
            </a:pPr>
            <a:r>
              <a:rPr sz="1150">
                <a:solidFill>
                  <a:srgbClr val="566658"/>
                </a:solidFill>
              </a:rPr>
              <a:t>• Slide 21, 22: Tractor photos (Kubota B2741S)</a:t>
            </a:r>
          </a:p>
          <a:p>
            <a:pPr>
              <a:spcAft>
                <a:spcPts val="400"/>
              </a:spcAft>
            </a:pPr>
            <a:r>
              <a:rPr sz="1150">
                <a:solidFill>
                  <a:srgbClr val="566658"/>
                </a:solidFill>
              </a:rPr>
              <a:t>• Slide 23: AI-labelled Short screenshots</a:t>
            </a:r>
          </a:p>
          <a:p>
            <a:pPr>
              <a:spcAft>
                <a:spcPts val="400"/>
              </a:spcAft>
            </a:pPr>
            <a:r>
              <a:rPr sz="1150">
                <a:solidFill>
                  <a:srgbClr val="566658"/>
                </a:solidFill>
              </a:rPr>
              <a:t>• Slide 25: PHOTO-2025-11-12-07-40-08.jpg</a:t>
            </a:r>
          </a:p>
          <a:p>
            <a:pPr>
              <a:spcAft>
                <a:spcPts val="400"/>
              </a:spcAft>
            </a:pPr>
            <a:r>
              <a:rPr sz="1150">
                <a:solidFill>
                  <a:srgbClr val="566658"/>
                </a:solidFill>
              </a:rPr>
              <a:t>• Slide 27: IMG_0653.HEIC (tractor camera mount)</a:t>
            </a:r>
          </a:p>
          <a:p>
            <a:pPr>
              <a:spcAft>
                <a:spcPts val="400"/>
              </a:spcAft>
            </a:pPr>
            <a:r>
              <a:rPr sz="1150">
                <a:solidFill>
                  <a:srgbClr val="566658"/>
                </a:solidFill>
              </a:rPr>
              <a:t>• Concept: Living Optics hyperspectral study</a:t>
            </a:r>
          </a:p>
          <a:p>
            <a:pPr>
              <a:spcAft>
                <a:spcPts val="400"/>
              </a:spcAft>
            </a:pPr>
            <a:r>
              <a:rPr sz="1150">
                <a:solidFill>
                  <a:srgbClr val="566658"/>
                </a:solidFill>
              </a:rPr>
              <a:t>• Telemetry: Tractor &amp; Fyllo app dashboards</a:t>
            </a:r>
          </a:p>
        </p:txBody>
      </p:sp>
      <p:sp>
        <p:nvSpPr>
          <p:cNvPr id="6" name="Rounded Rectangle 5"/>
          <p:cNvSpPr/>
          <p:nvPr/>
        </p:nvSpPr>
        <p:spPr>
          <a:xfrm>
            <a:off x="5212080" y="1554480"/>
            <a:ext cx="6248095" cy="4297680"/>
          </a:xfrm>
          <a:prstGeom prst="roundRect">
            <a:avLst>
              <a:gd name="adj" fmla="val 4000"/>
            </a:avLst>
          </a:prstGeom>
          <a:solidFill>
            <a:srgbClr val="F0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94960" y="1737360"/>
            <a:ext cx="5852160" cy="3931920"/>
          </a:xfrm>
          <a:prstGeom prst="rect">
            <a:avLst/>
          </a:prstGeom>
          <a:noFill/>
        </p:spPr>
        <p:txBody>
          <a:bodyPr wrap="square">
            <a:spAutoFit/>
          </a:bodyPr>
          <a:lstStyle/>
          <a:p>
            <a:pPr>
              <a:spcAft>
                <a:spcPts val="800"/>
              </a:spcAft>
            </a:pPr>
            <a:r>
              <a:rPr sz="1600" b="1">
                <a:solidFill>
                  <a:srgbClr val="4E7A3A"/>
                </a:solidFill>
              </a:rPr>
              <a:t>Research Literature Sources</a:t>
            </a:r>
          </a:p>
          <a:p>
            <a:pPr>
              <a:spcAft>
                <a:spcPts val="300"/>
              </a:spcAft>
            </a:pPr>
            <a:r>
              <a:rPr sz="1050">
                <a:solidFill>
                  <a:srgbClr val="566658"/>
                </a:solidFill>
              </a:rPr>
              <a:t>• Gutiérrez et al., on-the-go hyperspectral TSS, La Rioja (digibug.ugr.es/handle/10481/89025)</a:t>
            </a:r>
          </a:p>
          <a:p>
            <a:pPr>
              <a:spcAft>
                <a:spcPts val="300"/>
              </a:spcAft>
            </a:pPr>
            <a:r>
              <a:rPr sz="1050">
                <a:solidFill>
                  <a:srgbClr val="566658"/>
                </a:solidFill>
              </a:rPr>
              <a:t>• Living Optics, Picking the Perfect Grape case study</a:t>
            </a:r>
          </a:p>
          <a:p>
            <a:pPr>
              <a:spcAft>
                <a:spcPts val="300"/>
              </a:spcAft>
            </a:pPr>
            <a:r>
              <a:rPr sz="1050">
                <a:solidFill>
                  <a:srgbClr val="566658"/>
                </a:solidFill>
              </a:rPr>
              <a:t>• Santos et al., grape detection and tracking, WGISD (arXiv 1907.11819)</a:t>
            </a:r>
          </a:p>
          <a:p>
            <a:pPr>
              <a:spcAft>
                <a:spcPts val="300"/>
              </a:spcAft>
            </a:pPr>
            <a:r>
              <a:rPr sz="1050">
                <a:solidFill>
                  <a:srgbClr val="566658"/>
                </a:solidFill>
              </a:rPr>
              <a:t>• YOLO bunch counting, Agronomy 2022; occlusion-robust detection, 2024</a:t>
            </a:r>
          </a:p>
          <a:p>
            <a:pPr>
              <a:spcAft>
                <a:spcPts val="300"/>
              </a:spcAft>
            </a:pPr>
            <a:r>
              <a:rPr sz="1050">
                <a:solidFill>
                  <a:srgbClr val="566658"/>
                </a:solidFill>
              </a:rPr>
              <a:t>• Fairtrade Nashik weather app; Fyllo shared-unit model</a:t>
            </a:r>
          </a:p>
          <a:p>
            <a:pPr>
              <a:spcAft>
                <a:spcPts val="300"/>
              </a:spcAft>
            </a:pPr>
            <a:r>
              <a:rPr sz="1050">
                <a:solidFill>
                  <a:srgbClr val="566658"/>
                </a:solidFill>
              </a:rPr>
              <a:t>• UC / NMSU / eXtension guides on GA3, CPPU, and cane girdling</a:t>
            </a:r>
          </a:p>
          <a:p>
            <a:pPr>
              <a:spcAft>
                <a:spcPts val="300"/>
              </a:spcAft>
            </a:pPr>
            <a:r>
              <a:rPr sz="1050">
                <a:solidFill>
                  <a:srgbClr val="566658"/>
                </a:solidFill>
              </a:rPr>
              <a:t>• NHB (National Horticulture Board) grape nutrient guide (petiole testing)</a:t>
            </a:r>
          </a:p>
          <a:p>
            <a:pPr>
              <a:spcAft>
                <a:spcPts val="300"/>
              </a:spcAft>
            </a:pPr>
            <a:r>
              <a:rPr sz="1050">
                <a:solidFill>
                  <a:srgbClr val="566658"/>
                </a:solidFill>
              </a:rPr>
              <a:t>• MAPIR Survey3 (seesense.eu); RedEdge-P India listing (xboom.in)</a:t>
            </a:r>
          </a:p>
          <a:p>
            <a:pPr>
              <a:spcAft>
                <a:spcPts val="300"/>
              </a:spcAft>
            </a:pPr>
            <a:r>
              <a:rPr sz="1050">
                <a:solidFill>
                  <a:srgbClr val="566658"/>
                </a:solidFill>
              </a:rPr>
              <a:t>• WineOz SmartGrape berry-size app (Wine Australia)</a:t>
            </a:r>
          </a:p>
          <a:p>
            <a:pPr>
              <a:spcAft>
                <a:spcPts val="300"/>
              </a:spcAft>
            </a:pPr>
            <a:r>
              <a:rPr sz="1050">
                <a:solidFill>
                  <a:srgbClr val="566658"/>
                </a:solidFill>
              </a:rPr>
              <a:t>• DPDP Act 2023 legal commentary (KS&amp;K, EY)</a:t>
            </a:r>
          </a:p>
        </p:txBody>
      </p:sp>
      <p:sp>
        <p:nvSpPr>
          <p:cNvPr id="8" name="TextBox 7"/>
          <p:cNvSpPr txBox="1"/>
          <p:nvPr/>
        </p:nvSpPr>
        <p:spPr>
          <a:xfrm>
            <a:off x="731520" y="5943600"/>
            <a:ext cx="10728655" cy="365760"/>
          </a:xfrm>
          <a:prstGeom prst="rect">
            <a:avLst/>
          </a:prstGeom>
          <a:noFill/>
        </p:spPr>
        <p:txBody>
          <a:bodyPr wrap="none">
            <a:spAutoFit/>
          </a:bodyPr>
          <a:lstStyle/>
          <a:p>
            <a:r>
              <a:rPr sz="1000" i="1">
                <a:solidFill>
                  <a:srgbClr val="566658"/>
                </a:solidFill>
              </a:rPr>
              <a:t>Prices are rough budgetary ranges from public listings. Accuracy metrics originate from published scientific literature, not farm trials.</a:t>
            </a:r>
          </a:p>
        </p:txBody>
      </p:sp>
      <p:sp>
        <p:nvSpPr>
          <p:cNvPr id="9" name="TextBox 8"/>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566658"/>
                </a:solidFill>
                <a:latin typeface="Arial"/>
              </a:rPr>
              <a:t>From Vine to Raisin · Vijayapura vineyard, 2025–26 season · </a:t>
            </a:r>
            <a:r>
              <a:rPr sz="1100" b="1">
                <a:solidFill>
                  <a:srgbClr val="4E7A3A"/>
                </a:solidFill>
                <a:latin typeface="Arial"/>
                <a:hlinkClick r:id="rId2"/>
              </a:rPr>
              <a:t>arunpatillabs.com</a:t>
            </a:r>
            <a:r>
              <a:rPr sz="1100">
                <a:solidFill>
                  <a:srgbClr val="566658"/>
                </a:solidFill>
                <a:latin typeface="Arial"/>
              </a:rPr>
              <a:t>   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1645920"/>
            <a:ext cx="8534095" cy="3657600"/>
          </a:xfrm>
          <a:prstGeom prst="rect">
            <a:avLst/>
          </a:prstGeom>
          <a:noFill/>
        </p:spPr>
        <p:txBody>
          <a:bodyPr wrap="square">
            <a:spAutoFit/>
          </a:bodyPr>
          <a:lstStyle/>
          <a:p>
            <a:pPr algn="ctr">
              <a:spcAft>
                <a:spcPts val="1000"/>
              </a:spcAft>
            </a:pPr>
            <a:r>
              <a:rPr sz="1400" b="1">
                <a:solidFill>
                  <a:srgbClr val="C27E22"/>
                </a:solidFill>
              </a:rPr>
              <a:t>STUDY &amp; RESEARCH COMPLETED</a:t>
            </a:r>
          </a:p>
          <a:p>
            <a:pPr algn="ctr">
              <a:spcAft>
                <a:spcPts val="1600"/>
              </a:spcAft>
            </a:pPr>
            <a:r>
              <a:rPr sz="4400" b="1">
                <a:solidFill>
                  <a:srgbClr val="F4F7F4"/>
                </a:solidFill>
                <a:latin typeface="Georgia"/>
              </a:rPr>
              <a:t>ArunPatil Labs</a:t>
            </a:r>
          </a:p>
          <a:p>
            <a:pPr algn="ctr">
              <a:spcAft>
                <a:spcPts val="2400"/>
              </a:spcAft>
            </a:pPr>
            <a:r>
              <a:rPr sz="1800">
                <a:solidFill>
                  <a:srgbClr val="94D2BD"/>
                </a:solidFill>
              </a:rPr>
              <a:t>Applied AI, Systems ML &amp; Viticulture Intelligence
Bengaluru &amp; Sindagi Taluk, Vijayapura, Karnataka</a:t>
            </a:r>
          </a:p>
          <a:p>
            <a:pPr algn="ctr"/>
            <a:r>
              <a:rPr sz="1500">
                <a:solidFill>
                  <a:srgbClr val="A8BAAA"/>
                </a:solidFill>
              </a:rPr>
              <a:t>Explore models, field protocols and datasets: </a:t>
            </a:r>
            <a:r>
              <a:rPr b="1" sz="1600">
                <a:solidFill>
                  <a:srgbClr val="93C5FD"/>
                </a:solidFill>
                <a:hlinkClick r:id="rId2"/>
              </a:rPr>
              <a:t>arunpatillabs.com</a:t>
            </a:r>
          </a:p>
        </p:txBody>
      </p:sp>
      <p:sp>
        <p:nvSpPr>
          <p:cNvPr id="4" name="TextBox 3"/>
          <p:cNvSpPr txBox="1"/>
          <p:nvPr/>
        </p:nvSpPr>
        <p:spPr>
          <a:xfrm>
            <a:off x="731520" y="6355080"/>
            <a:ext cx="10728655" cy="320040"/>
          </a:xfrm>
          <a:prstGeom prst="rect">
            <a:avLst/>
          </a:prstGeom>
          <a:noFill/>
        </p:spPr>
        <p:txBody>
          <a:bodyPr wrap="square" anchor="ctr" lIns="0" tIns="0" rIns="0" bIns="0">
            <a:spAutoFit/>
          </a:bodyPr>
          <a:lstStyle/>
          <a:p>
            <a:pPr algn="l"/>
            <a:r>
              <a:rPr sz="1100">
                <a:solidFill>
                  <a:srgbClr val="A8BAAA"/>
                </a:solidFill>
                <a:latin typeface="Arial"/>
              </a:rPr>
              <a:t>ArunPatil Labs · Applied AI Systems Research · </a:t>
            </a:r>
            <a:r>
              <a:rPr sz="1100" b="1">
                <a:solidFill>
                  <a:srgbClr val="93C5FD"/>
                </a:solidFill>
                <a:latin typeface="Arial"/>
                <a:hlinkClick r:id="rId2"/>
              </a:rPr>
              <a:t>arunpatillabs.com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